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328"/>
                </a:solidFill>
                <a:latin typeface="Arial"/>
              </a:defRPr>
            </a:pPr>
            <a:r>
              <a:rPr sz="1400" b="0" i="0" u="none" strike="noStrike">
                <a:solidFill>
                  <a:srgbClr val="1E2328"/>
                </a:solidFill>
                <a:latin typeface="Arial"/>
              </a:rPr>
              <a:t>Tokens de depósito após a liquidação (500 bloqueados)</a:t>
            </a:r>
          </a:p>
        </c:rich>
      </c:tx>
      <c:layout/>
      <c:overlay val="0"/>
    </c:title>
    <c:autoTitleDeleted val="0"/>
    <c:plotArea>
      <c:layout/>
      <c:barChart>
        <c:barDir val="bar"/>
        <c:grouping val="stacked"/>
        <c:varyColors val="0"/>
        <c:ser>
          <c:idx val="0"/>
          <c:order val="0"/>
          <c:tx>
            <c:strRef>
              <c:f>Sheet1!$B$1</c:f>
              <c:strCache>
                <c:ptCount val="1"/>
                <c:pt idx="0">
                  <c:v>Proprietário recebe</c:v>
                </c:pt>
              </c:strCache>
            </c:strRef>
          </c:tx>
          <c:spPr>
            <a:solidFill>
              <a:srgbClr val="4FC3E0"/>
            </a:solidFill>
            <a:effectLst/>
          </c:spPr>
          <c:invertIfNegative val="0"/>
          <c:dLbls>
            <c:numFmt formatCode="#,##0;-#,##0;;" sourceLinked="0"/>
            <c:txPr>
              <a:bodyPr/>
              <a:lstStyle/>
              <a:p>
                <a:pPr>
                  <a:defRPr b="1" i="0" strike="noStrike" sz="1300" u="none">
                    <a:solidFill>
                      <a:srgbClr val="1E2328"/>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No prazo, sem danos</c:v>
                  </c:pt>
                  <c:pt idx="1">
                    <c:v>Dano de 150</c:v>
                  </c:pt>
                  <c:pt idx="2">
                    <c:v>Dano de 500</c:v>
                  </c:pt>
                </c:lvl>
              </c:multiLvlStrCache>
            </c:multiLvlStrRef>
          </c:cat>
          <c:val>
            <c:numRef>
              <c:f>Sheet1!$B$2:$B$4</c:f>
              <c:numCache>
                <c:formatCode>General</c:formatCode>
                <c:ptCount val="3"/>
                <c:pt idx="0">
                  <c:v>300</c:v>
                </c:pt>
                <c:pt idx="1">
                  <c:v>450</c:v>
                </c:pt>
                <c:pt idx="2">
                  <c:v>500</c:v>
                </c:pt>
              </c:numCache>
            </c:numRef>
          </c:val>
        </c:ser>
        <c:ser>
          <c:idx val="1"/>
          <c:order val="1"/>
          <c:tx>
            <c:strRef>
              <c:f>Sheet1!$C$1</c:f>
              <c:strCache>
                <c:ptCount val="1"/>
                <c:pt idx="0">
                  <c:v>Locatário recebe de volta</c:v>
                </c:pt>
              </c:strCache>
            </c:strRef>
          </c:tx>
          <c:spPr>
            <a:solidFill>
              <a:srgbClr val="F2A900"/>
            </a:solidFill>
            <a:effectLst/>
          </c:spPr>
          <c:invertIfNegative val="0"/>
          <c:dLbls>
            <c:numFmt formatCode="#,##0;-#,##0;;" sourceLinked="0"/>
            <c:txPr>
              <a:bodyPr/>
              <a:lstStyle/>
              <a:p>
                <a:pPr>
                  <a:defRPr b="1" i="0" strike="noStrike" sz="1300" u="none">
                    <a:solidFill>
                      <a:srgbClr val="1E2328"/>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No prazo, sem danos</c:v>
                  </c:pt>
                  <c:pt idx="1">
                    <c:v>Dano de 150</c:v>
                  </c:pt>
                  <c:pt idx="2">
                    <c:v>Dano de 500</c:v>
                  </c:pt>
                </c:lvl>
              </c:multiLvlStrCache>
            </c:multiLvlStrRef>
          </c:cat>
          <c:val>
            <c:numRef>
              <c:f>Sheet1!$C$2:$C$4</c:f>
              <c:numCache>
                <c:formatCode>General</c:formatCode>
                <c:ptCount val="3"/>
                <c:pt idx="0">
                  <c:v>200</c:v>
                </c:pt>
                <c:pt idx="1">
                  <c:v>50</c:v>
                </c:pt>
                <c:pt idx="2">
                  <c:v>0</c:v>
                </c:pt>
              </c:numCache>
            </c:numRef>
          </c:val>
        </c:ser>
        <c:dLbls>
          <c:numFmt formatCode="#,##0;-#,##0;;" sourceLinked="0"/>
          <c:txPr>
            <a:bodyPr/>
            <a:lstStyle/>
            <a:p>
              <a:pPr>
                <a:defRPr b="1" i="0" strike="noStrike" sz="1300" u="none">
                  <a:solidFill>
                    <a:srgbClr val="1E2328"/>
                  </a:solidFill>
                  <a:latin typeface="Arial"/>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E2328"/>
                </a:solidFill>
                <a:latin typeface="Arial"/>
              </a:defRPr>
            </a:pPr>
            <a:endParaRPr lang="en-US"/>
          </a:p>
        </c:txPr>
        <c:crossAx val="2094734552"/>
        <c:crosses val="autoZero"/>
        <c:auto val="1"/>
        <c:lblAlgn val="ctr"/>
        <c:noMultiLvlLbl val="1"/>
      </c:catAx>
      <c:valAx>
        <c:axId val="2094734552"/>
        <c:scaling>
          <c:orientation val="minMax"/>
          <c:max val="5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E232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projeto de estudo: um sistema de aluguel de carros em que a garantia do locatário fica guardada como tokens em custódia (escrow) por um contrato inteligente, numa pequena blockchain escrita do zero em Go. Tudo o que aparece aqui roda localmente com um único comando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partes: a motivação, como o sistema é construído, o que tokenização significa aqui, a stack, por que Go e material de apoio: onde ficam os dados, a interface, o roteiro da demo, os testes e as limitações.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Hoje cada parte mantém seus próprios registros, então toda disputa vira um exercício de conciliação. Estas três perguntas são exatamente onde a confiança se quebra.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livro-razão não torna as pessoas honestas; ele torna o registro compartilhado, somente de acréscimos e guiado por regras, o que elimina o espaço para discutir quem detém o quê e o que foi combinado.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Seja honesto sobre o trade-off: se uma única locadora controlasse todos os registros, um banco de dados seria a melhor escolha de engenharia. O livro-razão se justifica pela desconfiança entre várias partes.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papéis ficam on-chain: só um REGISTRAR pode emitir tokens de carro e de garantia, então um locatário não consegue inventar um carro; só um INSPECTOR pode liquidar. Cada conta é um par de chaves Ed25519, e seu endereço é a chave pública em hexadecimal.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contrato inteligente é um pacote Go compilado dentro do nó, não bytecode numa máquina virtual. O app web conversa por HTTP com JSON. Documentos grandes ou privados ficam off-chain; só o SHA-256 deles entra numa transação.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assinatura cobre o JSON.stringify de {from, method, args, nonce}; o nó em Go reconstrói exatamente esses bytes. Como esta cadeia sela um bloco por transação, um número de bloco na resposta já significa que a transação é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Estes são os passos 9.5a e 9.5b da demo. Uma assinatura inválida não deixa rastro. Um papel ausente é rejeitado dentro do contrato, mas fica registrado, então existe um registro auditável de que bob tentou e foi recusado.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Hashes reais de uma execução da demo. Cada cabeçalho também se compromete com as transações (txRoot) e com os recibos, então os resultados não podem ser reescritos depois. Ao reiniciar com --datadir, cada bloco é reexecutado e precisa reproduzir os hashes registrados.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Aqui, tokenização não tem a ver com negociar: ela dá a cada carro, a cada item empenhado e a cada unidade de depósito um único dono on-chain, para que o contrato possa movê-los e bloqueá-los. O limite é importante: um token não impede que alguém venda um relógio físico fora da cadeia.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há EVM, então não há ERC-1155 para herdar. Um único map em Go cumpre o mesmo papel, e o pacote que o controla também controla as regras de locação, então não existe um contrato de token separado por baixo da lógica de negócio. Cada ativo também tem um campo Kind, para que carros e garantias sigam regras diferentes.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Nada é transferido na base da confiança: o contrato move tokens entre o locatário, o escrow e o proprietário, e as regras decidem a direção. Em custódia, um item não pode ser empenhado de novo nem transferido, e um carro alugado não pode ser vendido.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Estes são os números exatos dos testes do contrato. A ordem da liquidação é fixa: aluguel pré-pago para o proprietário, depois as cobranças saem do depósito excedente, depois os itens na ordem de penhor. O contrato calcula a multa por atraso a partir do timestamp do bloco.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camada é ou a biblioteca padrão do Go ou tecnologia web simples. O único código de terceiros no sistema inteiro é o tweetnacl no navegador e o http-server para arquivos estáticos.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cadeia, o contrato, a API e as ferramentas somam cerca de 1.400 linhas de Go, sem nenhum módulo externo. O Docker Compose sobe o nó, carrega os dados da demo uma vez e serve o app web e os documentos off-chain.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primeira versão do design usava Solidity numa rede EVM. Migrar para Go colocou o sistema inteiro numa só linguagem, próximo de como a GoLedger roda chaincode em Go no Hyperledger Fabric, e pequeno o bastante para ser lido de ponta a ponta.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são as partes não óbvias de escrever uma cadeia em Go. O Go embaralha de propósito a iteração de maps, o que é ótimo para achar bugs, mas fatal para o consenso se a ordem afetar o resultado. O hash do estado em cada bloco transforma o determinismo em algo que os testes verificam.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regra é simples: on-chain só o que várias partes precisam acordar e que ninguém pode alterar. Um livro-razão imutável não consegue cumprir o direito de exclusão da LGPD, então dados pessoais nunca vão on-chain, e mesmo hashes de dados pessoais adivinháveis devem usar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único arquivo HTML estático, sem framework e sem etapa de build. A interface do app está em inglês. Ele conversa com o nó via fetch, verifica documentos off-chain calculando o hash deles e esconde as ações para as quais a conta atual não tem papel, em vez de deixá-la assinar e falhar.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Segue a seção 9 do design. Os mesmos passos também rodam num terminal com curl e o utilitário cmd/tx, que assina transações; o app web mostra esses blocos em poucos segundos, porque consulta o topo da cadeia periodicamente.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testes do contrato reproduzem exatamente a tabela do exemplo do design. Os testes da cadeia editam o log de blocos à mão (mudam um argumento, removem um bloco, reescrevem um recibo) e verificam que o nó se recusa a iniciar. A execução no navegador confirma que assinaturas feitas pelo tweetnacl são verificadas pelo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Isto é um estudo da mecânica, não um sistema de produção. As maiores lacunas são a custódia física, a resolução de disputas e o consenso. O caminho realista para produção é a lógica de negócio em Go como chaincode numa rede permissionada, como o Hyperledger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Feche com as três ideias e abra para perguntas. Se houver tempo, rode a demo ao vivo com o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8"/>
        </a:solidFill>
      </p:bgPr>
    </p:bg>
    <p:spTree>
      <p:nvGrpSpPr>
        <p:cNvPr id="1" name=""/>
        <p:cNvGrpSpPr/>
        <p:nvPr/>
      </p:nvGrpSpPr>
      <p:grpSpPr>
        <a:xfrm>
          <a:off x="0" y="0"/>
          <a:ext cx="0" cy="0"/>
          <a:chOff x="0" y="0"/>
          <a:chExt cx="0" cy="0"/>
        </a:xfrm>
      </p:grpSpPr>
      <p:sp>
        <p:nvSpPr>
          <p:cNvPr id="2" name="Text 0"/>
          <p:cNvSpPr txBox="1"/>
          <p:nvPr/>
        </p:nvSpPr>
        <p:spPr>
          <a:xfrm>
            <a:off x="731520" y="1417320"/>
            <a:ext cx="6858000" cy="292608"/>
          </a:xfrm>
          <a:prstGeom prst="rect">
            <a:avLst/>
          </a:prstGeom>
          <a:noFill/>
          <a:ln/>
        </p:spPr>
        <p:txBody>
          <a:bodyPr wrap="square" lIns="0" tIns="0" rIns="0" bIns="0" rtlCol="0" anchor="t"/>
          <a:lstStyle/>
          <a:p>
            <a:pPr indent="0" marL="0">
              <a:buNone/>
            </a:pPr>
            <a:r>
              <a:rPr lang="pt-BR" altLang="en-US" sz="1200" b="1" spc="300" kern="0" dirty="0">
                <a:solidFill>
                  <a:srgbClr val="00ADD8"/>
                </a:solidFill>
                <a:latin typeface="Arial" pitchFamily="34" charset="0"/>
                <a:ea typeface="Arial" pitchFamily="34" charset="-122"/>
                <a:cs typeface="Arial" pitchFamily="34" charset="-120"/>
              </a:rPr>
              <a:t>PROJETO DE ESTUDO · OFICINA 3 · UEA</a:t>
            </a:r>
            <a:endParaRPr lang="pt-BR" sz="1200" dirty="0"/>
          </a:p>
        </p:txBody>
      </p:sp>
      <p:sp>
        <p:nvSpPr>
          <p:cNvPr id="3" name="Text 1"/>
          <p:cNvSpPr txBox="1"/>
          <p:nvPr/>
        </p:nvSpPr>
        <p:spPr>
          <a:xfrm>
            <a:off x="731520" y="1828800"/>
            <a:ext cx="7040880" cy="1783080"/>
          </a:xfrm>
          <a:prstGeom prst="rect">
            <a:avLst/>
          </a:prstGeom>
          <a:noFill/>
          <a:ln/>
        </p:spPr>
        <p:txBody>
          <a:bodyPr wrap="square" lIns="0" tIns="0" rIns="0" bIns="0" rtlCol="0" anchor="t"/>
          <a:lstStyle/>
          <a:p>
            <a:pPr indent="0" marL="0">
              <a:buNone/>
            </a:pPr>
            <a:r>
              <a:rPr lang="pt-BR" altLang="en-US" sz="5000" b="1" dirty="0">
                <a:solidFill>
                  <a:srgbClr val="FFFFFF"/>
                </a:solidFill>
                <a:latin typeface="Arial" pitchFamily="34" charset="0"/>
                <a:ea typeface="Arial" pitchFamily="34" charset="-122"/>
                <a:cs typeface="Arial" pitchFamily="34" charset="-120"/>
              </a:rPr>
              <a:t>Aluguel de Carros</a:t>
            </a:r>
            <a:endParaRPr lang="pt-BR" sz="5000" dirty="0"/>
          </a:p>
          <a:p>
            <a:pPr indent="0" marL="0">
              <a:buNone/>
            </a:pPr>
            <a:r>
              <a:rPr lang="pt-BR" altLang="en-US" sz="5000" b="1" dirty="0">
                <a:solidFill>
                  <a:srgbClr val="FFFFFF"/>
                </a:solidFill>
                <a:latin typeface="Arial" pitchFamily="34" charset="0"/>
                <a:ea typeface="Arial" pitchFamily="34" charset="-122"/>
                <a:cs typeface="Arial" pitchFamily="34" charset="-120"/>
              </a:rPr>
              <a:t>com Blockchain</a:t>
            </a:r>
            <a:endParaRPr lang="pt-BR" sz="5000" dirty="0"/>
          </a:p>
        </p:txBody>
      </p:sp>
      <p:sp>
        <p:nvSpPr>
          <p:cNvPr id="4" name="Text 2"/>
          <p:cNvSpPr txBox="1"/>
          <p:nvPr/>
        </p:nvSpPr>
        <p:spPr>
          <a:xfrm>
            <a:off x="731520" y="3794760"/>
            <a:ext cx="6858000" cy="777240"/>
          </a:xfrm>
          <a:prstGeom prst="rect">
            <a:avLst/>
          </a:prstGeom>
          <a:noFill/>
          <a:ln/>
        </p:spPr>
        <p:txBody>
          <a:bodyPr wrap="square" lIns="0" tIns="0" rIns="0" bIns="0" rtlCol="0" anchor="t"/>
          <a:lstStyle/>
          <a:p>
            <a:pPr indent="0" marL="0">
              <a:buNone/>
            </a:pPr>
            <a:r>
              <a:rPr lang="pt-BR" altLang="en-US" sz="2100" dirty="0">
                <a:solidFill>
                  <a:srgbClr val="C9D1D9"/>
                </a:solidFill>
                <a:latin typeface="Calibri" pitchFamily="34" charset="0"/>
                <a:ea typeface="Calibri" pitchFamily="34" charset="-122"/>
                <a:cs typeface="Calibri" pitchFamily="34" charset="-120"/>
              </a:rPr>
              <a:t>Garantias tokenizadas em uma blockchain</a:t>
            </a:r>
            <a:endParaRPr lang="pt-BR" sz="2100" dirty="0"/>
          </a:p>
          <a:p>
            <a:pPr indent="0" marL="0">
              <a:buNone/>
            </a:pPr>
            <a:r>
              <a:rPr lang="pt-BR" altLang="en-US" sz="2100" dirty="0">
                <a:solidFill>
                  <a:srgbClr val="C9D1D9"/>
                </a:solidFill>
                <a:latin typeface="Calibri" pitchFamily="34" charset="0"/>
                <a:ea typeface="Calibri" pitchFamily="34" charset="-122"/>
                <a:cs typeface="Calibri" pitchFamily="34" charset="-120"/>
              </a:rPr>
              <a:t>escrita do zero em Go</a:t>
            </a:r>
            <a:endParaRPr lang="pt-BR" sz="2100" dirty="0"/>
          </a:p>
        </p:txBody>
      </p:sp>
      <p:sp>
        <p:nvSpPr>
          <p:cNvPr id="5" name="Text 3"/>
          <p:cNvSpPr txBox="1"/>
          <p:nvPr/>
        </p:nvSpPr>
        <p:spPr>
          <a:xfrm>
            <a:off x="731520" y="4892040"/>
            <a:ext cx="5486400" cy="365760"/>
          </a:xfrm>
          <a:prstGeom prst="rect">
            <a:avLst/>
          </a:prstGeom>
          <a:noFill/>
          <a:ln/>
        </p:spPr>
        <p:txBody>
          <a:bodyPr wrap="square" lIns="0" tIns="0" rIns="0" bIns="0" rtlCol="0" anchor="t"/>
          <a:lstStyle/>
          <a:p>
            <a:pPr indent="0" marL="0">
              <a:buNone/>
            </a:pPr>
            <a:r>
              <a:rPr lang="pt-BR" altLang="en-US" sz="1500" dirty="0">
                <a:solidFill>
                  <a:srgbClr val="8B96A1"/>
                </a:solidFill>
                <a:latin typeface="Calibri" pitchFamily="34" charset="0"/>
                <a:ea typeface="Calibri" pitchFamily="34" charset="-122"/>
                <a:cs typeface="Calibri" pitchFamily="34" charset="-120"/>
              </a:rPr>
              <a:t>Berg · 2026</a:t>
            </a:r>
            <a:endParaRPr lang="pt-BR" sz="1500" dirty="0"/>
          </a:p>
        </p:txBody>
      </p:sp>
      <p:sp>
        <p:nvSpPr>
          <p:cNvPr id="6" name="Shape 4"/>
          <p:cNvSpPr/>
          <p:nvPr/>
        </p:nvSpPr>
        <p:spPr>
          <a:xfrm>
            <a:off x="8732520" y="1005840"/>
            <a:ext cx="1920240" cy="1920240"/>
          </a:xfrm>
          <a:prstGeom prst="ellipse">
            <a:avLst/>
          </a:prstGeom>
          <a:solidFill>
            <a:srgbClr val="F2A900"/>
          </a:solidFill>
          <a:ln w="9525">
            <a:solidFill>
              <a:srgbClr val="F2A900"/>
            </a:solidFill>
            <a:prstDash val="solid"/>
          </a:ln>
        </p:spPr>
      </p:sp>
      <p:pic>
        <p:nvPicPr>
          <p:cNvPr id="7" name="Image 0" descr="preencoded.png">    </p:cNvPr>
          <p:cNvPicPr>
            <a:picLocks noChangeAspect="1"/>
          </p:cNvPicPr>
          <p:nvPr/>
        </p:nvPicPr>
        <p:blipFill>
          <a:blip r:embed="rId1"/>
          <a:stretch>
            <a:fillRect/>
          </a:stretch>
        </p:blipFill>
        <p:spPr>
          <a:xfrm>
            <a:off x="9212580" y="1485900"/>
            <a:ext cx="960120" cy="960120"/>
          </a:xfrm>
          <a:prstGeom prst="rect">
            <a:avLst/>
          </a:prstGeom>
        </p:spPr>
      </p:pic>
      <p:sp>
        <p:nvSpPr>
          <p:cNvPr id="8" name="Shape 5"/>
          <p:cNvSpPr/>
          <p:nvPr/>
        </p:nvSpPr>
        <p:spPr>
          <a:xfrm>
            <a:off x="7818120" y="3749040"/>
            <a:ext cx="1005840" cy="1005840"/>
          </a:xfrm>
          <a:prstGeom prst="roundRect">
            <a:avLst>
              <a:gd name="adj" fmla="val 7273"/>
            </a:avLst>
          </a:prstGeom>
          <a:solidFill>
            <a:srgbClr val="2A3138"/>
          </a:solidFill>
          <a:ln w="19050">
            <a:solidFill>
              <a:srgbClr val="00ADD8"/>
            </a:solidFill>
            <a:prstDash val="solid"/>
          </a:ln>
        </p:spPr>
      </p:sp>
      <p:sp>
        <p:nvSpPr>
          <p:cNvPr id="9" name="Text 6"/>
          <p:cNvSpPr txBox="1"/>
          <p:nvPr/>
        </p:nvSpPr>
        <p:spPr>
          <a:xfrm>
            <a:off x="7818120" y="3749040"/>
            <a:ext cx="1005840" cy="1005840"/>
          </a:xfrm>
          <a:prstGeom prst="rect">
            <a:avLst/>
          </a:prstGeom>
          <a:noFill/>
          <a:ln/>
        </p:spPr>
        <p:txBody>
          <a:bodyPr wrap="square" lIns="0" tIns="0" rIns="0" bIns="0" rtlCol="0" anchor="ctr"/>
          <a:lstStyle/>
          <a:p>
            <a:pPr algn="ctr" indent="0" marL="0">
              <a:buNone/>
            </a:pPr>
            <a:r>
              <a:rPr lang="pt-BR" altLang="en-US" sz="1800" b="1" dirty="0">
                <a:solidFill>
                  <a:srgbClr val="00ADD8"/>
                </a:solidFill>
                <a:latin typeface="Courier New" pitchFamily="34" charset="0"/>
                <a:ea typeface="Courier New" pitchFamily="34" charset="-122"/>
                <a:cs typeface="Courier New" pitchFamily="34" charset="-120"/>
              </a:rPr>
              <a:t>#1</a:t>
            </a:r>
            <a:endParaRPr lang="pt-BR" sz="1800" dirty="0"/>
          </a:p>
        </p:txBody>
      </p:sp>
      <p:sp>
        <p:nvSpPr>
          <p:cNvPr id="10" name="Shape 7"/>
          <p:cNvSpPr/>
          <p:nvPr/>
        </p:nvSpPr>
        <p:spPr>
          <a:xfrm>
            <a:off x="9098280" y="3749040"/>
            <a:ext cx="1005840" cy="1005840"/>
          </a:xfrm>
          <a:prstGeom prst="roundRect">
            <a:avLst>
              <a:gd name="adj" fmla="val 7273"/>
            </a:avLst>
          </a:prstGeom>
          <a:solidFill>
            <a:srgbClr val="2A3138"/>
          </a:solidFill>
          <a:ln w="19050">
            <a:solidFill>
              <a:srgbClr val="00ADD8"/>
            </a:solidFill>
            <a:prstDash val="solid"/>
          </a:ln>
        </p:spPr>
      </p:sp>
      <p:sp>
        <p:nvSpPr>
          <p:cNvPr id="11" name="Text 8"/>
          <p:cNvSpPr txBox="1"/>
          <p:nvPr/>
        </p:nvSpPr>
        <p:spPr>
          <a:xfrm>
            <a:off x="9098280" y="3749040"/>
            <a:ext cx="1005840" cy="1005840"/>
          </a:xfrm>
          <a:prstGeom prst="rect">
            <a:avLst/>
          </a:prstGeom>
          <a:noFill/>
          <a:ln/>
        </p:spPr>
        <p:txBody>
          <a:bodyPr wrap="square" lIns="0" tIns="0" rIns="0" bIns="0" rtlCol="0" anchor="ctr"/>
          <a:lstStyle/>
          <a:p>
            <a:pPr algn="ctr" indent="0" marL="0">
              <a:buNone/>
            </a:pPr>
            <a:r>
              <a:rPr lang="pt-BR" altLang="en-US" sz="1800" b="1" dirty="0">
                <a:solidFill>
                  <a:srgbClr val="00ADD8"/>
                </a:solidFill>
                <a:latin typeface="Courier New" pitchFamily="34" charset="0"/>
                <a:ea typeface="Courier New" pitchFamily="34" charset="-122"/>
                <a:cs typeface="Courier New" pitchFamily="34" charset="-120"/>
              </a:rPr>
              <a:t>#2</a:t>
            </a:r>
            <a:endParaRPr lang="pt-BR" sz="1800" dirty="0"/>
          </a:p>
        </p:txBody>
      </p:sp>
      <p:sp>
        <p:nvSpPr>
          <p:cNvPr id="12" name="Shape 9"/>
          <p:cNvSpPr/>
          <p:nvPr/>
        </p:nvSpPr>
        <p:spPr>
          <a:xfrm>
            <a:off x="8823960" y="4251960"/>
            <a:ext cx="274320" cy="0"/>
          </a:xfrm>
          <a:prstGeom prst="line">
            <a:avLst/>
          </a:prstGeom>
          <a:noFill/>
          <a:ln w="25400">
            <a:solidFill>
              <a:srgbClr val="00ADD8"/>
            </a:solidFill>
            <a:prstDash val="solid"/>
          </a:ln>
        </p:spPr>
      </p:sp>
      <p:sp>
        <p:nvSpPr>
          <p:cNvPr id="13" name="Shape 10"/>
          <p:cNvSpPr/>
          <p:nvPr/>
        </p:nvSpPr>
        <p:spPr>
          <a:xfrm>
            <a:off x="10378440" y="3749040"/>
            <a:ext cx="1005840" cy="1005840"/>
          </a:xfrm>
          <a:prstGeom prst="roundRect">
            <a:avLst>
              <a:gd name="adj" fmla="val 7273"/>
            </a:avLst>
          </a:prstGeom>
          <a:solidFill>
            <a:srgbClr val="2A3138"/>
          </a:solidFill>
          <a:ln w="19050">
            <a:solidFill>
              <a:srgbClr val="00ADD8"/>
            </a:solidFill>
            <a:prstDash val="solid"/>
          </a:ln>
        </p:spPr>
      </p:sp>
      <p:sp>
        <p:nvSpPr>
          <p:cNvPr id="14" name="Text 11"/>
          <p:cNvSpPr txBox="1"/>
          <p:nvPr/>
        </p:nvSpPr>
        <p:spPr>
          <a:xfrm>
            <a:off x="10378440" y="3749040"/>
            <a:ext cx="1005840" cy="1005840"/>
          </a:xfrm>
          <a:prstGeom prst="rect">
            <a:avLst/>
          </a:prstGeom>
          <a:noFill/>
          <a:ln/>
        </p:spPr>
        <p:txBody>
          <a:bodyPr wrap="square" lIns="0" tIns="0" rIns="0" bIns="0" rtlCol="0" anchor="ctr"/>
          <a:lstStyle/>
          <a:p>
            <a:pPr algn="ctr" indent="0" marL="0">
              <a:buNone/>
            </a:pPr>
            <a:r>
              <a:rPr lang="pt-BR" altLang="en-US" sz="1800" b="1" dirty="0">
                <a:solidFill>
                  <a:srgbClr val="00ADD8"/>
                </a:solidFill>
                <a:latin typeface="Courier New" pitchFamily="34" charset="0"/>
                <a:ea typeface="Courier New" pitchFamily="34" charset="-122"/>
                <a:cs typeface="Courier New" pitchFamily="34" charset="-120"/>
              </a:rPr>
              <a:t>#3</a:t>
            </a:r>
            <a:endParaRPr lang="pt-BR" sz="1800" dirty="0"/>
          </a:p>
        </p:txBody>
      </p:sp>
      <p:sp>
        <p:nvSpPr>
          <p:cNvPr id="15" name="Shape 12"/>
          <p:cNvSpPr/>
          <p:nvPr/>
        </p:nvSpPr>
        <p:spPr>
          <a:xfrm>
            <a:off x="10104120" y="4251960"/>
            <a:ext cx="274320" cy="0"/>
          </a:xfrm>
          <a:prstGeom prst="line">
            <a:avLst/>
          </a:prstGeom>
          <a:noFill/>
          <a:ln w="25400">
            <a:solidFill>
              <a:srgbClr val="00ADD8"/>
            </a:solidFill>
            <a:prstDash val="solid"/>
          </a:ln>
        </p:spPr>
      </p:sp>
      <p:sp>
        <p:nvSpPr>
          <p:cNvPr id="16" name="Shape 13"/>
          <p:cNvSpPr/>
          <p:nvPr/>
        </p:nvSpPr>
        <p:spPr>
          <a:xfrm>
            <a:off x="9692640" y="2926080"/>
            <a:ext cx="0" cy="822960"/>
          </a:xfrm>
          <a:prstGeom prst="line">
            <a:avLst/>
          </a:prstGeom>
          <a:noFill/>
          <a:ln w="25400">
            <a:solidFill>
              <a:srgbClr val="F2A900"/>
            </a:solidFill>
            <a:prstDash val="dash"/>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AGENDA</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O que vamos ver</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2</a:t>
            </a:r>
            <a:endParaRPr lang="pt-BR" sz="1000" dirty="0"/>
          </a:p>
        </p:txBody>
      </p:sp>
      <p:sp>
        <p:nvSpPr>
          <p:cNvPr id="5" name="Shape 3"/>
          <p:cNvSpPr/>
          <p:nvPr/>
        </p:nvSpPr>
        <p:spPr>
          <a:xfrm>
            <a:off x="548640" y="1783080"/>
            <a:ext cx="777240" cy="777240"/>
          </a:xfrm>
          <a:prstGeom prst="ellipse">
            <a:avLst/>
          </a:prstGeom>
          <a:solidFill>
            <a:srgbClr val="007D9C"/>
          </a:solidFill>
          <a:ln w="9525">
            <a:solidFill>
              <a:srgbClr val="007D9C"/>
            </a:solidFill>
            <a:prstDash val="solid"/>
          </a:ln>
        </p:spPr>
      </p:sp>
      <p:sp>
        <p:nvSpPr>
          <p:cNvPr id="6" name="Text 4"/>
          <p:cNvSpPr txBox="1"/>
          <p:nvPr/>
        </p:nvSpPr>
        <p:spPr>
          <a:xfrm>
            <a:off x="548640" y="1783080"/>
            <a:ext cx="777240" cy="777240"/>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01</a:t>
            </a:r>
            <a:endParaRPr lang="pt-BR" sz="1800" dirty="0"/>
          </a:p>
        </p:txBody>
      </p:sp>
      <p:sp>
        <p:nvSpPr>
          <p:cNvPr id="7" name="Text 5"/>
          <p:cNvSpPr txBox="1"/>
          <p:nvPr/>
        </p:nvSpPr>
        <p:spPr>
          <a:xfrm>
            <a:off x="1600200" y="1801368"/>
            <a:ext cx="4480560" cy="384048"/>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Por que blockchain no aluguel</a:t>
            </a:r>
            <a:endParaRPr lang="pt-BR" sz="1900" dirty="0"/>
          </a:p>
        </p:txBody>
      </p:sp>
      <p:sp>
        <p:nvSpPr>
          <p:cNvPr id="8" name="Text 6"/>
          <p:cNvSpPr txBox="1"/>
          <p:nvPr/>
        </p:nvSpPr>
        <p:spPr>
          <a:xfrm>
            <a:off x="1600200" y="2212848"/>
            <a:ext cx="4480560" cy="36576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Três problemas de confiança que a blockchain resolve</a:t>
            </a:r>
            <a:endParaRPr lang="pt-BR" sz="1500" dirty="0"/>
          </a:p>
        </p:txBody>
      </p:sp>
      <p:sp>
        <p:nvSpPr>
          <p:cNvPr id="9" name="Shape 7"/>
          <p:cNvSpPr/>
          <p:nvPr/>
        </p:nvSpPr>
        <p:spPr>
          <a:xfrm>
            <a:off x="6217920" y="1783080"/>
            <a:ext cx="777240" cy="777240"/>
          </a:xfrm>
          <a:prstGeom prst="ellipse">
            <a:avLst/>
          </a:prstGeom>
          <a:solidFill>
            <a:srgbClr val="007D9C"/>
          </a:solidFill>
          <a:ln w="9525">
            <a:solidFill>
              <a:srgbClr val="007D9C"/>
            </a:solidFill>
            <a:prstDash val="solid"/>
          </a:ln>
        </p:spPr>
      </p:sp>
      <p:sp>
        <p:nvSpPr>
          <p:cNvPr id="10" name="Text 8"/>
          <p:cNvSpPr txBox="1"/>
          <p:nvPr/>
        </p:nvSpPr>
        <p:spPr>
          <a:xfrm>
            <a:off x="6217920" y="1783080"/>
            <a:ext cx="777240" cy="777240"/>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02</a:t>
            </a:r>
            <a:endParaRPr lang="pt-BR" sz="1800" dirty="0"/>
          </a:p>
        </p:txBody>
      </p:sp>
      <p:sp>
        <p:nvSpPr>
          <p:cNvPr id="11" name="Text 9"/>
          <p:cNvSpPr txBox="1"/>
          <p:nvPr/>
        </p:nvSpPr>
        <p:spPr>
          <a:xfrm>
            <a:off x="7269480" y="1801368"/>
            <a:ext cx="4480560" cy="384048"/>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Arquitetura</a:t>
            </a:r>
            <a:endParaRPr lang="pt-BR" sz="1900" dirty="0"/>
          </a:p>
        </p:txBody>
      </p:sp>
      <p:sp>
        <p:nvSpPr>
          <p:cNvPr id="12" name="Text 10"/>
          <p:cNvSpPr txBox="1"/>
          <p:nvPr/>
        </p:nvSpPr>
        <p:spPr>
          <a:xfrm>
            <a:off x="7269480" y="2212848"/>
            <a:ext cx="4480560" cy="36576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Atores, o nó em Go, transações e blocos</a:t>
            </a:r>
            <a:endParaRPr lang="pt-BR" sz="1500" dirty="0"/>
          </a:p>
        </p:txBody>
      </p:sp>
      <p:sp>
        <p:nvSpPr>
          <p:cNvPr id="13" name="Shape 11"/>
          <p:cNvSpPr/>
          <p:nvPr/>
        </p:nvSpPr>
        <p:spPr>
          <a:xfrm>
            <a:off x="548640" y="3246120"/>
            <a:ext cx="777240" cy="777240"/>
          </a:xfrm>
          <a:prstGeom prst="ellipse">
            <a:avLst/>
          </a:prstGeom>
          <a:solidFill>
            <a:srgbClr val="007D9C"/>
          </a:solidFill>
          <a:ln w="9525">
            <a:solidFill>
              <a:srgbClr val="007D9C"/>
            </a:solidFill>
            <a:prstDash val="solid"/>
          </a:ln>
        </p:spPr>
      </p:sp>
      <p:sp>
        <p:nvSpPr>
          <p:cNvPr id="14" name="Text 12"/>
          <p:cNvSpPr txBox="1"/>
          <p:nvPr/>
        </p:nvSpPr>
        <p:spPr>
          <a:xfrm>
            <a:off x="548640" y="3246120"/>
            <a:ext cx="777240" cy="777240"/>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03</a:t>
            </a:r>
            <a:endParaRPr lang="pt-BR" sz="1800" dirty="0"/>
          </a:p>
        </p:txBody>
      </p:sp>
      <p:sp>
        <p:nvSpPr>
          <p:cNvPr id="15" name="Text 13"/>
          <p:cNvSpPr txBox="1"/>
          <p:nvPr/>
        </p:nvSpPr>
        <p:spPr>
          <a:xfrm>
            <a:off x="1600200" y="3264408"/>
            <a:ext cx="4480560" cy="384048"/>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Tokenização</a:t>
            </a:r>
            <a:endParaRPr lang="pt-BR" sz="1900" dirty="0"/>
          </a:p>
        </p:txBody>
      </p:sp>
      <p:sp>
        <p:nvSpPr>
          <p:cNvPr id="16" name="Text 14"/>
          <p:cNvSpPr txBox="1"/>
          <p:nvPr/>
        </p:nvSpPr>
        <p:spPr>
          <a:xfrm>
            <a:off x="1600200" y="3675888"/>
            <a:ext cx="4480560" cy="36576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Carros, garantias e depósitos como tokens</a:t>
            </a:r>
            <a:endParaRPr lang="pt-BR" sz="1500" dirty="0"/>
          </a:p>
        </p:txBody>
      </p:sp>
      <p:sp>
        <p:nvSpPr>
          <p:cNvPr id="17" name="Shape 15"/>
          <p:cNvSpPr/>
          <p:nvPr/>
        </p:nvSpPr>
        <p:spPr>
          <a:xfrm>
            <a:off x="6217920" y="3246120"/>
            <a:ext cx="777240" cy="777240"/>
          </a:xfrm>
          <a:prstGeom prst="ellipse">
            <a:avLst/>
          </a:prstGeom>
          <a:solidFill>
            <a:srgbClr val="007D9C"/>
          </a:solidFill>
          <a:ln w="9525">
            <a:solidFill>
              <a:srgbClr val="007D9C"/>
            </a:solidFill>
            <a:prstDash val="solid"/>
          </a:ln>
        </p:spPr>
      </p:sp>
      <p:sp>
        <p:nvSpPr>
          <p:cNvPr id="18" name="Text 16"/>
          <p:cNvSpPr txBox="1"/>
          <p:nvPr/>
        </p:nvSpPr>
        <p:spPr>
          <a:xfrm>
            <a:off x="6217920" y="3246120"/>
            <a:ext cx="777240" cy="777240"/>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04</a:t>
            </a:r>
            <a:endParaRPr lang="pt-BR" sz="1800" dirty="0"/>
          </a:p>
        </p:txBody>
      </p:sp>
      <p:sp>
        <p:nvSpPr>
          <p:cNvPr id="19" name="Text 17"/>
          <p:cNvSpPr txBox="1"/>
          <p:nvPr/>
        </p:nvSpPr>
        <p:spPr>
          <a:xfrm>
            <a:off x="7269480" y="3264408"/>
            <a:ext cx="4480560" cy="384048"/>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Stack tecnológica</a:t>
            </a:r>
            <a:endParaRPr lang="pt-BR" sz="1900" dirty="0"/>
          </a:p>
        </p:txBody>
      </p:sp>
      <p:sp>
        <p:nvSpPr>
          <p:cNvPr id="20" name="Text 18"/>
          <p:cNvSpPr txBox="1"/>
          <p:nvPr/>
        </p:nvSpPr>
        <p:spPr>
          <a:xfrm>
            <a:off x="7269480" y="3675888"/>
            <a:ext cx="4480560" cy="36576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Com o que cada camada é feita e como roda</a:t>
            </a:r>
            <a:endParaRPr lang="pt-BR" sz="1500" dirty="0"/>
          </a:p>
        </p:txBody>
      </p:sp>
      <p:sp>
        <p:nvSpPr>
          <p:cNvPr id="21" name="Shape 19"/>
          <p:cNvSpPr/>
          <p:nvPr/>
        </p:nvSpPr>
        <p:spPr>
          <a:xfrm>
            <a:off x="548640" y="4709160"/>
            <a:ext cx="777240" cy="777240"/>
          </a:xfrm>
          <a:prstGeom prst="ellipse">
            <a:avLst/>
          </a:prstGeom>
          <a:solidFill>
            <a:srgbClr val="007D9C"/>
          </a:solidFill>
          <a:ln w="9525">
            <a:solidFill>
              <a:srgbClr val="007D9C"/>
            </a:solidFill>
            <a:prstDash val="solid"/>
          </a:ln>
        </p:spPr>
      </p:sp>
      <p:sp>
        <p:nvSpPr>
          <p:cNvPr id="22" name="Text 20"/>
          <p:cNvSpPr txBox="1"/>
          <p:nvPr/>
        </p:nvSpPr>
        <p:spPr>
          <a:xfrm>
            <a:off x="548640" y="4709160"/>
            <a:ext cx="777240" cy="777240"/>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05</a:t>
            </a:r>
            <a:endParaRPr lang="pt-BR" sz="1800" dirty="0"/>
          </a:p>
        </p:txBody>
      </p:sp>
      <p:sp>
        <p:nvSpPr>
          <p:cNvPr id="23" name="Text 21"/>
          <p:cNvSpPr txBox="1"/>
          <p:nvPr/>
        </p:nvSpPr>
        <p:spPr>
          <a:xfrm>
            <a:off x="1600200" y="4727448"/>
            <a:ext cx="4480560" cy="384048"/>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Por que Go</a:t>
            </a:r>
            <a:endParaRPr lang="pt-BR" sz="1900" dirty="0"/>
          </a:p>
        </p:txBody>
      </p:sp>
      <p:sp>
        <p:nvSpPr>
          <p:cNvPr id="24" name="Text 22"/>
          <p:cNvSpPr txBox="1"/>
          <p:nvPr/>
        </p:nvSpPr>
        <p:spPr>
          <a:xfrm>
            <a:off x="1600200" y="5138928"/>
            <a:ext cx="4480560" cy="36576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Uma linguagem para cadeia, contrato e ferramentas</a:t>
            </a:r>
            <a:endParaRPr lang="pt-BR" sz="1500" dirty="0"/>
          </a:p>
        </p:txBody>
      </p:sp>
      <p:sp>
        <p:nvSpPr>
          <p:cNvPr id="25" name="Shape 23"/>
          <p:cNvSpPr/>
          <p:nvPr/>
        </p:nvSpPr>
        <p:spPr>
          <a:xfrm>
            <a:off x="6217920" y="4709160"/>
            <a:ext cx="777240" cy="777240"/>
          </a:xfrm>
          <a:prstGeom prst="ellipse">
            <a:avLst/>
          </a:prstGeom>
          <a:solidFill>
            <a:srgbClr val="007D9C"/>
          </a:solidFill>
          <a:ln w="9525">
            <a:solidFill>
              <a:srgbClr val="007D9C"/>
            </a:solidFill>
            <a:prstDash val="solid"/>
          </a:ln>
        </p:spPr>
      </p:sp>
      <p:sp>
        <p:nvSpPr>
          <p:cNvPr id="26" name="Text 24"/>
          <p:cNvSpPr txBox="1"/>
          <p:nvPr/>
        </p:nvSpPr>
        <p:spPr>
          <a:xfrm>
            <a:off x="6217920" y="4709160"/>
            <a:ext cx="777240" cy="777240"/>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06</a:t>
            </a:r>
            <a:endParaRPr lang="pt-BR" sz="1800" dirty="0"/>
          </a:p>
        </p:txBody>
      </p:sp>
      <p:sp>
        <p:nvSpPr>
          <p:cNvPr id="27" name="Text 25"/>
          <p:cNvSpPr txBox="1"/>
          <p:nvPr/>
        </p:nvSpPr>
        <p:spPr>
          <a:xfrm>
            <a:off x="7269480" y="4727448"/>
            <a:ext cx="4480560" cy="384048"/>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Complementos</a:t>
            </a:r>
            <a:endParaRPr lang="pt-BR" sz="1900" dirty="0"/>
          </a:p>
        </p:txBody>
      </p:sp>
      <p:sp>
        <p:nvSpPr>
          <p:cNvPr id="28" name="Text 26"/>
          <p:cNvSpPr txBox="1"/>
          <p:nvPr/>
        </p:nvSpPr>
        <p:spPr>
          <a:xfrm>
            <a:off x="7269480" y="5138928"/>
            <a:ext cx="4480560" cy="36576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Dados on/off-chain, app web, demo, testes, limites</a:t>
            </a:r>
            <a:endParaRPr lang="pt-BR"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01 · POR QUE BLOCKCHAIN NO ALUGUEL DE CARROS</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Três pontos onde a locação com garantia falha</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3</a:t>
            </a:r>
            <a:endParaRPr lang="pt-BR" sz="1000" dirty="0"/>
          </a:p>
        </p:txBody>
      </p:sp>
      <p:sp>
        <p:nvSpPr>
          <p:cNvPr id="5" name="Shape 3"/>
          <p:cNvSpPr/>
          <p:nvPr/>
        </p:nvSpPr>
        <p:spPr>
          <a:xfrm>
            <a:off x="548640" y="1645920"/>
            <a:ext cx="3484778" cy="2971800"/>
          </a:xfrm>
          <a:prstGeom prst="roundRect">
            <a:avLst>
              <a:gd name="adj" fmla="val 2462"/>
            </a:avLst>
          </a:prstGeom>
          <a:solidFill>
            <a:srgbClr val="F2F5F7"/>
          </a:solidFill>
          <a:ln w="9525">
            <a:solidFill>
              <a:srgbClr val="F2F5F7"/>
            </a:solidFill>
            <a:prstDash val="solid"/>
          </a:ln>
        </p:spPr>
      </p:sp>
      <p:sp>
        <p:nvSpPr>
          <p:cNvPr id="6" name="Shape 4"/>
          <p:cNvSpPr/>
          <p:nvPr/>
        </p:nvSpPr>
        <p:spPr>
          <a:xfrm>
            <a:off x="822960" y="1920240"/>
            <a:ext cx="822960" cy="822960"/>
          </a:xfrm>
          <a:prstGeom prst="ellipse">
            <a:avLst/>
          </a:prstGeom>
          <a:solidFill>
            <a:srgbClr val="1E2328"/>
          </a:solidFill>
          <a:ln w="9525">
            <a:solidFill>
              <a:srgbClr val="1E2328"/>
            </a:solidFill>
            <a:prstDash val="solid"/>
          </a:ln>
        </p:spPr>
      </p:sp>
      <p:pic>
        <p:nvPicPr>
          <p:cNvPr id="7" name="Image 0" descr="preencoded.png">    </p:cNvPr>
          <p:cNvPicPr>
            <a:picLocks noChangeAspect="1"/>
          </p:cNvPicPr>
          <p:nvPr/>
        </p:nvPicPr>
        <p:blipFill>
          <a:blip r:embed="rId1"/>
          <a:stretch>
            <a:fillRect/>
          </a:stretch>
        </p:blipFill>
        <p:spPr>
          <a:xfrm>
            <a:off x="1020470" y="2117750"/>
            <a:ext cx="427939" cy="427939"/>
          </a:xfrm>
          <a:prstGeom prst="rect">
            <a:avLst/>
          </a:prstGeom>
        </p:spPr>
      </p:pic>
      <p:sp>
        <p:nvSpPr>
          <p:cNvPr id="8" name="Text 5"/>
          <p:cNvSpPr txBox="1"/>
          <p:nvPr/>
        </p:nvSpPr>
        <p:spPr>
          <a:xfrm>
            <a:off x="822960" y="2852928"/>
            <a:ext cx="2936138" cy="658368"/>
          </a:xfrm>
          <a:prstGeom prst="rect">
            <a:avLst/>
          </a:prstGeom>
          <a:noFill/>
          <a:ln/>
        </p:spPr>
        <p:txBody>
          <a:bodyPr wrap="square" lIns="0" tIns="0" rIns="0" bIns="0" rtlCol="0" anchor="t"/>
          <a:lstStyle/>
          <a:p>
            <a:pPr indent="0" marL="0">
              <a:buNone/>
            </a:pPr>
            <a:r>
              <a:rPr lang="pt-BR" altLang="en-US" sz="1700" b="1" dirty="0">
                <a:solidFill>
                  <a:srgbClr val="1E2328"/>
                </a:solidFill>
                <a:latin typeface="Arial" pitchFamily="34" charset="0"/>
                <a:ea typeface="Arial" pitchFamily="34" charset="-122"/>
                <a:cs typeface="Arial" pitchFamily="34" charset="-120"/>
              </a:rPr>
              <a:t>Quem detém a garantia?</a:t>
            </a:r>
            <a:endParaRPr lang="pt-BR" sz="1700" dirty="0"/>
          </a:p>
        </p:txBody>
      </p:sp>
      <p:sp>
        <p:nvSpPr>
          <p:cNvPr id="9" name="Text 6"/>
          <p:cNvSpPr txBox="1"/>
          <p:nvPr/>
        </p:nvSpPr>
        <p:spPr>
          <a:xfrm>
            <a:off x="822960" y="3584448"/>
            <a:ext cx="2936138" cy="96012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O depósito ou item empenhado fica nos registros de uma só parte, então pode ser empenhado duas vezes ou contestado como "nunca devolvido".</a:t>
            </a:r>
            <a:endParaRPr lang="pt-BR" sz="1400" dirty="0"/>
          </a:p>
        </p:txBody>
      </p:sp>
      <p:sp>
        <p:nvSpPr>
          <p:cNvPr id="10" name="Shape 7"/>
          <p:cNvSpPr/>
          <p:nvPr/>
        </p:nvSpPr>
        <p:spPr>
          <a:xfrm>
            <a:off x="4353458" y="1645920"/>
            <a:ext cx="3484778" cy="2971800"/>
          </a:xfrm>
          <a:prstGeom prst="roundRect">
            <a:avLst>
              <a:gd name="adj" fmla="val 2462"/>
            </a:avLst>
          </a:prstGeom>
          <a:solidFill>
            <a:srgbClr val="F2F5F7"/>
          </a:solidFill>
          <a:ln w="9525">
            <a:solidFill>
              <a:srgbClr val="F2F5F7"/>
            </a:solidFill>
            <a:prstDash val="solid"/>
          </a:ln>
        </p:spPr>
      </p:sp>
      <p:sp>
        <p:nvSpPr>
          <p:cNvPr id="11" name="Shape 8"/>
          <p:cNvSpPr/>
          <p:nvPr/>
        </p:nvSpPr>
        <p:spPr>
          <a:xfrm>
            <a:off x="4627778" y="1920240"/>
            <a:ext cx="822960" cy="822960"/>
          </a:xfrm>
          <a:prstGeom prst="ellipse">
            <a:avLst/>
          </a:prstGeom>
          <a:solidFill>
            <a:srgbClr val="1E2328"/>
          </a:solidFill>
          <a:ln w="9525">
            <a:solidFill>
              <a:srgbClr val="1E2328"/>
            </a:solidFill>
            <a:prstDash val="solid"/>
          </a:ln>
        </p:spPr>
      </p:sp>
      <p:pic>
        <p:nvPicPr>
          <p:cNvPr id="12" name="Image 1" descr="preencoded.png">    </p:cNvPr>
          <p:cNvPicPr>
            <a:picLocks noChangeAspect="1"/>
          </p:cNvPicPr>
          <p:nvPr/>
        </p:nvPicPr>
        <p:blipFill>
          <a:blip r:embed="rId2"/>
          <a:stretch>
            <a:fillRect/>
          </a:stretch>
        </p:blipFill>
        <p:spPr>
          <a:xfrm>
            <a:off x="4825289" y="2117750"/>
            <a:ext cx="427939" cy="427939"/>
          </a:xfrm>
          <a:prstGeom prst="rect">
            <a:avLst/>
          </a:prstGeom>
        </p:spPr>
      </p:pic>
      <p:sp>
        <p:nvSpPr>
          <p:cNvPr id="13" name="Text 9"/>
          <p:cNvSpPr txBox="1"/>
          <p:nvPr/>
        </p:nvSpPr>
        <p:spPr>
          <a:xfrm>
            <a:off x="4627778" y="2852928"/>
            <a:ext cx="2936138" cy="658368"/>
          </a:xfrm>
          <a:prstGeom prst="rect">
            <a:avLst/>
          </a:prstGeom>
          <a:noFill/>
          <a:ln/>
        </p:spPr>
        <p:txBody>
          <a:bodyPr wrap="square" lIns="0" tIns="0" rIns="0" bIns="0" rtlCol="0" anchor="t"/>
          <a:lstStyle/>
          <a:p>
            <a:pPr indent="0" marL="0">
              <a:buNone/>
            </a:pPr>
            <a:r>
              <a:rPr lang="pt-BR" altLang="en-US" sz="1700" b="1" dirty="0">
                <a:solidFill>
                  <a:srgbClr val="1E2328"/>
                </a:solidFill>
                <a:latin typeface="Arial" pitchFamily="34" charset="0"/>
                <a:ea typeface="Arial" pitchFamily="34" charset="-122"/>
                <a:cs typeface="Arial" pitchFamily="34" charset="-120"/>
              </a:rPr>
              <a:t>Em que estado estava o carro?</a:t>
            </a:r>
            <a:endParaRPr lang="pt-BR" sz="1700" dirty="0"/>
          </a:p>
        </p:txBody>
      </p:sp>
      <p:sp>
        <p:nvSpPr>
          <p:cNvPr id="14" name="Text 10"/>
          <p:cNvSpPr txBox="1"/>
          <p:nvPr/>
        </p:nvSpPr>
        <p:spPr>
          <a:xfrm>
            <a:off x="4627778" y="3584448"/>
            <a:ext cx="2936138" cy="96012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O proprietário escreve o laudo de vistoria e pode editá-lo depois que uma disputa começa.</a:t>
            </a:r>
            <a:endParaRPr lang="pt-BR" sz="1400" dirty="0"/>
          </a:p>
        </p:txBody>
      </p:sp>
      <p:sp>
        <p:nvSpPr>
          <p:cNvPr id="15" name="Shape 11"/>
          <p:cNvSpPr/>
          <p:nvPr/>
        </p:nvSpPr>
        <p:spPr>
          <a:xfrm>
            <a:off x="8158277" y="1645920"/>
            <a:ext cx="3484778" cy="2971800"/>
          </a:xfrm>
          <a:prstGeom prst="roundRect">
            <a:avLst>
              <a:gd name="adj" fmla="val 2462"/>
            </a:avLst>
          </a:prstGeom>
          <a:solidFill>
            <a:srgbClr val="F2F5F7"/>
          </a:solidFill>
          <a:ln w="9525">
            <a:solidFill>
              <a:srgbClr val="F2F5F7"/>
            </a:solidFill>
            <a:prstDash val="solid"/>
          </a:ln>
        </p:spPr>
      </p:sp>
      <p:sp>
        <p:nvSpPr>
          <p:cNvPr id="16" name="Shape 12"/>
          <p:cNvSpPr/>
          <p:nvPr/>
        </p:nvSpPr>
        <p:spPr>
          <a:xfrm>
            <a:off x="8432597" y="1920240"/>
            <a:ext cx="822960" cy="822960"/>
          </a:xfrm>
          <a:prstGeom prst="ellipse">
            <a:avLst/>
          </a:prstGeom>
          <a:solidFill>
            <a:srgbClr val="1E2328"/>
          </a:solidFill>
          <a:ln w="9525">
            <a:solidFill>
              <a:srgbClr val="1E2328"/>
            </a:solidFill>
            <a:prstDash val="solid"/>
          </a:ln>
        </p:spPr>
      </p:sp>
      <p:pic>
        <p:nvPicPr>
          <p:cNvPr id="17" name="Image 2" descr="preencoded.png">    </p:cNvPr>
          <p:cNvPicPr>
            <a:picLocks noChangeAspect="1"/>
          </p:cNvPicPr>
          <p:nvPr/>
        </p:nvPicPr>
        <p:blipFill>
          <a:blip r:embed="rId3"/>
          <a:stretch>
            <a:fillRect/>
          </a:stretch>
        </p:blipFill>
        <p:spPr>
          <a:xfrm>
            <a:off x="8630107" y="2117750"/>
            <a:ext cx="427939" cy="427939"/>
          </a:xfrm>
          <a:prstGeom prst="rect">
            <a:avLst/>
          </a:prstGeom>
        </p:spPr>
      </p:pic>
      <p:sp>
        <p:nvSpPr>
          <p:cNvPr id="18" name="Text 13"/>
          <p:cNvSpPr txBox="1"/>
          <p:nvPr/>
        </p:nvSpPr>
        <p:spPr>
          <a:xfrm>
            <a:off x="8432597" y="2852928"/>
            <a:ext cx="2936138" cy="658368"/>
          </a:xfrm>
          <a:prstGeom prst="rect">
            <a:avLst/>
          </a:prstGeom>
          <a:noFill/>
          <a:ln/>
        </p:spPr>
        <p:txBody>
          <a:bodyPr wrap="square" lIns="0" tIns="0" rIns="0" bIns="0" rtlCol="0" anchor="t"/>
          <a:lstStyle/>
          <a:p>
            <a:pPr indent="0" marL="0">
              <a:buNone/>
            </a:pPr>
            <a:r>
              <a:rPr lang="pt-BR" altLang="en-US" sz="1700" b="1" dirty="0">
                <a:solidFill>
                  <a:srgbClr val="1E2328"/>
                </a:solidFill>
                <a:latin typeface="Arial" pitchFamily="34" charset="0"/>
                <a:ea typeface="Arial" pitchFamily="34" charset="-122"/>
                <a:cs typeface="Arial" pitchFamily="34" charset="-120"/>
              </a:rPr>
              <a:t>Quem recebe quando algo dá errado?</a:t>
            </a:r>
            <a:endParaRPr lang="pt-BR" sz="1700" dirty="0"/>
          </a:p>
        </p:txBody>
      </p:sp>
      <p:sp>
        <p:nvSpPr>
          <p:cNvPr id="19" name="Text 14"/>
          <p:cNvSpPr txBox="1"/>
          <p:nvPr/>
        </p:nvSpPr>
        <p:spPr>
          <a:xfrm>
            <a:off x="8432597" y="3584448"/>
            <a:ext cx="2936138" cy="96012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Reembolsos e multas são decididos manualmente, com atrasos e descontos arbitrários.</a:t>
            </a:r>
            <a:endParaRPr lang="pt-BR" sz="1400" dirty="0"/>
          </a:p>
        </p:txBody>
      </p:sp>
      <p:sp>
        <p:nvSpPr>
          <p:cNvPr id="20" name="Shape 15"/>
          <p:cNvSpPr/>
          <p:nvPr/>
        </p:nvSpPr>
        <p:spPr>
          <a:xfrm>
            <a:off x="548640" y="4892040"/>
            <a:ext cx="11094415" cy="1234440"/>
          </a:xfrm>
          <a:prstGeom prst="roundRect">
            <a:avLst>
              <a:gd name="adj" fmla="val 5926"/>
            </a:avLst>
          </a:prstGeom>
          <a:solidFill>
            <a:srgbClr val="E3F6FB"/>
          </a:solidFill>
          <a:ln w="9525">
            <a:solidFill>
              <a:srgbClr val="E3F6FB"/>
            </a:solidFill>
            <a:prstDash val="solid"/>
          </a:ln>
        </p:spPr>
      </p:sp>
      <p:sp>
        <p:nvSpPr>
          <p:cNvPr id="21" name="Text 16"/>
          <p:cNvSpPr txBox="1"/>
          <p:nvPr/>
        </p:nvSpPr>
        <p:spPr>
          <a:xfrm>
            <a:off x="868680" y="5074920"/>
            <a:ext cx="5486400" cy="228600"/>
          </a:xfrm>
          <a:prstGeom prst="rect">
            <a:avLst/>
          </a:prstGeom>
          <a:noFill/>
          <a:ln/>
        </p:spPr>
        <p:txBody>
          <a:bodyPr wrap="square" lIns="0" tIns="0" rIns="0" bIns="0" rtlCol="0" anchor="t"/>
          <a:lstStyle/>
          <a:p>
            <a:pPr indent="0" marL="0">
              <a:buNone/>
            </a:pPr>
            <a:r>
              <a:rPr lang="pt-BR" altLang="en-US" sz="1000" b="1" spc="200" kern="0" dirty="0">
                <a:solidFill>
                  <a:srgbClr val="007D9C"/>
                </a:solidFill>
                <a:latin typeface="Arial" pitchFamily="34" charset="0"/>
                <a:ea typeface="Arial" pitchFamily="34" charset="-122"/>
                <a:cs typeface="Arial" pitchFamily="34" charset="-120"/>
              </a:rPr>
              <a:t>DECLARAÇÃO DO PROBLEMA</a:t>
            </a:r>
            <a:endParaRPr lang="pt-BR" sz="1000" dirty="0"/>
          </a:p>
        </p:txBody>
      </p:sp>
      <p:sp>
        <p:nvSpPr>
          <p:cNvPr id="22" name="Text 17"/>
          <p:cNvSpPr txBox="1"/>
          <p:nvPr/>
        </p:nvSpPr>
        <p:spPr>
          <a:xfrm>
            <a:off x="868680" y="5349240"/>
            <a:ext cx="10454335" cy="685800"/>
          </a:xfrm>
          <a:prstGeom prst="rect">
            <a:avLst/>
          </a:prstGeom>
          <a:noFill/>
          <a:ln/>
        </p:spPr>
        <p:txBody>
          <a:bodyPr wrap="square" lIns="0" tIns="0" rIns="0" bIns="0" rtlCol="0" anchor="t"/>
          <a:lstStyle/>
          <a:p>
            <a:pPr indent="0" marL="0">
              <a:buNone/>
            </a:pPr>
            <a:r>
              <a:rPr lang="pt-BR" altLang="en-US" sz="1600" i="1" dirty="0">
                <a:solidFill>
                  <a:srgbClr val="1E2328"/>
                </a:solidFill>
                <a:latin typeface="Calibri" pitchFamily="34" charset="0"/>
                <a:ea typeface="Calibri" pitchFamily="34" charset="-122"/>
                <a:cs typeface="Calibri" pitchFamily="34" charset="-120"/>
              </a:rPr>
              <a:t>Locatários precisam empenhar valor para alugar um carro, e proprietários precisam confiar nessa garantia, no laudo de vistoria e na liquidação, sem que nenhuma parte consiga reescrever o registro sozinha.</a:t>
            </a:r>
            <a:endParaRPr lang="pt-BR"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01 · POR QUE BLOCKCHAIN NO ALUGUEL DE CARROS</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Cada dor vira uma garantia do livro-razão</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4</a:t>
            </a:r>
            <a:endParaRPr lang="pt-BR" sz="1000" dirty="0"/>
          </a:p>
        </p:txBody>
      </p:sp>
      <p:sp>
        <p:nvSpPr>
          <p:cNvPr id="5" name="Text 3"/>
          <p:cNvSpPr txBox="1"/>
          <p:nvPr/>
        </p:nvSpPr>
        <p:spPr>
          <a:xfrm>
            <a:off x="548640" y="1481328"/>
            <a:ext cx="3657600" cy="228600"/>
          </a:xfrm>
          <a:prstGeom prst="rect">
            <a:avLst/>
          </a:prstGeom>
          <a:noFill/>
          <a:ln/>
        </p:spPr>
        <p:txBody>
          <a:bodyPr wrap="square" lIns="0" tIns="0" rIns="0" bIns="0" rtlCol="0" anchor="t"/>
          <a:lstStyle/>
          <a:p>
            <a:pPr indent="0" marL="0">
              <a:buNone/>
            </a:pPr>
            <a:r>
              <a:rPr lang="pt-BR" altLang="en-US" sz="1000" b="1" spc="200" kern="0" dirty="0">
                <a:solidFill>
                  <a:srgbClr val="5F6B76"/>
                </a:solidFill>
                <a:latin typeface="Arial" pitchFamily="34" charset="0"/>
                <a:ea typeface="Arial" pitchFamily="34" charset="-122"/>
                <a:cs typeface="Arial" pitchFamily="34" charset="-120"/>
              </a:rPr>
              <a:t>HOJE</a:t>
            </a:r>
            <a:endParaRPr lang="pt-BR" sz="1000" dirty="0"/>
          </a:p>
        </p:txBody>
      </p:sp>
      <p:sp>
        <p:nvSpPr>
          <p:cNvPr id="6" name="Text 4"/>
          <p:cNvSpPr txBox="1"/>
          <p:nvPr/>
        </p:nvSpPr>
        <p:spPr>
          <a:xfrm>
            <a:off x="6537960" y="1481328"/>
            <a:ext cx="3657600" cy="228600"/>
          </a:xfrm>
          <a:prstGeom prst="rect">
            <a:avLst/>
          </a:prstGeom>
          <a:noFill/>
          <a:ln/>
        </p:spPr>
        <p:txBody>
          <a:bodyPr wrap="square" lIns="0" tIns="0" rIns="0" bIns="0" rtlCol="0" anchor="t"/>
          <a:lstStyle/>
          <a:p>
            <a:pPr indent="0" marL="0">
              <a:buNone/>
            </a:pPr>
            <a:r>
              <a:rPr lang="pt-BR" altLang="en-US" sz="1000" b="1" spc="200" kern="0" dirty="0">
                <a:solidFill>
                  <a:srgbClr val="007D9C"/>
                </a:solidFill>
                <a:latin typeface="Arial" pitchFamily="34" charset="0"/>
                <a:ea typeface="Arial" pitchFamily="34" charset="-122"/>
                <a:cs typeface="Arial" pitchFamily="34" charset="-120"/>
              </a:rPr>
              <a:t>NO LIVRO-RAZÃO</a:t>
            </a:r>
            <a:endParaRPr lang="pt-BR" sz="1000" dirty="0"/>
          </a:p>
        </p:txBody>
      </p:sp>
      <p:sp>
        <p:nvSpPr>
          <p:cNvPr id="7" name="Shape 5"/>
          <p:cNvSpPr/>
          <p:nvPr/>
        </p:nvSpPr>
        <p:spPr>
          <a:xfrm>
            <a:off x="548640" y="1783080"/>
            <a:ext cx="5074920" cy="960120"/>
          </a:xfrm>
          <a:prstGeom prst="roundRect">
            <a:avLst>
              <a:gd name="adj" fmla="val 7619"/>
            </a:avLst>
          </a:prstGeom>
          <a:solidFill>
            <a:srgbClr val="F2F5F7"/>
          </a:solidFill>
          <a:ln w="9525">
            <a:solidFill>
              <a:srgbClr val="F2F5F7"/>
            </a:solidFill>
            <a:prstDash val="solid"/>
          </a:ln>
        </p:spPr>
      </p:sp>
      <p:sp>
        <p:nvSpPr>
          <p:cNvPr id="8" name="Text 6"/>
          <p:cNvSpPr txBox="1"/>
          <p:nvPr/>
        </p:nvSpPr>
        <p:spPr>
          <a:xfrm>
            <a:off x="777240" y="1920240"/>
            <a:ext cx="4663440" cy="32004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A garantia fica nos registros de uma só parte</a:t>
            </a:r>
            <a:endParaRPr lang="pt-BR" sz="1500" dirty="0"/>
          </a:p>
        </p:txBody>
      </p:sp>
      <p:sp>
        <p:nvSpPr>
          <p:cNvPr id="9" name="Text 7"/>
          <p:cNvSpPr txBox="1"/>
          <p:nvPr/>
        </p:nvSpPr>
        <p:spPr>
          <a:xfrm>
            <a:off x="777240" y="2258568"/>
            <a:ext cx="4663440" cy="36576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Item empenhado duas vezes, ou dado como não devolvido</a:t>
            </a:r>
            <a:endParaRPr lang="pt-BR" sz="1350" dirty="0"/>
          </a:p>
        </p:txBody>
      </p:sp>
      <p:sp>
        <p:nvSpPr>
          <p:cNvPr id="10" name="Shape 8"/>
          <p:cNvSpPr/>
          <p:nvPr/>
        </p:nvSpPr>
        <p:spPr>
          <a:xfrm>
            <a:off x="5824728" y="2002536"/>
            <a:ext cx="512064" cy="512064"/>
          </a:xfrm>
          <a:prstGeom prst="ellipse">
            <a:avLst/>
          </a:prstGeom>
          <a:solidFill>
            <a:srgbClr val="007D9C"/>
          </a:solidFill>
          <a:ln w="9525">
            <a:solidFill>
              <a:srgbClr val="007D9C"/>
            </a:solidFill>
            <a:prstDash val="solid"/>
          </a:ln>
        </p:spPr>
      </p:sp>
      <p:pic>
        <p:nvPicPr>
          <p:cNvPr id="11" name="Image 0" descr="preencoded.png">    </p:cNvPr>
          <p:cNvPicPr>
            <a:picLocks noChangeAspect="1"/>
          </p:cNvPicPr>
          <p:nvPr/>
        </p:nvPicPr>
        <p:blipFill>
          <a:blip r:embed="rId1"/>
          <a:stretch>
            <a:fillRect/>
          </a:stretch>
        </p:blipFill>
        <p:spPr>
          <a:xfrm>
            <a:off x="5962985" y="2140793"/>
            <a:ext cx="235549" cy="235549"/>
          </a:xfrm>
          <a:prstGeom prst="rect">
            <a:avLst/>
          </a:prstGeom>
        </p:spPr>
      </p:pic>
      <p:sp>
        <p:nvSpPr>
          <p:cNvPr id="12" name="Shape 9"/>
          <p:cNvSpPr/>
          <p:nvPr/>
        </p:nvSpPr>
        <p:spPr>
          <a:xfrm>
            <a:off x="6537960" y="1783080"/>
            <a:ext cx="5102352" cy="960120"/>
          </a:xfrm>
          <a:prstGeom prst="roundRect">
            <a:avLst>
              <a:gd name="adj" fmla="val 7619"/>
            </a:avLst>
          </a:prstGeom>
          <a:solidFill>
            <a:srgbClr val="E3F6FB"/>
          </a:solidFill>
          <a:ln w="9525">
            <a:solidFill>
              <a:srgbClr val="E3F6FB"/>
            </a:solidFill>
            <a:prstDash val="solid"/>
          </a:ln>
        </p:spPr>
      </p:sp>
      <p:sp>
        <p:nvSpPr>
          <p:cNvPr id="13" name="Text 10"/>
          <p:cNvSpPr txBox="1"/>
          <p:nvPr/>
        </p:nvSpPr>
        <p:spPr>
          <a:xfrm>
            <a:off x="6766560" y="1892808"/>
            <a:ext cx="4663440" cy="749808"/>
          </a:xfrm>
          <a:prstGeom prst="rect">
            <a:avLst/>
          </a:prstGeom>
          <a:noFill/>
          <a:ln/>
        </p:spPr>
        <p:txBody>
          <a:bodyPr wrap="square" lIns="0" tIns="0" rIns="0" bIns="0" rtlCol="0" anchor="ctr"/>
          <a:lstStyle/>
          <a:p>
            <a:pPr indent="0" marL="0">
              <a:buNone/>
            </a:pPr>
            <a:r>
              <a:rPr lang="pt-BR" altLang="en-US" sz="1500" dirty="0">
                <a:solidFill>
                  <a:srgbClr val="1E2328"/>
                </a:solidFill>
                <a:latin typeface="Calibri" pitchFamily="34" charset="0"/>
                <a:ea typeface="Calibri" pitchFamily="34" charset="-122"/>
                <a:cs typeface="Calibri" pitchFamily="34" charset="-120"/>
              </a:rPr>
              <a:t>Cada item é um token. Em custódia, não pode ser empenhado de novo.</a:t>
            </a:r>
            <a:endParaRPr lang="pt-BR" sz="1500" dirty="0"/>
          </a:p>
        </p:txBody>
      </p:sp>
      <p:sp>
        <p:nvSpPr>
          <p:cNvPr id="14" name="Shape 11"/>
          <p:cNvSpPr/>
          <p:nvPr/>
        </p:nvSpPr>
        <p:spPr>
          <a:xfrm>
            <a:off x="548640" y="2880360"/>
            <a:ext cx="5074920" cy="960120"/>
          </a:xfrm>
          <a:prstGeom prst="roundRect">
            <a:avLst>
              <a:gd name="adj" fmla="val 7619"/>
            </a:avLst>
          </a:prstGeom>
          <a:solidFill>
            <a:srgbClr val="F2F5F7"/>
          </a:solidFill>
          <a:ln w="9525">
            <a:solidFill>
              <a:srgbClr val="F2F5F7"/>
            </a:solidFill>
            <a:prstDash val="solid"/>
          </a:ln>
        </p:spPr>
      </p:sp>
      <p:sp>
        <p:nvSpPr>
          <p:cNvPr id="15" name="Text 12"/>
          <p:cNvSpPr txBox="1"/>
          <p:nvPr/>
        </p:nvSpPr>
        <p:spPr>
          <a:xfrm>
            <a:off x="777240" y="3017520"/>
            <a:ext cx="4663440" cy="32004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O proprietário registra o estado do carro</a:t>
            </a:r>
            <a:endParaRPr lang="pt-BR" sz="1500" dirty="0"/>
          </a:p>
        </p:txBody>
      </p:sp>
      <p:sp>
        <p:nvSpPr>
          <p:cNvPr id="16" name="Text 13"/>
          <p:cNvSpPr txBox="1"/>
          <p:nvPr/>
        </p:nvSpPr>
        <p:spPr>
          <a:xfrm>
            <a:off x="777240" y="3355848"/>
            <a:ext cx="4663440" cy="36576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Laudos são editados depois que a disputa começa</a:t>
            </a:r>
            <a:endParaRPr lang="pt-BR" sz="1350" dirty="0"/>
          </a:p>
        </p:txBody>
      </p:sp>
      <p:sp>
        <p:nvSpPr>
          <p:cNvPr id="17" name="Shape 14"/>
          <p:cNvSpPr/>
          <p:nvPr/>
        </p:nvSpPr>
        <p:spPr>
          <a:xfrm>
            <a:off x="5824728" y="3099816"/>
            <a:ext cx="512064" cy="512064"/>
          </a:xfrm>
          <a:prstGeom prst="ellipse">
            <a:avLst/>
          </a:prstGeom>
          <a:solidFill>
            <a:srgbClr val="007D9C"/>
          </a:solidFill>
          <a:ln w="9525">
            <a:solidFill>
              <a:srgbClr val="007D9C"/>
            </a:solidFill>
            <a:prstDash val="solid"/>
          </a:ln>
        </p:spPr>
      </p:sp>
      <p:pic>
        <p:nvPicPr>
          <p:cNvPr id="18" name="Image 1" descr="preencoded.png">    </p:cNvPr>
          <p:cNvPicPr>
            <a:picLocks noChangeAspect="1"/>
          </p:cNvPicPr>
          <p:nvPr/>
        </p:nvPicPr>
        <p:blipFill>
          <a:blip r:embed="rId2"/>
          <a:stretch>
            <a:fillRect/>
          </a:stretch>
        </p:blipFill>
        <p:spPr>
          <a:xfrm>
            <a:off x="5962985" y="3238073"/>
            <a:ext cx="235549" cy="235549"/>
          </a:xfrm>
          <a:prstGeom prst="rect">
            <a:avLst/>
          </a:prstGeom>
        </p:spPr>
      </p:pic>
      <p:sp>
        <p:nvSpPr>
          <p:cNvPr id="19" name="Shape 15"/>
          <p:cNvSpPr/>
          <p:nvPr/>
        </p:nvSpPr>
        <p:spPr>
          <a:xfrm>
            <a:off x="6537960" y="2880360"/>
            <a:ext cx="5102352" cy="960120"/>
          </a:xfrm>
          <a:prstGeom prst="roundRect">
            <a:avLst>
              <a:gd name="adj" fmla="val 7619"/>
            </a:avLst>
          </a:prstGeom>
          <a:solidFill>
            <a:srgbClr val="E3F6FB"/>
          </a:solidFill>
          <a:ln w="9525">
            <a:solidFill>
              <a:srgbClr val="E3F6FB"/>
            </a:solidFill>
            <a:prstDash val="solid"/>
          </a:ln>
        </p:spPr>
      </p:sp>
      <p:sp>
        <p:nvSpPr>
          <p:cNvPr id="20" name="Text 16"/>
          <p:cNvSpPr txBox="1"/>
          <p:nvPr/>
        </p:nvSpPr>
        <p:spPr>
          <a:xfrm>
            <a:off x="6766560" y="2990088"/>
            <a:ext cx="4663440" cy="749808"/>
          </a:xfrm>
          <a:prstGeom prst="rect">
            <a:avLst/>
          </a:prstGeom>
          <a:noFill/>
          <a:ln/>
        </p:spPr>
        <p:txBody>
          <a:bodyPr wrap="square" lIns="0" tIns="0" rIns="0" bIns="0" rtlCol="0" anchor="ctr"/>
          <a:lstStyle/>
          <a:p>
            <a:pPr indent="0" marL="0">
              <a:buNone/>
            </a:pPr>
            <a:r>
              <a:rPr lang="pt-BR" altLang="en-US" sz="1500" dirty="0">
                <a:solidFill>
                  <a:srgbClr val="1E2328"/>
                </a:solidFill>
                <a:latin typeface="Calibri" pitchFamily="34" charset="0"/>
                <a:ea typeface="Calibri" pitchFamily="34" charset="-122"/>
                <a:cs typeface="Calibri" pitchFamily="34" charset="-120"/>
              </a:rPr>
              <a:t>Os hashes dos laudos de retirada e devolução ficam em blocos imutáveis, com data e hora.</a:t>
            </a:r>
            <a:endParaRPr lang="pt-BR" sz="1500" dirty="0"/>
          </a:p>
        </p:txBody>
      </p:sp>
      <p:sp>
        <p:nvSpPr>
          <p:cNvPr id="21" name="Shape 17"/>
          <p:cNvSpPr/>
          <p:nvPr/>
        </p:nvSpPr>
        <p:spPr>
          <a:xfrm>
            <a:off x="548640" y="3977640"/>
            <a:ext cx="5074920" cy="960120"/>
          </a:xfrm>
          <a:prstGeom prst="roundRect">
            <a:avLst>
              <a:gd name="adj" fmla="val 7619"/>
            </a:avLst>
          </a:prstGeom>
          <a:solidFill>
            <a:srgbClr val="F2F5F7"/>
          </a:solidFill>
          <a:ln w="9525">
            <a:solidFill>
              <a:srgbClr val="F2F5F7"/>
            </a:solidFill>
            <a:prstDash val="solid"/>
          </a:ln>
        </p:spPr>
      </p:sp>
      <p:sp>
        <p:nvSpPr>
          <p:cNvPr id="22" name="Text 18"/>
          <p:cNvSpPr txBox="1"/>
          <p:nvPr/>
        </p:nvSpPr>
        <p:spPr>
          <a:xfrm>
            <a:off x="777240" y="4114800"/>
            <a:ext cx="4663440" cy="32004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Reembolsos e multas são decididos à mão</a:t>
            </a:r>
            <a:endParaRPr lang="pt-BR" sz="1500" dirty="0"/>
          </a:p>
        </p:txBody>
      </p:sp>
      <p:sp>
        <p:nvSpPr>
          <p:cNvPr id="23" name="Text 19"/>
          <p:cNvSpPr txBox="1"/>
          <p:nvPr/>
        </p:nvSpPr>
        <p:spPr>
          <a:xfrm>
            <a:off x="777240" y="4453128"/>
            <a:ext cx="4663440" cy="36576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Atrasos e descontos arbitrários</a:t>
            </a:r>
            <a:endParaRPr lang="pt-BR" sz="1350" dirty="0"/>
          </a:p>
        </p:txBody>
      </p:sp>
      <p:sp>
        <p:nvSpPr>
          <p:cNvPr id="24" name="Shape 20"/>
          <p:cNvSpPr/>
          <p:nvPr/>
        </p:nvSpPr>
        <p:spPr>
          <a:xfrm>
            <a:off x="5824728" y="4197096"/>
            <a:ext cx="512064" cy="512064"/>
          </a:xfrm>
          <a:prstGeom prst="ellipse">
            <a:avLst/>
          </a:prstGeom>
          <a:solidFill>
            <a:srgbClr val="007D9C"/>
          </a:solidFill>
          <a:ln w="9525">
            <a:solidFill>
              <a:srgbClr val="007D9C"/>
            </a:solidFill>
            <a:prstDash val="solid"/>
          </a:ln>
        </p:spPr>
      </p:sp>
      <p:pic>
        <p:nvPicPr>
          <p:cNvPr id="25" name="Image 2" descr="preencoded.png">    </p:cNvPr>
          <p:cNvPicPr>
            <a:picLocks noChangeAspect="1"/>
          </p:cNvPicPr>
          <p:nvPr/>
        </p:nvPicPr>
        <p:blipFill>
          <a:blip r:embed="rId3"/>
          <a:stretch>
            <a:fillRect/>
          </a:stretch>
        </p:blipFill>
        <p:spPr>
          <a:xfrm>
            <a:off x="5962985" y="4335353"/>
            <a:ext cx="235549" cy="235549"/>
          </a:xfrm>
          <a:prstGeom prst="rect">
            <a:avLst/>
          </a:prstGeom>
        </p:spPr>
      </p:pic>
      <p:sp>
        <p:nvSpPr>
          <p:cNvPr id="26" name="Shape 21"/>
          <p:cNvSpPr/>
          <p:nvPr/>
        </p:nvSpPr>
        <p:spPr>
          <a:xfrm>
            <a:off x="6537960" y="3977640"/>
            <a:ext cx="5102352" cy="960120"/>
          </a:xfrm>
          <a:prstGeom prst="roundRect">
            <a:avLst>
              <a:gd name="adj" fmla="val 7619"/>
            </a:avLst>
          </a:prstGeom>
          <a:solidFill>
            <a:srgbClr val="E3F6FB"/>
          </a:solidFill>
          <a:ln w="9525">
            <a:solidFill>
              <a:srgbClr val="E3F6FB"/>
            </a:solidFill>
            <a:prstDash val="solid"/>
          </a:ln>
        </p:spPr>
      </p:sp>
      <p:sp>
        <p:nvSpPr>
          <p:cNvPr id="27" name="Text 22"/>
          <p:cNvSpPr txBox="1"/>
          <p:nvPr/>
        </p:nvSpPr>
        <p:spPr>
          <a:xfrm>
            <a:off x="6766560" y="4087368"/>
            <a:ext cx="4663440" cy="749808"/>
          </a:xfrm>
          <a:prstGeom prst="rect">
            <a:avLst/>
          </a:prstGeom>
          <a:noFill/>
          <a:ln/>
        </p:spPr>
        <p:txBody>
          <a:bodyPr wrap="square" lIns="0" tIns="0" rIns="0" bIns="0" rtlCol="0" anchor="ctr"/>
          <a:lstStyle/>
          <a:p>
            <a:pPr indent="0" marL="0">
              <a:buNone/>
            </a:pPr>
            <a:r>
              <a:rPr lang="pt-BR" altLang="en-US" sz="1500" dirty="0">
                <a:solidFill>
                  <a:srgbClr val="1E2328"/>
                </a:solidFill>
                <a:latin typeface="Calibri" pitchFamily="34" charset="0"/>
                <a:ea typeface="Calibri" pitchFamily="34" charset="-122"/>
                <a:cs typeface="Calibri" pitchFamily="34" charset="-120"/>
              </a:rPr>
              <a:t>O contrato calcula multas por atraso e a execução da garantia por regras fixas.</a:t>
            </a:r>
            <a:endParaRPr lang="pt-BR" sz="1500" dirty="0"/>
          </a:p>
        </p:txBody>
      </p:sp>
      <p:sp>
        <p:nvSpPr>
          <p:cNvPr id="28" name="Shape 23"/>
          <p:cNvSpPr/>
          <p:nvPr/>
        </p:nvSpPr>
        <p:spPr>
          <a:xfrm>
            <a:off x="548640" y="5074920"/>
            <a:ext cx="5074920" cy="960120"/>
          </a:xfrm>
          <a:prstGeom prst="roundRect">
            <a:avLst>
              <a:gd name="adj" fmla="val 7619"/>
            </a:avLst>
          </a:prstGeom>
          <a:solidFill>
            <a:srgbClr val="F2F5F7"/>
          </a:solidFill>
          <a:ln w="9525">
            <a:solidFill>
              <a:srgbClr val="F2F5F7"/>
            </a:solidFill>
            <a:prstDash val="solid"/>
          </a:ln>
        </p:spPr>
      </p:sp>
      <p:sp>
        <p:nvSpPr>
          <p:cNvPr id="29" name="Text 24"/>
          <p:cNvSpPr txBox="1"/>
          <p:nvPr/>
        </p:nvSpPr>
        <p:spPr>
          <a:xfrm>
            <a:off x="777240" y="5212080"/>
            <a:ext cx="4663440" cy="32004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Propriedade e locação em sistemas separados</a:t>
            </a:r>
            <a:endParaRPr lang="pt-BR" sz="1500" dirty="0"/>
          </a:p>
        </p:txBody>
      </p:sp>
      <p:sp>
        <p:nvSpPr>
          <p:cNvPr id="30" name="Text 25"/>
          <p:cNvSpPr txBox="1"/>
          <p:nvPr/>
        </p:nvSpPr>
        <p:spPr>
          <a:xfrm>
            <a:off x="777240" y="5550408"/>
            <a:ext cx="4663440" cy="36576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O carro é vendido ou realugado durante a locação</a:t>
            </a:r>
            <a:endParaRPr lang="pt-BR" sz="1350" dirty="0"/>
          </a:p>
        </p:txBody>
      </p:sp>
      <p:sp>
        <p:nvSpPr>
          <p:cNvPr id="31" name="Shape 26"/>
          <p:cNvSpPr/>
          <p:nvPr/>
        </p:nvSpPr>
        <p:spPr>
          <a:xfrm>
            <a:off x="5824728" y="5294376"/>
            <a:ext cx="512064" cy="512064"/>
          </a:xfrm>
          <a:prstGeom prst="ellipse">
            <a:avLst/>
          </a:prstGeom>
          <a:solidFill>
            <a:srgbClr val="007D9C"/>
          </a:solidFill>
          <a:ln w="9525">
            <a:solidFill>
              <a:srgbClr val="007D9C"/>
            </a:solidFill>
            <a:prstDash val="solid"/>
          </a:ln>
        </p:spPr>
      </p:sp>
      <p:pic>
        <p:nvPicPr>
          <p:cNvPr id="32" name="Image 3" descr="preencoded.png">    </p:cNvPr>
          <p:cNvPicPr>
            <a:picLocks noChangeAspect="1"/>
          </p:cNvPicPr>
          <p:nvPr/>
        </p:nvPicPr>
        <p:blipFill>
          <a:blip r:embed="rId4"/>
          <a:stretch>
            <a:fillRect/>
          </a:stretch>
        </p:blipFill>
        <p:spPr>
          <a:xfrm>
            <a:off x="5962985" y="5432633"/>
            <a:ext cx="235549" cy="235549"/>
          </a:xfrm>
          <a:prstGeom prst="rect">
            <a:avLst/>
          </a:prstGeom>
        </p:spPr>
      </p:pic>
      <p:sp>
        <p:nvSpPr>
          <p:cNvPr id="33" name="Shape 27"/>
          <p:cNvSpPr/>
          <p:nvPr/>
        </p:nvSpPr>
        <p:spPr>
          <a:xfrm>
            <a:off x="6537960" y="5074920"/>
            <a:ext cx="5102352" cy="960120"/>
          </a:xfrm>
          <a:prstGeom prst="roundRect">
            <a:avLst>
              <a:gd name="adj" fmla="val 7619"/>
            </a:avLst>
          </a:prstGeom>
          <a:solidFill>
            <a:srgbClr val="E3F6FB"/>
          </a:solidFill>
          <a:ln w="9525">
            <a:solidFill>
              <a:srgbClr val="E3F6FB"/>
            </a:solidFill>
            <a:prstDash val="solid"/>
          </a:ln>
        </p:spPr>
      </p:sp>
      <p:sp>
        <p:nvSpPr>
          <p:cNvPr id="34" name="Text 28"/>
          <p:cNvSpPr txBox="1"/>
          <p:nvPr/>
        </p:nvSpPr>
        <p:spPr>
          <a:xfrm>
            <a:off x="6766560" y="5184648"/>
            <a:ext cx="4663440" cy="749808"/>
          </a:xfrm>
          <a:prstGeom prst="rect">
            <a:avLst/>
          </a:prstGeom>
          <a:noFill/>
          <a:ln/>
        </p:spPr>
        <p:txBody>
          <a:bodyPr wrap="square" lIns="0" tIns="0" rIns="0" bIns="0" rtlCol="0" anchor="ctr"/>
          <a:lstStyle/>
          <a:p>
            <a:pPr indent="0" marL="0">
              <a:buNone/>
            </a:pPr>
            <a:r>
              <a:rPr lang="pt-BR" altLang="en-US" sz="1500" dirty="0">
                <a:solidFill>
                  <a:srgbClr val="1E2328"/>
                </a:solidFill>
                <a:latin typeface="Calibri" pitchFamily="34" charset="0"/>
                <a:ea typeface="Calibri" pitchFamily="34" charset="-122"/>
                <a:cs typeface="Calibri" pitchFamily="34" charset="-120"/>
              </a:rPr>
              <a:t>O token de um carro alugado não pode ser transferido até a liquidação.</a:t>
            </a:r>
            <a:endParaRPr lang="pt-BR"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01 · POR QUE BLOCKCHAIN NO ALUGUEL DE CARROS</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Por que não um banco de dados comum?</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5</a:t>
            </a:r>
            <a:endParaRPr lang="pt-BR" sz="1000" dirty="0"/>
          </a:p>
        </p:txBody>
      </p:sp>
      <p:sp>
        <p:nvSpPr>
          <p:cNvPr id="5" name="Shape 3"/>
          <p:cNvSpPr/>
          <p:nvPr/>
        </p:nvSpPr>
        <p:spPr>
          <a:xfrm>
            <a:off x="548640" y="1645920"/>
            <a:ext cx="5350612" cy="3703320"/>
          </a:xfrm>
          <a:prstGeom prst="roundRect">
            <a:avLst>
              <a:gd name="adj" fmla="val 1975"/>
            </a:avLst>
          </a:prstGeom>
          <a:solidFill>
            <a:srgbClr val="F2F5F7"/>
          </a:solidFill>
          <a:ln w="9525">
            <a:solidFill>
              <a:srgbClr val="F2F5F7"/>
            </a:solidFill>
            <a:prstDash val="solid"/>
          </a:ln>
        </p:spPr>
      </p:sp>
      <p:sp>
        <p:nvSpPr>
          <p:cNvPr id="6" name="Shape 4"/>
          <p:cNvSpPr/>
          <p:nvPr/>
        </p:nvSpPr>
        <p:spPr>
          <a:xfrm>
            <a:off x="868680" y="1920240"/>
            <a:ext cx="731520" cy="731520"/>
          </a:xfrm>
          <a:prstGeom prst="ellipse">
            <a:avLst/>
          </a:prstGeom>
          <a:solidFill>
            <a:srgbClr val="3A434C"/>
          </a:solidFill>
          <a:ln w="9525">
            <a:solidFill>
              <a:srgbClr val="3A434C"/>
            </a:solidFill>
            <a:prstDash val="solid"/>
          </a:ln>
        </p:spPr>
      </p:sp>
      <p:pic>
        <p:nvPicPr>
          <p:cNvPr id="7" name="Image 0" descr="preencoded.png">    </p:cNvPr>
          <p:cNvPicPr>
            <a:picLocks noChangeAspect="1"/>
          </p:cNvPicPr>
          <p:nvPr/>
        </p:nvPicPr>
        <p:blipFill>
          <a:blip r:embed="rId1"/>
          <a:stretch>
            <a:fillRect/>
          </a:stretch>
        </p:blipFill>
        <p:spPr>
          <a:xfrm>
            <a:off x="1044245" y="2095805"/>
            <a:ext cx="380390" cy="380390"/>
          </a:xfrm>
          <a:prstGeom prst="rect">
            <a:avLst/>
          </a:prstGeom>
        </p:spPr>
      </p:pic>
      <p:sp>
        <p:nvSpPr>
          <p:cNvPr id="8" name="Text 5"/>
          <p:cNvSpPr txBox="1"/>
          <p:nvPr/>
        </p:nvSpPr>
        <p:spPr>
          <a:xfrm>
            <a:off x="1783080" y="1920240"/>
            <a:ext cx="3887572" cy="731520"/>
          </a:xfrm>
          <a:prstGeom prst="rect">
            <a:avLst/>
          </a:prstGeom>
          <a:noFill/>
          <a:ln/>
        </p:spPr>
        <p:txBody>
          <a:bodyPr wrap="square" lIns="0" tIns="0" rIns="0" bIns="0" rtlCol="0" anchor="ctr"/>
          <a:lstStyle/>
          <a:p>
            <a:pPr indent="0" marL="0">
              <a:buNone/>
            </a:pPr>
            <a:r>
              <a:rPr lang="pt-BR" altLang="en-US" sz="2000" b="1" dirty="0">
                <a:solidFill>
                  <a:srgbClr val="1E2328"/>
                </a:solidFill>
                <a:latin typeface="Arial" pitchFamily="34" charset="0"/>
                <a:ea typeface="Arial" pitchFamily="34" charset="-122"/>
                <a:cs typeface="Arial" pitchFamily="34" charset="-120"/>
              </a:rPr>
              <a:t>Um banco de dados é melhor quando…</a:t>
            </a:r>
            <a:endParaRPr lang="pt-BR" sz="2000" dirty="0"/>
          </a:p>
        </p:txBody>
      </p:sp>
      <p:sp>
        <p:nvSpPr>
          <p:cNvPr id="9" name="Text 6"/>
          <p:cNvSpPr txBox="1"/>
          <p:nvPr/>
        </p:nvSpPr>
        <p:spPr>
          <a:xfrm>
            <a:off x="868680" y="2834640"/>
            <a:ext cx="4710532" cy="685800"/>
          </a:xfrm>
          <a:prstGeom prst="rect">
            <a:avLst/>
          </a:prstGeom>
          <a:noFill/>
          <a:ln/>
        </p:spPr>
        <p:txBody>
          <a:bodyPr wrap="square" lIns="0" tIns="0" rIns="0" bIns="0" rtlCol="0" anchor="t"/>
          <a:lstStyle/>
          <a:p>
            <a:pPr indent="0" marL="0">
              <a:buNone/>
            </a:pPr>
            <a:r>
              <a:rPr lang="pt-BR" altLang="en-US" sz="1500" i="1" dirty="0">
                <a:solidFill>
                  <a:srgbClr val="5F6B76"/>
                </a:solidFill>
                <a:latin typeface="Calibri" pitchFamily="34" charset="0"/>
                <a:ea typeface="Calibri" pitchFamily="34" charset="-122"/>
                <a:cs typeface="Calibri" pitchFamily="34" charset="-120"/>
              </a:rPr>
              <a:t>uma única empresa controla todos os registros e todos confiam nela.</a:t>
            </a:r>
            <a:endParaRPr lang="pt-BR" sz="1500" dirty="0"/>
          </a:p>
        </p:txBody>
      </p:sp>
      <p:sp>
        <p:nvSpPr>
          <p:cNvPr id="10" name="Text 7"/>
          <p:cNvSpPr txBox="1"/>
          <p:nvPr/>
        </p:nvSpPr>
        <p:spPr>
          <a:xfrm>
            <a:off x="868680" y="3767328"/>
            <a:ext cx="4710532" cy="1463040"/>
          </a:xfrm>
          <a:prstGeom prst="rect">
            <a:avLst/>
          </a:prstGeom>
          <a:noFill/>
          <a:ln/>
        </p:spPr>
        <p:txBody>
          <a:bodyPr wrap="square" lIns="0" tIns="0" rIns="0" bIns="0" rtlCol="0" anchor="t"/>
          <a:lstStyle/>
          <a:p>
            <a:pPr marL="342900" indent="-342900">
              <a:spcAft>
                <a:spcPts val="800"/>
              </a:spcAft>
              <a:buSzPct val="100000"/>
              <a:buChar char="•"/>
            </a:pPr>
            <a:r>
              <a:rPr lang="pt-BR" altLang="en-US" sz="1500" dirty="0">
                <a:solidFill>
                  <a:srgbClr val="1E2328"/>
                </a:solidFill>
                <a:latin typeface="Calibri" pitchFamily="34" charset="0"/>
                <a:ea typeface="Calibri" pitchFamily="34" charset="-122"/>
                <a:cs typeface="Calibri" pitchFamily="34" charset="-120"/>
              </a:rPr>
              <a:t>Mais rápido e simples de operar</a:t>
            </a:r>
            <a:endParaRPr lang="pt-BR" sz="1500" dirty="0"/>
          </a:p>
          <a:p>
            <a:pPr marL="342900" indent="-342900">
              <a:spcAft>
                <a:spcPts val="800"/>
              </a:spcAft>
              <a:buSzPct val="100000"/>
              <a:buChar char="•"/>
            </a:pPr>
            <a:r>
              <a:rPr lang="pt-BR" altLang="en-US" sz="1500" dirty="0">
                <a:solidFill>
                  <a:srgbClr val="1E2328"/>
                </a:solidFill>
                <a:latin typeface="Calibri" pitchFamily="34" charset="0"/>
                <a:ea typeface="Calibri" pitchFamily="34" charset="-122"/>
                <a:cs typeface="Calibri" pitchFamily="34" charset="-120"/>
              </a:rPr>
              <a:t>Erros são fáceis de corrigir</a:t>
            </a:r>
            <a:endParaRPr lang="pt-BR" sz="1500" dirty="0"/>
          </a:p>
          <a:p>
            <a:pPr marL="342900" indent="-342900">
              <a:spcAft>
                <a:spcPts val="800"/>
              </a:spcAft>
              <a:buSzPct val="100000"/>
              <a:buChar char="•"/>
            </a:pPr>
            <a:r>
              <a:rPr lang="pt-BR" altLang="en-US" sz="1500" dirty="0">
                <a:solidFill>
                  <a:srgbClr val="1E2328"/>
                </a:solidFill>
                <a:latin typeface="Calibri" pitchFamily="34" charset="0"/>
                <a:ea typeface="Calibri" pitchFamily="34" charset="-122"/>
                <a:cs typeface="Calibri" pitchFamily="34" charset="-120"/>
              </a:rPr>
              <a:t>Privado por padrão</a:t>
            </a:r>
            <a:endParaRPr lang="pt-BR" sz="1500" dirty="0"/>
          </a:p>
        </p:txBody>
      </p:sp>
      <p:sp>
        <p:nvSpPr>
          <p:cNvPr id="11" name="Shape 8"/>
          <p:cNvSpPr/>
          <p:nvPr/>
        </p:nvSpPr>
        <p:spPr>
          <a:xfrm>
            <a:off x="6292444" y="1645920"/>
            <a:ext cx="5350612" cy="3703320"/>
          </a:xfrm>
          <a:prstGeom prst="roundRect">
            <a:avLst>
              <a:gd name="adj" fmla="val 1975"/>
            </a:avLst>
          </a:prstGeom>
          <a:solidFill>
            <a:srgbClr val="1E2328"/>
          </a:solidFill>
          <a:ln w="9525">
            <a:solidFill>
              <a:srgbClr val="1E2328"/>
            </a:solidFill>
            <a:prstDash val="solid"/>
          </a:ln>
        </p:spPr>
      </p:sp>
      <p:sp>
        <p:nvSpPr>
          <p:cNvPr id="12" name="Shape 9"/>
          <p:cNvSpPr/>
          <p:nvPr/>
        </p:nvSpPr>
        <p:spPr>
          <a:xfrm>
            <a:off x="6612484" y="1920240"/>
            <a:ext cx="731520" cy="731520"/>
          </a:xfrm>
          <a:prstGeom prst="ellipse">
            <a:avLst/>
          </a:prstGeom>
          <a:solidFill>
            <a:srgbClr val="00ADD8"/>
          </a:solidFill>
          <a:ln w="9525">
            <a:solidFill>
              <a:srgbClr val="00ADD8"/>
            </a:solidFill>
            <a:prstDash val="solid"/>
          </a:ln>
        </p:spPr>
      </p:sp>
      <p:pic>
        <p:nvPicPr>
          <p:cNvPr id="13" name="Image 1" descr="preencoded.png">    </p:cNvPr>
          <p:cNvPicPr>
            <a:picLocks noChangeAspect="1"/>
          </p:cNvPicPr>
          <p:nvPr/>
        </p:nvPicPr>
        <p:blipFill>
          <a:blip r:embed="rId2"/>
          <a:stretch>
            <a:fillRect/>
          </a:stretch>
        </p:blipFill>
        <p:spPr>
          <a:xfrm>
            <a:off x="6788048" y="2095805"/>
            <a:ext cx="380390" cy="380390"/>
          </a:xfrm>
          <a:prstGeom prst="rect">
            <a:avLst/>
          </a:prstGeom>
        </p:spPr>
      </p:pic>
      <p:sp>
        <p:nvSpPr>
          <p:cNvPr id="14" name="Text 10"/>
          <p:cNvSpPr txBox="1"/>
          <p:nvPr/>
        </p:nvSpPr>
        <p:spPr>
          <a:xfrm>
            <a:off x="7526884" y="1920240"/>
            <a:ext cx="3887572" cy="731520"/>
          </a:xfrm>
          <a:prstGeom prst="rect">
            <a:avLst/>
          </a:prstGeom>
          <a:noFill/>
          <a:ln/>
        </p:spPr>
        <p:txBody>
          <a:bodyPr wrap="square" lIns="0" tIns="0" rIns="0" bIns="0" rtlCol="0" anchor="ctr"/>
          <a:lstStyle/>
          <a:p>
            <a:pPr indent="0" marL="0">
              <a:buNone/>
            </a:pPr>
            <a:r>
              <a:rPr lang="pt-BR" altLang="en-US" sz="2000" b="1" dirty="0">
                <a:solidFill>
                  <a:srgbClr val="FFFFFF"/>
                </a:solidFill>
                <a:latin typeface="Arial" pitchFamily="34" charset="0"/>
                <a:ea typeface="Arial" pitchFamily="34" charset="-122"/>
                <a:cs typeface="Arial" pitchFamily="34" charset="-120"/>
              </a:rPr>
              <a:t>Uma blockchain se justifica quando…</a:t>
            </a:r>
            <a:endParaRPr lang="pt-BR" sz="2000" dirty="0"/>
          </a:p>
        </p:txBody>
      </p:sp>
      <p:sp>
        <p:nvSpPr>
          <p:cNvPr id="15" name="Text 11"/>
          <p:cNvSpPr txBox="1"/>
          <p:nvPr/>
        </p:nvSpPr>
        <p:spPr>
          <a:xfrm>
            <a:off x="6612484" y="2834640"/>
            <a:ext cx="4710532" cy="685800"/>
          </a:xfrm>
          <a:prstGeom prst="rect">
            <a:avLst/>
          </a:prstGeom>
          <a:noFill/>
          <a:ln/>
        </p:spPr>
        <p:txBody>
          <a:bodyPr wrap="square" lIns="0" tIns="0" rIns="0" bIns="0" rtlCol="0" anchor="t"/>
          <a:lstStyle/>
          <a:p>
            <a:pPr indent="0" marL="0">
              <a:buNone/>
            </a:pPr>
            <a:r>
              <a:rPr lang="pt-BR" altLang="en-US" sz="1500" i="1" dirty="0">
                <a:solidFill>
                  <a:srgbClr val="C9D1D9"/>
                </a:solidFill>
                <a:latin typeface="Calibri" pitchFamily="34" charset="0"/>
                <a:ea typeface="Calibri" pitchFamily="34" charset="-122"/>
                <a:cs typeface="Calibri" pitchFamily="34" charset="-120"/>
              </a:rPr>
              <a:t>proprietário, locatário, vistoriador e plataforma não confiam totalmente uns nos outros, e ninguém deve alterar o histórico sozinho.</a:t>
            </a:r>
            <a:endParaRPr lang="pt-BR" sz="1500" dirty="0"/>
          </a:p>
        </p:txBody>
      </p:sp>
      <p:sp>
        <p:nvSpPr>
          <p:cNvPr id="16" name="Text 12"/>
          <p:cNvSpPr txBox="1"/>
          <p:nvPr/>
        </p:nvSpPr>
        <p:spPr>
          <a:xfrm>
            <a:off x="6612484" y="3767328"/>
            <a:ext cx="4710532" cy="1463040"/>
          </a:xfrm>
          <a:prstGeom prst="rect">
            <a:avLst/>
          </a:prstGeom>
          <a:noFill/>
          <a:ln/>
        </p:spPr>
        <p:txBody>
          <a:bodyPr wrap="square" lIns="0" tIns="0" rIns="0" bIns="0" rtlCol="0" anchor="t"/>
          <a:lstStyle/>
          <a:p>
            <a:pPr marL="342900" indent="-342900">
              <a:spcAft>
                <a:spcPts val="800"/>
              </a:spcAft>
              <a:buSzPct val="100000"/>
              <a:buChar char="•"/>
            </a:pPr>
            <a:r>
              <a:rPr lang="pt-BR" altLang="en-US" sz="1500" dirty="0">
                <a:solidFill>
                  <a:srgbClr val="FFFFFF"/>
                </a:solidFill>
                <a:latin typeface="Calibri" pitchFamily="34" charset="0"/>
                <a:ea typeface="Calibri" pitchFamily="34" charset="-122"/>
                <a:cs typeface="Calibri" pitchFamily="34" charset="-120"/>
              </a:rPr>
              <a:t>Uma única fonte de verdade compartilhada</a:t>
            </a:r>
            <a:endParaRPr lang="pt-BR" sz="1500" dirty="0"/>
          </a:p>
          <a:p>
            <a:pPr marL="342900" indent="-342900">
              <a:spcAft>
                <a:spcPts val="800"/>
              </a:spcAft>
              <a:buSzPct val="100000"/>
              <a:buChar char="•"/>
            </a:pPr>
            <a:r>
              <a:rPr lang="pt-BR" altLang="en-US" sz="1500" dirty="0">
                <a:solidFill>
                  <a:srgbClr val="FFFFFF"/>
                </a:solidFill>
                <a:latin typeface="Calibri" pitchFamily="34" charset="0"/>
                <a:ea typeface="Calibri" pitchFamily="34" charset="-122"/>
                <a:cs typeface="Calibri" pitchFamily="34" charset="-120"/>
              </a:rPr>
              <a:t>Histórico só de acréscimos, que ninguém reescreve</a:t>
            </a:r>
            <a:endParaRPr lang="pt-BR" sz="1500" dirty="0"/>
          </a:p>
          <a:p>
            <a:pPr marL="342900" indent="-342900">
              <a:spcAft>
                <a:spcPts val="800"/>
              </a:spcAft>
              <a:buSzPct val="100000"/>
              <a:buChar char="•"/>
            </a:pPr>
            <a:r>
              <a:rPr lang="pt-BR" altLang="en-US" sz="1500" dirty="0">
                <a:solidFill>
                  <a:srgbClr val="FFFFFF"/>
                </a:solidFill>
                <a:latin typeface="Calibri" pitchFamily="34" charset="0"/>
                <a:ea typeface="Calibri" pitchFamily="34" charset="-122"/>
                <a:cs typeface="Calibri" pitchFamily="34" charset="-120"/>
              </a:rPr>
              <a:t>Regras aplicadas por código que todos os nós executam</a:t>
            </a:r>
            <a:endParaRPr lang="pt-BR" sz="1500" dirty="0"/>
          </a:p>
        </p:txBody>
      </p:sp>
      <p:sp>
        <p:nvSpPr>
          <p:cNvPr id="17" name="Text 13"/>
          <p:cNvSpPr txBox="1"/>
          <p:nvPr/>
        </p:nvSpPr>
        <p:spPr>
          <a:xfrm>
            <a:off x="548640" y="5623560"/>
            <a:ext cx="11094415" cy="457200"/>
          </a:xfrm>
          <a:prstGeom prst="rect">
            <a:avLst/>
          </a:prstGeom>
          <a:noFill/>
          <a:ln/>
        </p:spPr>
        <p:txBody>
          <a:bodyPr wrap="square" lIns="0" tIns="0" rIns="0" bIns="0" rtlCol="0" anchor="t"/>
          <a:lstStyle/>
          <a:p>
            <a:pPr indent="0" marL="0">
              <a:buNone/>
            </a:pPr>
            <a:r>
              <a:rPr lang="pt-BR" altLang="en-US" sz="1600" b="1" dirty="0">
                <a:solidFill>
                  <a:srgbClr val="1E2328"/>
                </a:solidFill>
                <a:latin typeface="Calibri" pitchFamily="34" charset="0"/>
                <a:ea typeface="Calibri" pitchFamily="34" charset="-122"/>
                <a:cs typeface="Calibri" pitchFamily="34" charset="-120"/>
              </a:rPr>
              <a:t>Aqui há quatro partes com interesses conflitantes: um livro-razão compartilhado se justifica.</a:t>
            </a:r>
            <a:endParaRPr lang="pt-BR"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02 · ARQUITETURA</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Quatro atores, quatro permissões</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6</a:t>
            </a:r>
            <a:endParaRPr lang="pt-BR" sz="1000" dirty="0"/>
          </a:p>
        </p:txBody>
      </p:sp>
      <p:sp>
        <p:nvSpPr>
          <p:cNvPr id="5" name="Shape 3"/>
          <p:cNvSpPr/>
          <p:nvPr/>
        </p:nvSpPr>
        <p:spPr>
          <a:xfrm>
            <a:off x="548640" y="1645920"/>
            <a:ext cx="2567864" cy="3383280"/>
          </a:xfrm>
          <a:prstGeom prst="roundRect">
            <a:avLst>
              <a:gd name="adj" fmla="val 2849"/>
            </a:avLst>
          </a:prstGeom>
          <a:solidFill>
            <a:srgbClr val="F2F5F7"/>
          </a:solidFill>
          <a:ln w="9525">
            <a:solidFill>
              <a:srgbClr val="F2F5F7"/>
            </a:solidFill>
            <a:prstDash val="solid"/>
          </a:ln>
        </p:spPr>
      </p:sp>
      <p:sp>
        <p:nvSpPr>
          <p:cNvPr id="6" name="Shape 4"/>
          <p:cNvSpPr/>
          <p:nvPr/>
        </p:nvSpPr>
        <p:spPr>
          <a:xfrm>
            <a:off x="822960" y="1920240"/>
            <a:ext cx="914400" cy="914400"/>
          </a:xfrm>
          <a:prstGeom prst="ellipse">
            <a:avLst/>
          </a:prstGeom>
          <a:solidFill>
            <a:srgbClr val="007D9C"/>
          </a:solidFill>
          <a:ln w="9525">
            <a:solidFill>
              <a:srgbClr val="007D9C"/>
            </a:solidFill>
            <a:prstDash val="solid"/>
          </a:ln>
        </p:spPr>
      </p:sp>
      <p:pic>
        <p:nvPicPr>
          <p:cNvPr id="7" name="Image 0" descr="preencoded.png">    </p:cNvPr>
          <p:cNvPicPr>
            <a:picLocks noChangeAspect="1"/>
          </p:cNvPicPr>
          <p:nvPr/>
        </p:nvPicPr>
        <p:blipFill>
          <a:blip r:embed="rId1"/>
          <a:stretch>
            <a:fillRect/>
          </a:stretch>
        </p:blipFill>
        <p:spPr>
          <a:xfrm>
            <a:off x="1042416" y="2139696"/>
            <a:ext cx="475488" cy="475488"/>
          </a:xfrm>
          <a:prstGeom prst="rect">
            <a:avLst/>
          </a:prstGeom>
        </p:spPr>
      </p:pic>
      <p:sp>
        <p:nvSpPr>
          <p:cNvPr id="8" name="Text 5"/>
          <p:cNvSpPr txBox="1"/>
          <p:nvPr/>
        </p:nvSpPr>
        <p:spPr>
          <a:xfrm>
            <a:off x="822960" y="3017520"/>
            <a:ext cx="2019224" cy="411480"/>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Proprietário</a:t>
            </a:r>
            <a:endParaRPr lang="pt-BR" sz="1900" dirty="0"/>
          </a:p>
        </p:txBody>
      </p:sp>
      <p:sp>
        <p:nvSpPr>
          <p:cNvPr id="9" name="Text 6"/>
          <p:cNvSpPr txBox="1"/>
          <p:nvPr/>
        </p:nvSpPr>
        <p:spPr>
          <a:xfrm>
            <a:off x="822960" y="3474720"/>
            <a:ext cx="2019224" cy="91440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Possui um token de carro, recebe o aluguel e as garantias confiscadas.</a:t>
            </a:r>
            <a:endParaRPr lang="pt-BR" sz="1400" dirty="0"/>
          </a:p>
        </p:txBody>
      </p:sp>
      <p:sp>
        <p:nvSpPr>
          <p:cNvPr id="10" name="Shape 7"/>
          <p:cNvSpPr/>
          <p:nvPr/>
        </p:nvSpPr>
        <p:spPr>
          <a:xfrm>
            <a:off x="822960" y="4480560"/>
            <a:ext cx="2019224" cy="365760"/>
          </a:xfrm>
          <a:prstGeom prst="roundRect">
            <a:avLst>
              <a:gd name="adj" fmla="val 20000"/>
            </a:avLst>
          </a:prstGeom>
          <a:solidFill>
            <a:srgbClr val="FFFFFF"/>
          </a:solidFill>
          <a:ln w="9525">
            <a:solidFill>
              <a:srgbClr val="D5DBE1"/>
            </a:solidFill>
            <a:prstDash val="solid"/>
          </a:ln>
        </p:spPr>
      </p:sp>
      <p:sp>
        <p:nvSpPr>
          <p:cNvPr id="11" name="Text 8"/>
          <p:cNvSpPr txBox="1"/>
          <p:nvPr/>
        </p:nvSpPr>
        <p:spPr>
          <a:xfrm>
            <a:off x="822960" y="4480560"/>
            <a:ext cx="2019224" cy="365760"/>
          </a:xfrm>
          <a:prstGeom prst="rect">
            <a:avLst/>
          </a:prstGeom>
          <a:noFill/>
          <a:ln/>
        </p:spPr>
        <p:txBody>
          <a:bodyPr wrap="square" lIns="0" tIns="0" rIns="0" bIns="0" rtlCol="0" anchor="ctr"/>
          <a:lstStyle/>
          <a:p>
            <a:pPr algn="ctr" indent="0" marL="0">
              <a:buNone/>
            </a:pPr>
            <a:r>
              <a:rPr lang="pt-BR" altLang="en-US" sz="1100" b="1" dirty="0">
                <a:solidFill>
                  <a:srgbClr val="007D9C"/>
                </a:solidFill>
                <a:latin typeface="Courier New" pitchFamily="34" charset="0"/>
                <a:ea typeface="Courier New" pitchFamily="34" charset="-122"/>
                <a:cs typeface="Courier New" pitchFamily="34" charset="-120"/>
              </a:rPr>
              <a:t>detém o token do carro</a:t>
            </a:r>
            <a:endParaRPr lang="pt-BR" sz="1100" dirty="0"/>
          </a:p>
        </p:txBody>
      </p:sp>
      <p:sp>
        <p:nvSpPr>
          <p:cNvPr id="12" name="Shape 9"/>
          <p:cNvSpPr/>
          <p:nvPr/>
        </p:nvSpPr>
        <p:spPr>
          <a:xfrm>
            <a:off x="3390824" y="1645920"/>
            <a:ext cx="2567864" cy="3383280"/>
          </a:xfrm>
          <a:prstGeom prst="roundRect">
            <a:avLst>
              <a:gd name="adj" fmla="val 2849"/>
            </a:avLst>
          </a:prstGeom>
          <a:solidFill>
            <a:srgbClr val="F2F5F7"/>
          </a:solidFill>
          <a:ln w="9525">
            <a:solidFill>
              <a:srgbClr val="F2F5F7"/>
            </a:solidFill>
            <a:prstDash val="solid"/>
          </a:ln>
        </p:spPr>
      </p:sp>
      <p:sp>
        <p:nvSpPr>
          <p:cNvPr id="13" name="Shape 10"/>
          <p:cNvSpPr/>
          <p:nvPr/>
        </p:nvSpPr>
        <p:spPr>
          <a:xfrm>
            <a:off x="3665144" y="1920240"/>
            <a:ext cx="914400" cy="914400"/>
          </a:xfrm>
          <a:prstGeom prst="ellipse">
            <a:avLst/>
          </a:prstGeom>
          <a:solidFill>
            <a:srgbClr val="007D9C"/>
          </a:solidFill>
          <a:ln w="9525">
            <a:solidFill>
              <a:srgbClr val="007D9C"/>
            </a:solidFill>
            <a:prstDash val="solid"/>
          </a:ln>
        </p:spPr>
      </p:sp>
      <p:pic>
        <p:nvPicPr>
          <p:cNvPr id="14" name="Image 1" descr="preencoded.png">    </p:cNvPr>
          <p:cNvPicPr>
            <a:picLocks noChangeAspect="1"/>
          </p:cNvPicPr>
          <p:nvPr/>
        </p:nvPicPr>
        <p:blipFill>
          <a:blip r:embed="rId2"/>
          <a:stretch>
            <a:fillRect/>
          </a:stretch>
        </p:blipFill>
        <p:spPr>
          <a:xfrm>
            <a:off x="3884600" y="2139696"/>
            <a:ext cx="475488" cy="475488"/>
          </a:xfrm>
          <a:prstGeom prst="rect">
            <a:avLst/>
          </a:prstGeom>
        </p:spPr>
      </p:pic>
      <p:sp>
        <p:nvSpPr>
          <p:cNvPr id="15" name="Text 11"/>
          <p:cNvSpPr txBox="1"/>
          <p:nvPr/>
        </p:nvSpPr>
        <p:spPr>
          <a:xfrm>
            <a:off x="3665144" y="3017520"/>
            <a:ext cx="2019224" cy="411480"/>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Locatário</a:t>
            </a:r>
            <a:endParaRPr lang="pt-BR" sz="1900" dirty="0"/>
          </a:p>
        </p:txBody>
      </p:sp>
      <p:sp>
        <p:nvSpPr>
          <p:cNvPr id="16" name="Text 12"/>
          <p:cNvSpPr txBox="1"/>
          <p:nvPr/>
        </p:nvSpPr>
        <p:spPr>
          <a:xfrm>
            <a:off x="3665144" y="3474720"/>
            <a:ext cx="2019224" cy="91440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Empenha tokens de depósito e itens de garantia, e então dirige o carro.</a:t>
            </a:r>
            <a:endParaRPr lang="pt-BR" sz="1400" dirty="0"/>
          </a:p>
        </p:txBody>
      </p:sp>
      <p:sp>
        <p:nvSpPr>
          <p:cNvPr id="17" name="Shape 13"/>
          <p:cNvSpPr/>
          <p:nvPr/>
        </p:nvSpPr>
        <p:spPr>
          <a:xfrm>
            <a:off x="3665144" y="4480560"/>
            <a:ext cx="2019224" cy="365760"/>
          </a:xfrm>
          <a:prstGeom prst="roundRect">
            <a:avLst>
              <a:gd name="adj" fmla="val 20000"/>
            </a:avLst>
          </a:prstGeom>
          <a:solidFill>
            <a:srgbClr val="FFFFFF"/>
          </a:solidFill>
          <a:ln w="9525">
            <a:solidFill>
              <a:srgbClr val="D5DBE1"/>
            </a:solidFill>
            <a:prstDash val="solid"/>
          </a:ln>
        </p:spPr>
      </p:sp>
      <p:sp>
        <p:nvSpPr>
          <p:cNvPr id="18" name="Text 14"/>
          <p:cNvSpPr txBox="1"/>
          <p:nvPr/>
        </p:nvSpPr>
        <p:spPr>
          <a:xfrm>
            <a:off x="3665144" y="4480560"/>
            <a:ext cx="2019224" cy="365760"/>
          </a:xfrm>
          <a:prstGeom prst="rect">
            <a:avLst/>
          </a:prstGeom>
          <a:noFill/>
          <a:ln/>
        </p:spPr>
        <p:txBody>
          <a:bodyPr wrap="square" lIns="0" tIns="0" rIns="0" bIns="0" rtlCol="0" anchor="ctr"/>
          <a:lstStyle/>
          <a:p>
            <a:pPr algn="ctr" indent="0" marL="0">
              <a:buNone/>
            </a:pPr>
            <a:r>
              <a:rPr lang="pt-BR" altLang="en-US" sz="1100" b="1" dirty="0">
                <a:solidFill>
                  <a:srgbClr val="007D9C"/>
                </a:solidFill>
                <a:latin typeface="Courier New" pitchFamily="34" charset="0"/>
                <a:ea typeface="Courier New" pitchFamily="34" charset="-122"/>
                <a:cs typeface="Courier New" pitchFamily="34" charset="-120"/>
              </a:rPr>
              <a:t>qualquer endereço</a:t>
            </a:r>
            <a:endParaRPr lang="pt-BR" sz="1100" dirty="0"/>
          </a:p>
        </p:txBody>
      </p:sp>
      <p:sp>
        <p:nvSpPr>
          <p:cNvPr id="19" name="Shape 15"/>
          <p:cNvSpPr/>
          <p:nvPr/>
        </p:nvSpPr>
        <p:spPr>
          <a:xfrm>
            <a:off x="6233008" y="1645920"/>
            <a:ext cx="2567864" cy="3383280"/>
          </a:xfrm>
          <a:prstGeom prst="roundRect">
            <a:avLst>
              <a:gd name="adj" fmla="val 2849"/>
            </a:avLst>
          </a:prstGeom>
          <a:solidFill>
            <a:srgbClr val="F2F5F7"/>
          </a:solidFill>
          <a:ln w="9525">
            <a:solidFill>
              <a:srgbClr val="F2F5F7"/>
            </a:solidFill>
            <a:prstDash val="solid"/>
          </a:ln>
        </p:spPr>
      </p:sp>
      <p:sp>
        <p:nvSpPr>
          <p:cNvPr id="20" name="Shape 16"/>
          <p:cNvSpPr/>
          <p:nvPr/>
        </p:nvSpPr>
        <p:spPr>
          <a:xfrm>
            <a:off x="6507328" y="1920240"/>
            <a:ext cx="914400" cy="914400"/>
          </a:xfrm>
          <a:prstGeom prst="ellipse">
            <a:avLst/>
          </a:prstGeom>
          <a:solidFill>
            <a:srgbClr val="007D9C"/>
          </a:solidFill>
          <a:ln w="9525">
            <a:solidFill>
              <a:srgbClr val="007D9C"/>
            </a:solidFill>
            <a:prstDash val="solid"/>
          </a:ln>
        </p:spPr>
      </p:sp>
      <p:pic>
        <p:nvPicPr>
          <p:cNvPr id="21" name="Image 2" descr="preencoded.png">    </p:cNvPr>
          <p:cNvPicPr>
            <a:picLocks noChangeAspect="1"/>
          </p:cNvPicPr>
          <p:nvPr/>
        </p:nvPicPr>
        <p:blipFill>
          <a:blip r:embed="rId3"/>
          <a:stretch>
            <a:fillRect/>
          </a:stretch>
        </p:blipFill>
        <p:spPr>
          <a:xfrm>
            <a:off x="6726784" y="2139696"/>
            <a:ext cx="475488" cy="475488"/>
          </a:xfrm>
          <a:prstGeom prst="rect">
            <a:avLst/>
          </a:prstGeom>
        </p:spPr>
      </p:pic>
      <p:sp>
        <p:nvSpPr>
          <p:cNvPr id="22" name="Text 17"/>
          <p:cNvSpPr txBox="1"/>
          <p:nvPr/>
        </p:nvSpPr>
        <p:spPr>
          <a:xfrm>
            <a:off x="6507328" y="3017520"/>
            <a:ext cx="2019224" cy="411480"/>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Registrador</a:t>
            </a:r>
            <a:endParaRPr lang="pt-BR" sz="1900" dirty="0"/>
          </a:p>
        </p:txBody>
      </p:sp>
      <p:sp>
        <p:nvSpPr>
          <p:cNvPr id="23" name="Text 18"/>
          <p:cNvSpPr txBox="1"/>
          <p:nvPr/>
        </p:nvSpPr>
        <p:spPr>
          <a:xfrm>
            <a:off x="6507328" y="3474720"/>
            <a:ext cx="2019224" cy="91440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Verifica carros reais e avaliações, e então emite seus tokens.</a:t>
            </a:r>
            <a:endParaRPr lang="pt-BR" sz="1400" dirty="0"/>
          </a:p>
        </p:txBody>
      </p:sp>
      <p:sp>
        <p:nvSpPr>
          <p:cNvPr id="24" name="Shape 19"/>
          <p:cNvSpPr/>
          <p:nvPr/>
        </p:nvSpPr>
        <p:spPr>
          <a:xfrm>
            <a:off x="6507328" y="4480560"/>
            <a:ext cx="2019224" cy="365760"/>
          </a:xfrm>
          <a:prstGeom prst="roundRect">
            <a:avLst>
              <a:gd name="adj" fmla="val 20000"/>
            </a:avLst>
          </a:prstGeom>
          <a:solidFill>
            <a:srgbClr val="FFFFFF"/>
          </a:solidFill>
          <a:ln w="9525">
            <a:solidFill>
              <a:srgbClr val="D5DBE1"/>
            </a:solidFill>
            <a:prstDash val="solid"/>
          </a:ln>
        </p:spPr>
      </p:sp>
      <p:sp>
        <p:nvSpPr>
          <p:cNvPr id="25" name="Text 20"/>
          <p:cNvSpPr txBox="1"/>
          <p:nvPr/>
        </p:nvSpPr>
        <p:spPr>
          <a:xfrm>
            <a:off x="6507328" y="4480560"/>
            <a:ext cx="2019224" cy="365760"/>
          </a:xfrm>
          <a:prstGeom prst="rect">
            <a:avLst/>
          </a:prstGeom>
          <a:noFill/>
          <a:ln/>
        </p:spPr>
        <p:txBody>
          <a:bodyPr wrap="square" lIns="0" tIns="0" rIns="0" bIns="0" rtlCol="0" anchor="ctr"/>
          <a:lstStyle/>
          <a:p>
            <a:pPr algn="ctr" indent="0" marL="0">
              <a:buNone/>
            </a:pPr>
            <a:r>
              <a:rPr lang="pt-BR" altLang="en-US" sz="1100" b="1" dirty="0">
                <a:solidFill>
                  <a:srgbClr val="007D9C"/>
                </a:solidFill>
                <a:latin typeface="Courier New" pitchFamily="34" charset="0"/>
                <a:ea typeface="Courier New" pitchFamily="34" charset="-122"/>
                <a:cs typeface="Courier New" pitchFamily="34" charset="-120"/>
              </a:rPr>
              <a:t>papel REGISTRAR</a:t>
            </a:r>
            <a:endParaRPr lang="pt-BR" sz="1100" dirty="0"/>
          </a:p>
        </p:txBody>
      </p:sp>
      <p:sp>
        <p:nvSpPr>
          <p:cNvPr id="26" name="Shape 21"/>
          <p:cNvSpPr/>
          <p:nvPr/>
        </p:nvSpPr>
        <p:spPr>
          <a:xfrm>
            <a:off x="9075191" y="1645920"/>
            <a:ext cx="2567864" cy="3383280"/>
          </a:xfrm>
          <a:prstGeom prst="roundRect">
            <a:avLst>
              <a:gd name="adj" fmla="val 2849"/>
            </a:avLst>
          </a:prstGeom>
          <a:solidFill>
            <a:srgbClr val="F2F5F7"/>
          </a:solidFill>
          <a:ln w="9525">
            <a:solidFill>
              <a:srgbClr val="F2F5F7"/>
            </a:solidFill>
            <a:prstDash val="solid"/>
          </a:ln>
        </p:spPr>
      </p:sp>
      <p:sp>
        <p:nvSpPr>
          <p:cNvPr id="27" name="Shape 22"/>
          <p:cNvSpPr/>
          <p:nvPr/>
        </p:nvSpPr>
        <p:spPr>
          <a:xfrm>
            <a:off x="9349511" y="1920240"/>
            <a:ext cx="914400" cy="914400"/>
          </a:xfrm>
          <a:prstGeom prst="ellipse">
            <a:avLst/>
          </a:prstGeom>
          <a:solidFill>
            <a:srgbClr val="007D9C"/>
          </a:solidFill>
          <a:ln w="9525">
            <a:solidFill>
              <a:srgbClr val="007D9C"/>
            </a:solidFill>
            <a:prstDash val="solid"/>
          </a:ln>
        </p:spPr>
      </p:sp>
      <p:pic>
        <p:nvPicPr>
          <p:cNvPr id="28" name="Image 3" descr="preencoded.png">    </p:cNvPr>
          <p:cNvPicPr>
            <a:picLocks noChangeAspect="1"/>
          </p:cNvPicPr>
          <p:nvPr/>
        </p:nvPicPr>
        <p:blipFill>
          <a:blip r:embed="rId4"/>
          <a:stretch>
            <a:fillRect/>
          </a:stretch>
        </p:blipFill>
        <p:spPr>
          <a:xfrm>
            <a:off x="9568967" y="2139696"/>
            <a:ext cx="475488" cy="475488"/>
          </a:xfrm>
          <a:prstGeom prst="rect">
            <a:avLst/>
          </a:prstGeom>
        </p:spPr>
      </p:pic>
      <p:sp>
        <p:nvSpPr>
          <p:cNvPr id="29" name="Text 23"/>
          <p:cNvSpPr txBox="1"/>
          <p:nvPr/>
        </p:nvSpPr>
        <p:spPr>
          <a:xfrm>
            <a:off x="9349511" y="3017520"/>
            <a:ext cx="2019224" cy="411480"/>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Vistoriador</a:t>
            </a:r>
            <a:endParaRPr lang="pt-BR" sz="1900" dirty="0"/>
          </a:p>
        </p:txBody>
      </p:sp>
      <p:sp>
        <p:nvSpPr>
          <p:cNvPr id="30" name="Text 24"/>
          <p:cNvSpPr txBox="1"/>
          <p:nvPr/>
        </p:nvSpPr>
        <p:spPr>
          <a:xfrm>
            <a:off x="9349511" y="3474720"/>
            <a:ext cx="2019224" cy="91440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Parte neutra que registra a devolução do carro e a cobrança por danos.</a:t>
            </a:r>
            <a:endParaRPr lang="pt-BR" sz="1400" dirty="0"/>
          </a:p>
        </p:txBody>
      </p:sp>
      <p:sp>
        <p:nvSpPr>
          <p:cNvPr id="31" name="Shape 25"/>
          <p:cNvSpPr/>
          <p:nvPr/>
        </p:nvSpPr>
        <p:spPr>
          <a:xfrm>
            <a:off x="9349511" y="4480560"/>
            <a:ext cx="2019224" cy="365760"/>
          </a:xfrm>
          <a:prstGeom prst="roundRect">
            <a:avLst>
              <a:gd name="adj" fmla="val 20000"/>
            </a:avLst>
          </a:prstGeom>
          <a:solidFill>
            <a:srgbClr val="FFFFFF"/>
          </a:solidFill>
          <a:ln w="9525">
            <a:solidFill>
              <a:srgbClr val="D5DBE1"/>
            </a:solidFill>
            <a:prstDash val="solid"/>
          </a:ln>
        </p:spPr>
      </p:sp>
      <p:sp>
        <p:nvSpPr>
          <p:cNvPr id="32" name="Text 26"/>
          <p:cNvSpPr txBox="1"/>
          <p:nvPr/>
        </p:nvSpPr>
        <p:spPr>
          <a:xfrm>
            <a:off x="9349511" y="4480560"/>
            <a:ext cx="2019224" cy="365760"/>
          </a:xfrm>
          <a:prstGeom prst="rect">
            <a:avLst/>
          </a:prstGeom>
          <a:noFill/>
          <a:ln/>
        </p:spPr>
        <p:txBody>
          <a:bodyPr wrap="square" lIns="0" tIns="0" rIns="0" bIns="0" rtlCol="0" anchor="ctr"/>
          <a:lstStyle/>
          <a:p>
            <a:pPr algn="ctr" indent="0" marL="0">
              <a:buNone/>
            </a:pPr>
            <a:r>
              <a:rPr lang="pt-BR" altLang="en-US" sz="1100" b="1" dirty="0">
                <a:solidFill>
                  <a:srgbClr val="007D9C"/>
                </a:solidFill>
                <a:latin typeface="Courier New" pitchFamily="34" charset="0"/>
                <a:ea typeface="Courier New" pitchFamily="34" charset="-122"/>
                <a:cs typeface="Courier New" pitchFamily="34" charset="-120"/>
              </a:rPr>
              <a:t>papel INSPECTOR</a:t>
            </a:r>
            <a:endParaRPr lang="pt-BR" sz="1100" dirty="0"/>
          </a:p>
        </p:txBody>
      </p:sp>
      <p:pic>
        <p:nvPicPr>
          <p:cNvPr id="33" name="Image 4" descr="preencoded.png">    </p:cNvPr>
          <p:cNvPicPr>
            <a:picLocks noChangeAspect="1"/>
          </p:cNvPicPr>
          <p:nvPr/>
        </p:nvPicPr>
        <p:blipFill>
          <a:blip r:embed="rId5"/>
          <a:stretch>
            <a:fillRect/>
          </a:stretch>
        </p:blipFill>
        <p:spPr>
          <a:xfrm>
            <a:off x="548640" y="5458968"/>
            <a:ext cx="274320" cy="274320"/>
          </a:xfrm>
          <a:prstGeom prst="rect">
            <a:avLst/>
          </a:prstGeom>
        </p:spPr>
      </p:pic>
      <p:sp>
        <p:nvSpPr>
          <p:cNvPr id="34" name="Text 27"/>
          <p:cNvSpPr txBox="1"/>
          <p:nvPr/>
        </p:nvSpPr>
        <p:spPr>
          <a:xfrm>
            <a:off x="960120" y="5431536"/>
            <a:ext cx="10682935" cy="36576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Contas da demo: </a:t>
            </a:r>
            <a:pPr indent="0" marL="0">
              <a:buNone/>
            </a:pPr>
            <a:r>
              <a:rPr lang="pt-BR" altLang="en-US" sz="1500" dirty="0">
                <a:solidFill>
                  <a:srgbClr val="1E2328"/>
                </a:solidFill>
                <a:latin typeface="Calibri" pitchFamily="34" charset="0"/>
                <a:ea typeface="Calibri" pitchFamily="34" charset="-122"/>
                <a:cs typeface="Calibri" pitchFamily="34" charset="-120"/>
              </a:rPr>
              <a:t>admin é o validador e tem ADMIN, REGISTRAR e INSPECTOR · alice é dona dos carros · bob aluga.</a:t>
            </a:r>
            <a:endParaRPr lang="pt-BR"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02 · ARQUITETURA</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Arquitetura do sistema</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7</a:t>
            </a:r>
            <a:endParaRPr lang="pt-BR" sz="1000" dirty="0"/>
          </a:p>
        </p:txBody>
      </p:sp>
      <p:sp>
        <p:nvSpPr>
          <p:cNvPr id="5" name="Shape 3"/>
          <p:cNvSpPr/>
          <p:nvPr/>
        </p:nvSpPr>
        <p:spPr>
          <a:xfrm>
            <a:off x="548640" y="1737360"/>
            <a:ext cx="2743200" cy="1600200"/>
          </a:xfrm>
          <a:prstGeom prst="roundRect">
            <a:avLst>
              <a:gd name="adj" fmla="val 4571"/>
            </a:avLst>
          </a:prstGeom>
          <a:solidFill>
            <a:srgbClr val="E3F6FB"/>
          </a:solidFill>
          <a:ln w="15875">
            <a:solidFill>
              <a:srgbClr val="007D9C"/>
            </a:solidFill>
            <a:prstDash val="solid"/>
          </a:ln>
        </p:spPr>
      </p:sp>
      <p:pic>
        <p:nvPicPr>
          <p:cNvPr id="6" name="Image 0" descr="preencoded.png">    </p:cNvPr>
          <p:cNvPicPr>
            <a:picLocks noChangeAspect="1"/>
          </p:cNvPicPr>
          <p:nvPr/>
        </p:nvPicPr>
        <p:blipFill>
          <a:blip r:embed="rId1"/>
          <a:stretch>
            <a:fillRect/>
          </a:stretch>
        </p:blipFill>
        <p:spPr>
          <a:xfrm>
            <a:off x="777240" y="1920240"/>
            <a:ext cx="384048" cy="384048"/>
          </a:xfrm>
          <a:prstGeom prst="rect">
            <a:avLst/>
          </a:prstGeom>
        </p:spPr>
      </p:pic>
      <p:sp>
        <p:nvSpPr>
          <p:cNvPr id="7" name="Text 4"/>
          <p:cNvSpPr txBox="1"/>
          <p:nvPr/>
        </p:nvSpPr>
        <p:spPr>
          <a:xfrm>
            <a:off x="1280160" y="1920240"/>
            <a:ext cx="1828800" cy="384048"/>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App web</a:t>
            </a:r>
            <a:endParaRPr lang="pt-BR" sz="1600" dirty="0"/>
          </a:p>
        </p:txBody>
      </p:sp>
      <p:sp>
        <p:nvSpPr>
          <p:cNvPr id="8" name="Text 5"/>
          <p:cNvSpPr txBox="1"/>
          <p:nvPr/>
        </p:nvSpPr>
        <p:spPr>
          <a:xfrm>
            <a:off x="777240" y="2423160"/>
            <a:ext cx="2331720" cy="82296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HTML + fetch + tweetnacl. Assina cada transação com Ed25519.</a:t>
            </a:r>
            <a:endParaRPr lang="pt-BR" sz="1300" dirty="0"/>
          </a:p>
        </p:txBody>
      </p:sp>
      <p:sp>
        <p:nvSpPr>
          <p:cNvPr id="9" name="Shape 6"/>
          <p:cNvSpPr/>
          <p:nvPr/>
        </p:nvSpPr>
        <p:spPr>
          <a:xfrm>
            <a:off x="548640" y="4069080"/>
            <a:ext cx="2743200" cy="1463040"/>
          </a:xfrm>
          <a:prstGeom prst="roundRect">
            <a:avLst>
              <a:gd name="adj" fmla="val 5000"/>
            </a:avLst>
          </a:prstGeom>
          <a:solidFill>
            <a:srgbClr val="F2F5F7"/>
          </a:solidFill>
          <a:ln w="12700">
            <a:solidFill>
              <a:srgbClr val="D5DBE1"/>
            </a:solidFill>
            <a:prstDash val="solid"/>
          </a:ln>
        </p:spPr>
      </p:sp>
      <p:pic>
        <p:nvPicPr>
          <p:cNvPr id="10" name="Image 1" descr="preencoded.png">    </p:cNvPr>
          <p:cNvPicPr>
            <a:picLocks noChangeAspect="1"/>
          </p:cNvPicPr>
          <p:nvPr/>
        </p:nvPicPr>
        <p:blipFill>
          <a:blip r:embed="rId2"/>
          <a:stretch>
            <a:fillRect/>
          </a:stretch>
        </p:blipFill>
        <p:spPr>
          <a:xfrm>
            <a:off x="777240" y="4224528"/>
            <a:ext cx="384048" cy="384048"/>
          </a:xfrm>
          <a:prstGeom prst="rect">
            <a:avLst/>
          </a:prstGeom>
        </p:spPr>
      </p:pic>
      <p:sp>
        <p:nvSpPr>
          <p:cNvPr id="11" name="Text 7"/>
          <p:cNvSpPr txBox="1"/>
          <p:nvPr/>
        </p:nvSpPr>
        <p:spPr>
          <a:xfrm>
            <a:off x="1280160" y="4224528"/>
            <a:ext cx="1965960" cy="384048"/>
          </a:xfrm>
          <a:prstGeom prst="rect">
            <a:avLst/>
          </a:prstGeom>
          <a:noFill/>
          <a:ln/>
        </p:spPr>
        <p:txBody>
          <a:bodyPr wrap="square" lIns="0" tIns="0" rIns="0" bIns="0" rtlCol="0" anchor="ctr"/>
          <a:lstStyle/>
          <a:p>
            <a:pPr indent="0" marL="0">
              <a:buNone/>
            </a:pPr>
            <a:r>
              <a:rPr lang="pt-BR" altLang="en-US" sz="1400" b="1" dirty="0">
                <a:solidFill>
                  <a:srgbClr val="1E2328"/>
                </a:solidFill>
                <a:latin typeface="Arial" pitchFamily="34" charset="0"/>
                <a:ea typeface="Arial" pitchFamily="34" charset="-122"/>
                <a:cs typeface="Arial" pitchFamily="34" charset="-120"/>
              </a:rPr>
              <a:t>Docs off-chain :3001</a:t>
            </a:r>
            <a:endParaRPr lang="pt-BR" sz="1400" dirty="0"/>
          </a:p>
        </p:txBody>
      </p:sp>
      <p:sp>
        <p:nvSpPr>
          <p:cNvPr id="12" name="Text 8"/>
          <p:cNvSpPr txBox="1"/>
          <p:nvPr/>
        </p:nvSpPr>
        <p:spPr>
          <a:xfrm>
            <a:off x="777240" y="4709160"/>
            <a:ext cx="2331720" cy="73152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Documentos JSON: chassi, fotos, laudos de vistoria.</a:t>
            </a:r>
            <a:endParaRPr lang="pt-BR" sz="1300" dirty="0"/>
          </a:p>
        </p:txBody>
      </p:sp>
      <p:sp>
        <p:nvSpPr>
          <p:cNvPr id="13" name="Shape 9"/>
          <p:cNvSpPr/>
          <p:nvPr/>
        </p:nvSpPr>
        <p:spPr>
          <a:xfrm>
            <a:off x="1920240" y="3337560"/>
            <a:ext cx="0" cy="731520"/>
          </a:xfrm>
          <a:prstGeom prst="line">
            <a:avLst/>
          </a:prstGeom>
          <a:noFill/>
          <a:ln w="22225">
            <a:solidFill>
              <a:srgbClr val="8B96A1"/>
            </a:solidFill>
            <a:prstDash val="solid"/>
            <a:tailEnd type="triangle"/>
          </a:ln>
        </p:spPr>
      </p:sp>
      <p:sp>
        <p:nvSpPr>
          <p:cNvPr id="14" name="Text 10"/>
          <p:cNvSpPr txBox="1"/>
          <p:nvPr/>
        </p:nvSpPr>
        <p:spPr>
          <a:xfrm>
            <a:off x="2029968" y="3520440"/>
            <a:ext cx="1234440" cy="274320"/>
          </a:xfrm>
          <a:prstGeom prst="rect">
            <a:avLst/>
          </a:prstGeom>
          <a:noFill/>
          <a:ln/>
        </p:spPr>
        <p:txBody>
          <a:bodyPr wrap="square" lIns="0" tIns="0" rIns="0" bIns="0" rtlCol="0" anchor="t"/>
          <a:lstStyle/>
          <a:p>
            <a:pPr indent="0" marL="0">
              <a:buNone/>
            </a:pPr>
            <a:r>
              <a:rPr lang="pt-BR" altLang="en-US" sz="1100" dirty="0">
                <a:solidFill>
                  <a:srgbClr val="5F6B76"/>
                </a:solidFill>
                <a:latin typeface="Calibri" pitchFamily="34" charset="0"/>
                <a:ea typeface="Calibri" pitchFamily="34" charset="-122"/>
                <a:cs typeface="Calibri" pitchFamily="34" charset="-120"/>
              </a:rPr>
              <a:t>busca e hash</a:t>
            </a:r>
            <a:endParaRPr lang="pt-BR" sz="1100" dirty="0"/>
          </a:p>
        </p:txBody>
      </p:sp>
      <p:sp>
        <p:nvSpPr>
          <p:cNvPr id="15" name="Shape 11"/>
          <p:cNvSpPr/>
          <p:nvPr/>
        </p:nvSpPr>
        <p:spPr>
          <a:xfrm>
            <a:off x="4069080" y="1645920"/>
            <a:ext cx="4572000" cy="4023360"/>
          </a:xfrm>
          <a:prstGeom prst="roundRect">
            <a:avLst>
              <a:gd name="adj" fmla="val 1818"/>
            </a:avLst>
          </a:prstGeom>
          <a:solidFill>
            <a:srgbClr val="1E2328"/>
          </a:solidFill>
          <a:ln w="9525">
            <a:solidFill>
              <a:srgbClr val="1E2328"/>
            </a:solidFill>
            <a:prstDash val="solid"/>
          </a:ln>
        </p:spPr>
      </p:sp>
      <p:pic>
        <p:nvPicPr>
          <p:cNvPr id="16" name="Image 2" descr="preencoded.png">    </p:cNvPr>
          <p:cNvPicPr>
            <a:picLocks noChangeAspect="1"/>
          </p:cNvPicPr>
          <p:nvPr/>
        </p:nvPicPr>
        <p:blipFill>
          <a:blip r:embed="rId3"/>
          <a:stretch>
            <a:fillRect/>
          </a:stretch>
        </p:blipFill>
        <p:spPr>
          <a:xfrm>
            <a:off x="4325112" y="1764792"/>
            <a:ext cx="457200" cy="457200"/>
          </a:xfrm>
          <a:prstGeom prst="rect">
            <a:avLst/>
          </a:prstGeom>
        </p:spPr>
      </p:pic>
      <p:sp>
        <p:nvSpPr>
          <p:cNvPr id="17" name="Text 12"/>
          <p:cNvSpPr txBox="1"/>
          <p:nvPr/>
        </p:nvSpPr>
        <p:spPr>
          <a:xfrm>
            <a:off x="4892040" y="1764792"/>
            <a:ext cx="3474720" cy="457200"/>
          </a:xfrm>
          <a:prstGeom prst="rect">
            <a:avLst/>
          </a:prstGeom>
          <a:noFill/>
          <a:ln/>
        </p:spPr>
        <p:txBody>
          <a:bodyPr wrap="square" lIns="0" tIns="0" rIns="0" bIns="0" rtlCol="0" anchor="ctr"/>
          <a:lstStyle/>
          <a:p>
            <a:pPr indent="0" marL="0">
              <a:buNone/>
            </a:pPr>
            <a:r>
              <a:rPr lang="pt-BR" altLang="en-US" sz="1600" b="1" dirty="0">
                <a:solidFill>
                  <a:srgbClr val="FFFFFF"/>
                </a:solidFill>
                <a:latin typeface="Arial" pitchFamily="34" charset="0"/>
                <a:ea typeface="Arial" pitchFamily="34" charset="-122"/>
                <a:cs typeface="Arial" pitchFamily="34" charset="-120"/>
              </a:rPr>
              <a:t>Nó Go · um único binário</a:t>
            </a:r>
            <a:endParaRPr lang="pt-BR" sz="1600" dirty="0"/>
          </a:p>
        </p:txBody>
      </p:sp>
      <p:sp>
        <p:nvSpPr>
          <p:cNvPr id="18" name="Shape 13"/>
          <p:cNvSpPr/>
          <p:nvPr/>
        </p:nvSpPr>
        <p:spPr>
          <a:xfrm>
            <a:off x="4325112" y="2377440"/>
            <a:ext cx="4059936" cy="658368"/>
          </a:xfrm>
          <a:prstGeom prst="roundRect">
            <a:avLst>
              <a:gd name="adj" fmla="val 11111"/>
            </a:avLst>
          </a:prstGeom>
          <a:solidFill>
            <a:srgbClr val="2A3138"/>
          </a:solidFill>
          <a:ln w="9525">
            <a:solidFill>
              <a:srgbClr val="2A3138"/>
            </a:solidFill>
            <a:prstDash val="solid"/>
          </a:ln>
        </p:spPr>
      </p:sp>
      <p:sp>
        <p:nvSpPr>
          <p:cNvPr id="19" name="Text 14"/>
          <p:cNvSpPr txBox="1"/>
          <p:nvPr/>
        </p:nvSpPr>
        <p:spPr>
          <a:xfrm>
            <a:off x="4507992" y="2377440"/>
            <a:ext cx="1143000" cy="658368"/>
          </a:xfrm>
          <a:prstGeom prst="rect">
            <a:avLst/>
          </a:prstGeom>
          <a:noFill/>
          <a:ln/>
        </p:spPr>
        <p:txBody>
          <a:bodyPr wrap="square" lIns="0" tIns="0" rIns="0" bIns="0" rtlCol="0" anchor="ctr"/>
          <a:lstStyle/>
          <a:p>
            <a:pPr indent="0" marL="0">
              <a:buNone/>
            </a:pPr>
            <a:r>
              <a:rPr lang="pt-BR" altLang="en-US" sz="1300" b="1" dirty="0">
                <a:solidFill>
                  <a:srgbClr val="00ADD8"/>
                </a:solidFill>
                <a:latin typeface="Arial" pitchFamily="34" charset="0"/>
                <a:ea typeface="Arial" pitchFamily="34" charset="-122"/>
                <a:cs typeface="Arial" pitchFamily="34" charset="-120"/>
              </a:rPr>
              <a:t>API HTTP</a:t>
            </a:r>
            <a:endParaRPr lang="pt-BR" sz="1300" dirty="0"/>
          </a:p>
        </p:txBody>
      </p:sp>
      <p:sp>
        <p:nvSpPr>
          <p:cNvPr id="20" name="Text 15"/>
          <p:cNvSpPr txBox="1"/>
          <p:nvPr/>
        </p:nvSpPr>
        <p:spPr>
          <a:xfrm>
            <a:off x="5669280" y="2377440"/>
            <a:ext cx="2560320" cy="658368"/>
          </a:xfrm>
          <a:prstGeom prst="rect">
            <a:avLst/>
          </a:prstGeom>
          <a:noFill/>
          <a:ln/>
        </p:spPr>
        <p:txBody>
          <a:bodyPr wrap="square" lIns="0" tIns="0" rIns="0" bIns="0" rtlCol="0" anchor="ctr"/>
          <a:lstStyle/>
          <a:p>
            <a:pPr indent="0" marL="0">
              <a:buNone/>
            </a:pPr>
            <a:r>
              <a:rPr lang="pt-BR" altLang="en-US" sz="1300" dirty="0">
                <a:solidFill>
                  <a:srgbClr val="FFFFFF"/>
                </a:solidFill>
                <a:latin typeface="Calibri" pitchFamily="34" charset="0"/>
                <a:ea typeface="Calibri" pitchFamily="34" charset="-122"/>
                <a:cs typeface="Calibri" pitchFamily="34" charset="-120"/>
              </a:rPr>
              <a:t>net/http, JSON na porta 8080</a:t>
            </a:r>
            <a:endParaRPr lang="pt-BR" sz="1300" dirty="0"/>
          </a:p>
        </p:txBody>
      </p:sp>
      <p:sp>
        <p:nvSpPr>
          <p:cNvPr id="21" name="Shape 16"/>
          <p:cNvSpPr/>
          <p:nvPr/>
        </p:nvSpPr>
        <p:spPr>
          <a:xfrm>
            <a:off x="4325112" y="3182112"/>
            <a:ext cx="4059936" cy="658368"/>
          </a:xfrm>
          <a:prstGeom prst="roundRect">
            <a:avLst>
              <a:gd name="adj" fmla="val 11111"/>
            </a:avLst>
          </a:prstGeom>
          <a:solidFill>
            <a:srgbClr val="2A3138"/>
          </a:solidFill>
          <a:ln w="9525">
            <a:solidFill>
              <a:srgbClr val="2A3138"/>
            </a:solidFill>
            <a:prstDash val="solid"/>
          </a:ln>
        </p:spPr>
      </p:sp>
      <p:sp>
        <p:nvSpPr>
          <p:cNvPr id="22" name="Text 17"/>
          <p:cNvSpPr txBox="1"/>
          <p:nvPr/>
        </p:nvSpPr>
        <p:spPr>
          <a:xfrm>
            <a:off x="4507992" y="3182112"/>
            <a:ext cx="1143000" cy="658368"/>
          </a:xfrm>
          <a:prstGeom prst="rect">
            <a:avLst/>
          </a:prstGeom>
          <a:noFill/>
          <a:ln/>
        </p:spPr>
        <p:txBody>
          <a:bodyPr wrap="square" lIns="0" tIns="0" rIns="0" bIns="0" rtlCol="0" anchor="ctr"/>
          <a:lstStyle/>
          <a:p>
            <a:pPr indent="0" marL="0">
              <a:buNone/>
            </a:pPr>
            <a:r>
              <a:rPr lang="pt-BR" altLang="en-US" sz="1300" b="1" dirty="0">
                <a:solidFill>
                  <a:srgbClr val="00ADD8"/>
                </a:solidFill>
                <a:latin typeface="Arial" pitchFamily="34" charset="0"/>
                <a:ea typeface="Arial" pitchFamily="34" charset="-122"/>
                <a:cs typeface="Arial" pitchFamily="34" charset="-120"/>
              </a:rPr>
              <a:t>Cadeia</a:t>
            </a:r>
            <a:endParaRPr lang="pt-BR" sz="1300" dirty="0"/>
          </a:p>
        </p:txBody>
      </p:sp>
      <p:sp>
        <p:nvSpPr>
          <p:cNvPr id="23" name="Text 18"/>
          <p:cNvSpPr txBox="1"/>
          <p:nvPr/>
        </p:nvSpPr>
        <p:spPr>
          <a:xfrm>
            <a:off x="5669280" y="3182112"/>
            <a:ext cx="2560320" cy="658368"/>
          </a:xfrm>
          <a:prstGeom prst="rect">
            <a:avLst/>
          </a:prstGeom>
          <a:noFill/>
          <a:ln/>
        </p:spPr>
        <p:txBody>
          <a:bodyPr wrap="square" lIns="0" tIns="0" rIns="0" bIns="0" rtlCol="0" anchor="ctr"/>
          <a:lstStyle/>
          <a:p>
            <a:pPr indent="0" marL="0">
              <a:buNone/>
            </a:pPr>
            <a:r>
              <a:rPr lang="pt-BR" altLang="en-US" sz="1300" dirty="0">
                <a:solidFill>
                  <a:srgbClr val="FFFFFF"/>
                </a:solidFill>
                <a:latin typeface="Calibri" pitchFamily="34" charset="0"/>
                <a:ea typeface="Calibri" pitchFamily="34" charset="-122"/>
                <a:cs typeface="Calibri" pitchFamily="34" charset="-120"/>
              </a:rPr>
              <a:t>verifica assinatura, sela e encadeia blocos</a:t>
            </a:r>
            <a:endParaRPr lang="pt-BR" sz="1300" dirty="0"/>
          </a:p>
        </p:txBody>
      </p:sp>
      <p:sp>
        <p:nvSpPr>
          <p:cNvPr id="24" name="Shape 19"/>
          <p:cNvSpPr/>
          <p:nvPr/>
        </p:nvSpPr>
        <p:spPr>
          <a:xfrm>
            <a:off x="4325112" y="3986784"/>
            <a:ext cx="4059936" cy="658368"/>
          </a:xfrm>
          <a:prstGeom prst="roundRect">
            <a:avLst>
              <a:gd name="adj" fmla="val 11111"/>
            </a:avLst>
          </a:prstGeom>
          <a:solidFill>
            <a:srgbClr val="2A3138"/>
          </a:solidFill>
          <a:ln w="9525">
            <a:solidFill>
              <a:srgbClr val="2A3138"/>
            </a:solidFill>
            <a:prstDash val="solid"/>
          </a:ln>
        </p:spPr>
      </p:sp>
      <p:sp>
        <p:nvSpPr>
          <p:cNvPr id="25" name="Text 20"/>
          <p:cNvSpPr txBox="1"/>
          <p:nvPr/>
        </p:nvSpPr>
        <p:spPr>
          <a:xfrm>
            <a:off x="4507992" y="3986784"/>
            <a:ext cx="1143000" cy="658368"/>
          </a:xfrm>
          <a:prstGeom prst="rect">
            <a:avLst/>
          </a:prstGeom>
          <a:noFill/>
          <a:ln/>
        </p:spPr>
        <p:txBody>
          <a:bodyPr wrap="square" lIns="0" tIns="0" rIns="0" bIns="0" rtlCol="0" anchor="ctr"/>
          <a:lstStyle/>
          <a:p>
            <a:pPr indent="0" marL="0">
              <a:buNone/>
            </a:pPr>
            <a:r>
              <a:rPr lang="pt-BR" altLang="en-US" sz="1300" b="1" dirty="0">
                <a:solidFill>
                  <a:srgbClr val="00ADD8"/>
                </a:solidFill>
                <a:latin typeface="Arial" pitchFamily="34" charset="0"/>
                <a:ea typeface="Arial" pitchFamily="34" charset="-122"/>
                <a:cs typeface="Arial" pitchFamily="34" charset="-120"/>
              </a:rPr>
              <a:t>Contrato</a:t>
            </a:r>
            <a:endParaRPr lang="pt-BR" sz="1300" dirty="0"/>
          </a:p>
        </p:txBody>
      </p:sp>
      <p:sp>
        <p:nvSpPr>
          <p:cNvPr id="26" name="Text 21"/>
          <p:cNvSpPr txBox="1"/>
          <p:nvPr/>
        </p:nvSpPr>
        <p:spPr>
          <a:xfrm>
            <a:off x="5669280" y="3986784"/>
            <a:ext cx="2560320" cy="658368"/>
          </a:xfrm>
          <a:prstGeom prst="rect">
            <a:avLst/>
          </a:prstGeom>
          <a:noFill/>
          <a:ln/>
        </p:spPr>
        <p:txBody>
          <a:bodyPr wrap="square" lIns="0" tIns="0" rIns="0" bIns="0" rtlCol="0" anchor="ctr"/>
          <a:lstStyle/>
          <a:p>
            <a:pPr indent="0" marL="0">
              <a:buNone/>
            </a:pPr>
            <a:r>
              <a:rPr lang="pt-BR" altLang="en-US" sz="1300" dirty="0">
                <a:solidFill>
                  <a:srgbClr val="FFFFFF"/>
                </a:solidFill>
                <a:latin typeface="Calibri" pitchFamily="34" charset="0"/>
                <a:ea typeface="Calibri" pitchFamily="34" charset="-122"/>
                <a:cs typeface="Calibri" pitchFamily="34" charset="-120"/>
              </a:rPr>
              <a:t>Dispatch(state, blockTime, tx)</a:t>
            </a:r>
            <a:endParaRPr lang="pt-BR" sz="1300" dirty="0"/>
          </a:p>
        </p:txBody>
      </p:sp>
      <p:sp>
        <p:nvSpPr>
          <p:cNvPr id="27" name="Shape 22"/>
          <p:cNvSpPr/>
          <p:nvPr/>
        </p:nvSpPr>
        <p:spPr>
          <a:xfrm>
            <a:off x="4325112" y="4791456"/>
            <a:ext cx="4059936" cy="658368"/>
          </a:xfrm>
          <a:prstGeom prst="roundRect">
            <a:avLst>
              <a:gd name="adj" fmla="val 11111"/>
            </a:avLst>
          </a:prstGeom>
          <a:solidFill>
            <a:srgbClr val="2A3138"/>
          </a:solidFill>
          <a:ln w="9525">
            <a:solidFill>
              <a:srgbClr val="2A3138"/>
            </a:solidFill>
            <a:prstDash val="solid"/>
          </a:ln>
        </p:spPr>
      </p:sp>
      <p:sp>
        <p:nvSpPr>
          <p:cNvPr id="28" name="Text 23"/>
          <p:cNvSpPr txBox="1"/>
          <p:nvPr/>
        </p:nvSpPr>
        <p:spPr>
          <a:xfrm>
            <a:off x="4507992" y="4791456"/>
            <a:ext cx="1143000" cy="658368"/>
          </a:xfrm>
          <a:prstGeom prst="rect">
            <a:avLst/>
          </a:prstGeom>
          <a:noFill/>
          <a:ln/>
        </p:spPr>
        <p:txBody>
          <a:bodyPr wrap="square" lIns="0" tIns="0" rIns="0" bIns="0" rtlCol="0" anchor="ctr"/>
          <a:lstStyle/>
          <a:p>
            <a:pPr indent="0" marL="0">
              <a:buNone/>
            </a:pPr>
            <a:r>
              <a:rPr lang="pt-BR" altLang="en-US" sz="1300" b="1" dirty="0">
                <a:solidFill>
                  <a:srgbClr val="00ADD8"/>
                </a:solidFill>
                <a:latin typeface="Arial" pitchFamily="34" charset="0"/>
                <a:ea typeface="Arial" pitchFamily="34" charset="-122"/>
                <a:cs typeface="Arial" pitchFamily="34" charset="-120"/>
              </a:rPr>
              <a:t>Estado</a:t>
            </a:r>
            <a:endParaRPr lang="pt-BR" sz="1300" dirty="0"/>
          </a:p>
        </p:txBody>
      </p:sp>
      <p:sp>
        <p:nvSpPr>
          <p:cNvPr id="29" name="Text 24"/>
          <p:cNvSpPr txBox="1"/>
          <p:nvPr/>
        </p:nvSpPr>
        <p:spPr>
          <a:xfrm>
            <a:off x="5669280" y="4791456"/>
            <a:ext cx="2560320" cy="658368"/>
          </a:xfrm>
          <a:prstGeom prst="rect">
            <a:avLst/>
          </a:prstGeom>
          <a:noFill/>
          <a:ln/>
        </p:spPr>
        <p:txBody>
          <a:bodyPr wrap="square" lIns="0" tIns="0" rIns="0" bIns="0" rtlCol="0" anchor="ctr"/>
          <a:lstStyle/>
          <a:p>
            <a:pPr indent="0" marL="0">
              <a:buNone/>
            </a:pPr>
            <a:r>
              <a:rPr lang="pt-BR" altLang="en-US" sz="1300" dirty="0">
                <a:solidFill>
                  <a:srgbClr val="FFFFFF"/>
                </a:solidFill>
                <a:latin typeface="Calibri" pitchFamily="34" charset="0"/>
                <a:ea typeface="Calibri" pitchFamily="34" charset="-122"/>
                <a:cs typeface="Calibri" pitchFamily="34" charset="-120"/>
              </a:rPr>
              <a:t>ledger, ativos, locações, papéis</a:t>
            </a:r>
            <a:endParaRPr lang="pt-BR" sz="1300" dirty="0"/>
          </a:p>
        </p:txBody>
      </p:sp>
      <p:sp>
        <p:nvSpPr>
          <p:cNvPr id="30" name="Shape 25"/>
          <p:cNvSpPr/>
          <p:nvPr/>
        </p:nvSpPr>
        <p:spPr>
          <a:xfrm>
            <a:off x="3291840" y="2706624"/>
            <a:ext cx="777240" cy="0"/>
          </a:xfrm>
          <a:prstGeom prst="line">
            <a:avLst/>
          </a:prstGeom>
          <a:noFill/>
          <a:ln w="22225">
            <a:solidFill>
              <a:srgbClr val="007D9C"/>
            </a:solidFill>
            <a:prstDash val="solid"/>
            <a:headEnd type="triangle"/>
            <a:tailEnd type="triangle"/>
          </a:ln>
        </p:spPr>
      </p:sp>
      <p:sp>
        <p:nvSpPr>
          <p:cNvPr id="31" name="Text 26"/>
          <p:cNvSpPr txBox="1"/>
          <p:nvPr/>
        </p:nvSpPr>
        <p:spPr>
          <a:xfrm>
            <a:off x="3346704" y="2103120"/>
            <a:ext cx="731520" cy="502920"/>
          </a:xfrm>
          <a:prstGeom prst="rect">
            <a:avLst/>
          </a:prstGeom>
          <a:noFill/>
          <a:ln/>
        </p:spPr>
        <p:txBody>
          <a:bodyPr wrap="square" lIns="0" tIns="0" rIns="0" bIns="0" rtlCol="0" anchor="t"/>
          <a:lstStyle/>
          <a:p>
            <a:pPr indent="0" marL="0">
              <a:buNone/>
            </a:pPr>
            <a:r>
              <a:rPr lang="pt-BR" altLang="en-US" sz="1050" dirty="0">
                <a:solidFill>
                  <a:srgbClr val="5F6B76"/>
                </a:solidFill>
                <a:latin typeface="Calibri" pitchFamily="34" charset="0"/>
                <a:ea typeface="Calibri" pitchFamily="34" charset="-122"/>
                <a:cs typeface="Calibri" pitchFamily="34" charset="-120"/>
              </a:rPr>
              <a:t>tx assinada,</a:t>
            </a:r>
            <a:endParaRPr lang="pt-BR" sz="1050" dirty="0"/>
          </a:p>
          <a:p>
            <a:pPr indent="0" marL="0">
              <a:buNone/>
            </a:pPr>
            <a:r>
              <a:rPr lang="pt-BR" altLang="en-US" sz="1050" dirty="0">
                <a:solidFill>
                  <a:srgbClr val="5F6B76"/>
                </a:solidFill>
                <a:latin typeface="Calibri" pitchFamily="34" charset="0"/>
                <a:ea typeface="Calibri" pitchFamily="34" charset="-122"/>
                <a:cs typeface="Calibri" pitchFamily="34" charset="-120"/>
              </a:rPr>
              <a:t>consultas</a:t>
            </a:r>
            <a:endParaRPr lang="pt-BR" sz="1050" dirty="0"/>
          </a:p>
        </p:txBody>
      </p:sp>
      <p:sp>
        <p:nvSpPr>
          <p:cNvPr id="32" name="Shape 27"/>
          <p:cNvSpPr/>
          <p:nvPr/>
        </p:nvSpPr>
        <p:spPr>
          <a:xfrm>
            <a:off x="3291840" y="4315968"/>
            <a:ext cx="777240" cy="0"/>
          </a:xfrm>
          <a:prstGeom prst="line">
            <a:avLst/>
          </a:prstGeom>
          <a:noFill/>
          <a:ln w="22225">
            <a:solidFill>
              <a:srgbClr val="F2A900"/>
            </a:solidFill>
            <a:prstDash val="dash"/>
            <a:tailEnd type="triangle"/>
          </a:ln>
        </p:spPr>
      </p:sp>
      <p:sp>
        <p:nvSpPr>
          <p:cNvPr id="33" name="Text 28"/>
          <p:cNvSpPr txBox="1"/>
          <p:nvPr/>
        </p:nvSpPr>
        <p:spPr>
          <a:xfrm>
            <a:off x="3346704" y="4389120"/>
            <a:ext cx="731520" cy="502920"/>
          </a:xfrm>
          <a:prstGeom prst="rect">
            <a:avLst/>
          </a:prstGeom>
          <a:noFill/>
          <a:ln/>
        </p:spPr>
        <p:txBody>
          <a:bodyPr wrap="square" lIns="0" tIns="0" rIns="0" bIns="0" rtlCol="0" anchor="t"/>
          <a:lstStyle/>
          <a:p>
            <a:pPr indent="0" marL="0">
              <a:buNone/>
            </a:pPr>
            <a:r>
              <a:rPr lang="pt-BR" altLang="en-US" sz="1050" dirty="0">
                <a:solidFill>
                  <a:srgbClr val="5F6B76"/>
                </a:solidFill>
                <a:latin typeface="Calibri" pitchFamily="34" charset="0"/>
                <a:ea typeface="Calibri" pitchFamily="34" charset="-122"/>
                <a:cs typeface="Calibri" pitchFamily="34" charset="-120"/>
              </a:rPr>
              <a:t>SHA-256</a:t>
            </a:r>
            <a:endParaRPr lang="pt-BR" sz="1050" dirty="0"/>
          </a:p>
          <a:p>
            <a:pPr indent="0" marL="0">
              <a:buNone/>
            </a:pPr>
            <a:r>
              <a:rPr lang="pt-BR" altLang="en-US" sz="1050" dirty="0">
                <a:solidFill>
                  <a:srgbClr val="5F6B76"/>
                </a:solidFill>
                <a:latin typeface="Calibri" pitchFamily="34" charset="0"/>
                <a:ea typeface="Calibri" pitchFamily="34" charset="-122"/>
                <a:cs typeface="Calibri" pitchFamily="34" charset="-120"/>
              </a:rPr>
              <a:t>nos args</a:t>
            </a:r>
            <a:endParaRPr lang="pt-BR" sz="1050" dirty="0"/>
          </a:p>
        </p:txBody>
      </p:sp>
      <p:sp>
        <p:nvSpPr>
          <p:cNvPr id="34" name="Shape 29"/>
          <p:cNvSpPr/>
          <p:nvPr/>
        </p:nvSpPr>
        <p:spPr>
          <a:xfrm>
            <a:off x="9372600" y="2697480"/>
            <a:ext cx="2267712" cy="1737360"/>
          </a:xfrm>
          <a:prstGeom prst="roundRect">
            <a:avLst>
              <a:gd name="adj" fmla="val 4211"/>
            </a:avLst>
          </a:prstGeom>
          <a:solidFill>
            <a:srgbClr val="F2F5F7"/>
          </a:solidFill>
          <a:ln w="12700">
            <a:solidFill>
              <a:srgbClr val="D5DBE1"/>
            </a:solidFill>
            <a:prstDash val="solid"/>
          </a:ln>
        </p:spPr>
      </p:sp>
      <p:pic>
        <p:nvPicPr>
          <p:cNvPr id="35" name="Image 3" descr="preencoded.png">    </p:cNvPr>
          <p:cNvPicPr>
            <a:picLocks noChangeAspect="1"/>
          </p:cNvPicPr>
          <p:nvPr/>
        </p:nvPicPr>
        <p:blipFill>
          <a:blip r:embed="rId4"/>
          <a:stretch>
            <a:fillRect/>
          </a:stretch>
        </p:blipFill>
        <p:spPr>
          <a:xfrm>
            <a:off x="9555480" y="2852928"/>
            <a:ext cx="365760" cy="365760"/>
          </a:xfrm>
          <a:prstGeom prst="rect">
            <a:avLst/>
          </a:prstGeom>
        </p:spPr>
      </p:pic>
      <p:sp>
        <p:nvSpPr>
          <p:cNvPr id="36" name="Text 30"/>
          <p:cNvSpPr txBox="1"/>
          <p:nvPr/>
        </p:nvSpPr>
        <p:spPr>
          <a:xfrm>
            <a:off x="10040112" y="2852928"/>
            <a:ext cx="1508760" cy="365760"/>
          </a:xfrm>
          <a:prstGeom prst="rect">
            <a:avLst/>
          </a:prstGeom>
          <a:noFill/>
          <a:ln/>
        </p:spPr>
        <p:txBody>
          <a:bodyPr wrap="square" lIns="0" tIns="0" rIns="0" bIns="0" rtlCol="0" anchor="ctr"/>
          <a:lstStyle/>
          <a:p>
            <a:pPr indent="0" marL="0">
              <a:buNone/>
            </a:pPr>
            <a:r>
              <a:rPr lang="pt-BR" altLang="en-US" sz="1400" b="1" dirty="0">
                <a:solidFill>
                  <a:srgbClr val="1E2328"/>
                </a:solidFill>
                <a:latin typeface="Arial" pitchFamily="34" charset="0"/>
                <a:ea typeface="Arial" pitchFamily="34" charset="-122"/>
                <a:cs typeface="Arial" pitchFamily="34" charset="-120"/>
              </a:rPr>
              <a:t>Log de blocos</a:t>
            </a:r>
            <a:endParaRPr lang="pt-BR" sz="1400" dirty="0"/>
          </a:p>
        </p:txBody>
      </p:sp>
      <p:sp>
        <p:nvSpPr>
          <p:cNvPr id="37" name="Text 31"/>
          <p:cNvSpPr txBox="1"/>
          <p:nvPr/>
        </p:nvSpPr>
        <p:spPr>
          <a:xfrm>
            <a:off x="9555480" y="3337560"/>
            <a:ext cx="1920240" cy="1005840"/>
          </a:xfrm>
          <a:prstGeom prst="rect">
            <a:avLst/>
          </a:prstGeom>
          <a:noFill/>
          <a:ln/>
        </p:spPr>
        <p:txBody>
          <a:bodyPr wrap="square" lIns="0" tIns="0" rIns="0" bIns="0" rtlCol="0" anchor="t"/>
          <a:lstStyle/>
          <a:p>
            <a:pPr indent="0" marL="0">
              <a:buNone/>
            </a:pPr>
            <a:r>
              <a:rPr lang="pt-BR" altLang="en-US" sz="1250" dirty="0">
                <a:solidFill>
                  <a:srgbClr val="5F6B76"/>
                </a:solidFill>
                <a:latin typeface="Calibri" pitchFamily="34" charset="0"/>
                <a:ea typeface="Calibri" pitchFamily="34" charset="-122"/>
                <a:cs typeface="Calibri" pitchFamily="34" charset="-120"/>
              </a:rPr>
              <a:t>Opcional (--datadir). Reexecutado e verificado a cada reinício.</a:t>
            </a:r>
            <a:endParaRPr lang="pt-BR" sz="1250" dirty="0"/>
          </a:p>
        </p:txBody>
      </p:sp>
      <p:sp>
        <p:nvSpPr>
          <p:cNvPr id="38" name="Shape 32"/>
          <p:cNvSpPr/>
          <p:nvPr/>
        </p:nvSpPr>
        <p:spPr>
          <a:xfrm>
            <a:off x="8641080" y="3511296"/>
            <a:ext cx="731520" cy="0"/>
          </a:xfrm>
          <a:prstGeom prst="line">
            <a:avLst/>
          </a:prstGeom>
          <a:noFill/>
          <a:ln w="22225">
            <a:solidFill>
              <a:srgbClr val="8B96A1"/>
            </a:solidFill>
            <a:prstDash val="solid"/>
            <a:tailEnd type="triangle"/>
          </a:ln>
        </p:spPr>
      </p:sp>
      <p:sp>
        <p:nvSpPr>
          <p:cNvPr id="39" name="Text 33"/>
          <p:cNvSpPr txBox="1"/>
          <p:nvPr/>
        </p:nvSpPr>
        <p:spPr>
          <a:xfrm>
            <a:off x="548640" y="5852160"/>
            <a:ext cx="11094415" cy="457200"/>
          </a:xfrm>
          <a:prstGeom prst="rect">
            <a:avLst/>
          </a:prstGeom>
          <a:noFill/>
          <a:ln/>
        </p:spPr>
        <p:txBody>
          <a:bodyPr wrap="square" lIns="0" tIns="0" rIns="0" bIns="0" rtlCol="0" anchor="t"/>
          <a:lstStyle/>
          <a:p>
            <a:pPr indent="0" marL="0">
              <a:buNone/>
            </a:pPr>
            <a:r>
              <a:rPr lang="pt-BR" altLang="en-US" sz="1400" i="1" dirty="0">
                <a:solidFill>
                  <a:srgbClr val="5F6B76"/>
                </a:solidFill>
                <a:latin typeface="Calibri" pitchFamily="34" charset="0"/>
                <a:ea typeface="Calibri" pitchFamily="34" charset="-122"/>
                <a:cs typeface="Calibri" pitchFamily="34" charset="-120"/>
              </a:rPr>
              <a:t>Sem bytecode implantado nem endereço de contrato: todo validador roda o mesmo binário, então todos calculam o mesmo estado a partir das mesmas transações.</a:t>
            </a:r>
            <a:endParaRPr lang="pt-B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02 · ARQUITETURA</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O ciclo de vida de uma transação</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8</a:t>
            </a:r>
            <a:endParaRPr lang="pt-BR" sz="1000" dirty="0"/>
          </a:p>
        </p:txBody>
      </p:sp>
      <p:sp>
        <p:nvSpPr>
          <p:cNvPr id="5" name="Shape 3"/>
          <p:cNvSpPr/>
          <p:nvPr/>
        </p:nvSpPr>
        <p:spPr>
          <a:xfrm>
            <a:off x="1280160" y="2057400"/>
            <a:ext cx="1441643" cy="0"/>
          </a:xfrm>
          <a:prstGeom prst="line">
            <a:avLst/>
          </a:prstGeom>
          <a:noFill/>
          <a:ln w="25400">
            <a:solidFill>
              <a:srgbClr val="D5DBE1"/>
            </a:solidFill>
            <a:prstDash val="solid"/>
          </a:ln>
        </p:spPr>
      </p:sp>
      <p:sp>
        <p:nvSpPr>
          <p:cNvPr id="6" name="Shape 4"/>
          <p:cNvSpPr/>
          <p:nvPr/>
        </p:nvSpPr>
        <p:spPr>
          <a:xfrm>
            <a:off x="548640" y="1709928"/>
            <a:ext cx="694944" cy="694944"/>
          </a:xfrm>
          <a:prstGeom prst="ellipse">
            <a:avLst/>
          </a:prstGeom>
          <a:solidFill>
            <a:srgbClr val="007D9C"/>
          </a:solidFill>
          <a:ln w="9525">
            <a:solidFill>
              <a:srgbClr val="007D9C"/>
            </a:solidFill>
            <a:prstDash val="solid"/>
          </a:ln>
        </p:spPr>
      </p:sp>
      <p:sp>
        <p:nvSpPr>
          <p:cNvPr id="7" name="Text 5"/>
          <p:cNvSpPr txBox="1"/>
          <p:nvPr/>
        </p:nvSpPr>
        <p:spPr>
          <a:xfrm>
            <a:off x="548640" y="1709928"/>
            <a:ext cx="694944" cy="694944"/>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1</a:t>
            </a:r>
            <a:endParaRPr lang="pt-BR" sz="1800" dirty="0"/>
          </a:p>
        </p:txBody>
      </p:sp>
      <p:sp>
        <p:nvSpPr>
          <p:cNvPr id="8" name="Text 6"/>
          <p:cNvSpPr txBox="1"/>
          <p:nvPr/>
        </p:nvSpPr>
        <p:spPr>
          <a:xfrm>
            <a:off x="548640" y="2560320"/>
            <a:ext cx="1990283" cy="365760"/>
          </a:xfrm>
          <a:prstGeom prst="rect">
            <a:avLst/>
          </a:prstGeom>
          <a:noFill/>
          <a:ln/>
        </p:spPr>
        <p:txBody>
          <a:bodyPr wrap="square" lIns="0" tIns="0" rIns="0" bIns="0" rtlCol="0" anchor="t"/>
          <a:lstStyle/>
          <a:p>
            <a:pPr indent="0" marL="0">
              <a:buNone/>
            </a:pPr>
            <a:r>
              <a:rPr lang="pt-BR" altLang="en-US" sz="1700" b="1" dirty="0">
                <a:solidFill>
                  <a:srgbClr val="1E2328"/>
                </a:solidFill>
                <a:latin typeface="Arial" pitchFamily="34" charset="0"/>
                <a:ea typeface="Arial" pitchFamily="34" charset="-122"/>
                <a:cs typeface="Arial" pitchFamily="34" charset="-120"/>
              </a:rPr>
              <a:t>Montar</a:t>
            </a:r>
            <a:endParaRPr lang="pt-BR" sz="1700" dirty="0"/>
          </a:p>
        </p:txBody>
      </p:sp>
      <p:sp>
        <p:nvSpPr>
          <p:cNvPr id="9" name="Text 7"/>
          <p:cNvSpPr txBox="1"/>
          <p:nvPr/>
        </p:nvSpPr>
        <p:spPr>
          <a:xfrm>
            <a:off x="548640" y="2971800"/>
            <a:ext cx="1944563" cy="12344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JSON com from, method, args e nonce. O campo from é uma chave pública em hex.</a:t>
            </a:r>
            <a:endParaRPr lang="pt-BR" sz="1350" dirty="0"/>
          </a:p>
        </p:txBody>
      </p:sp>
      <p:sp>
        <p:nvSpPr>
          <p:cNvPr id="10" name="Shape 8"/>
          <p:cNvSpPr/>
          <p:nvPr/>
        </p:nvSpPr>
        <p:spPr>
          <a:xfrm>
            <a:off x="3499043" y="2057400"/>
            <a:ext cx="1441643" cy="0"/>
          </a:xfrm>
          <a:prstGeom prst="line">
            <a:avLst/>
          </a:prstGeom>
          <a:noFill/>
          <a:ln w="25400">
            <a:solidFill>
              <a:srgbClr val="D5DBE1"/>
            </a:solidFill>
            <a:prstDash val="solid"/>
          </a:ln>
        </p:spPr>
      </p:sp>
      <p:sp>
        <p:nvSpPr>
          <p:cNvPr id="11" name="Shape 9"/>
          <p:cNvSpPr/>
          <p:nvPr/>
        </p:nvSpPr>
        <p:spPr>
          <a:xfrm>
            <a:off x="2767523" y="1709928"/>
            <a:ext cx="694944" cy="694944"/>
          </a:xfrm>
          <a:prstGeom prst="ellipse">
            <a:avLst/>
          </a:prstGeom>
          <a:solidFill>
            <a:srgbClr val="007D9C"/>
          </a:solidFill>
          <a:ln w="9525">
            <a:solidFill>
              <a:srgbClr val="007D9C"/>
            </a:solidFill>
            <a:prstDash val="solid"/>
          </a:ln>
        </p:spPr>
      </p:sp>
      <p:sp>
        <p:nvSpPr>
          <p:cNvPr id="12" name="Text 10"/>
          <p:cNvSpPr txBox="1"/>
          <p:nvPr/>
        </p:nvSpPr>
        <p:spPr>
          <a:xfrm>
            <a:off x="2767523" y="1709928"/>
            <a:ext cx="694944" cy="694944"/>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2</a:t>
            </a:r>
            <a:endParaRPr lang="pt-BR" sz="1800" dirty="0"/>
          </a:p>
        </p:txBody>
      </p:sp>
      <p:sp>
        <p:nvSpPr>
          <p:cNvPr id="13" name="Text 11"/>
          <p:cNvSpPr txBox="1"/>
          <p:nvPr/>
        </p:nvSpPr>
        <p:spPr>
          <a:xfrm>
            <a:off x="2767523" y="2560320"/>
            <a:ext cx="1990283" cy="365760"/>
          </a:xfrm>
          <a:prstGeom prst="rect">
            <a:avLst/>
          </a:prstGeom>
          <a:noFill/>
          <a:ln/>
        </p:spPr>
        <p:txBody>
          <a:bodyPr wrap="square" lIns="0" tIns="0" rIns="0" bIns="0" rtlCol="0" anchor="t"/>
          <a:lstStyle/>
          <a:p>
            <a:pPr indent="0" marL="0">
              <a:buNone/>
            </a:pPr>
            <a:r>
              <a:rPr lang="pt-BR" altLang="en-US" sz="1700" b="1" dirty="0">
                <a:solidFill>
                  <a:srgbClr val="1E2328"/>
                </a:solidFill>
                <a:latin typeface="Arial" pitchFamily="34" charset="0"/>
                <a:ea typeface="Arial" pitchFamily="34" charset="-122"/>
                <a:cs typeface="Arial" pitchFamily="34" charset="-120"/>
              </a:rPr>
              <a:t>Assinar</a:t>
            </a:r>
            <a:endParaRPr lang="pt-BR" sz="1700" dirty="0"/>
          </a:p>
        </p:txBody>
      </p:sp>
      <p:sp>
        <p:nvSpPr>
          <p:cNvPr id="14" name="Text 12"/>
          <p:cNvSpPr txBox="1"/>
          <p:nvPr/>
        </p:nvSpPr>
        <p:spPr>
          <a:xfrm>
            <a:off x="2767523" y="2971800"/>
            <a:ext cx="1944563" cy="12344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Ed25519 sobre o SHA-512 desse JSON, no navegador, com tweetnacl.</a:t>
            </a:r>
            <a:endParaRPr lang="pt-BR" sz="1350" dirty="0"/>
          </a:p>
        </p:txBody>
      </p:sp>
      <p:sp>
        <p:nvSpPr>
          <p:cNvPr id="15" name="Shape 13"/>
          <p:cNvSpPr/>
          <p:nvPr/>
        </p:nvSpPr>
        <p:spPr>
          <a:xfrm>
            <a:off x="5717926" y="2057400"/>
            <a:ext cx="1441643" cy="0"/>
          </a:xfrm>
          <a:prstGeom prst="line">
            <a:avLst/>
          </a:prstGeom>
          <a:noFill/>
          <a:ln w="25400">
            <a:solidFill>
              <a:srgbClr val="D5DBE1"/>
            </a:solidFill>
            <a:prstDash val="solid"/>
          </a:ln>
        </p:spPr>
      </p:sp>
      <p:sp>
        <p:nvSpPr>
          <p:cNvPr id="16" name="Shape 14"/>
          <p:cNvSpPr/>
          <p:nvPr/>
        </p:nvSpPr>
        <p:spPr>
          <a:xfrm>
            <a:off x="4986406" y="1709928"/>
            <a:ext cx="694944" cy="694944"/>
          </a:xfrm>
          <a:prstGeom prst="ellipse">
            <a:avLst/>
          </a:prstGeom>
          <a:solidFill>
            <a:srgbClr val="007D9C"/>
          </a:solidFill>
          <a:ln w="9525">
            <a:solidFill>
              <a:srgbClr val="007D9C"/>
            </a:solidFill>
            <a:prstDash val="solid"/>
          </a:ln>
        </p:spPr>
      </p:sp>
      <p:sp>
        <p:nvSpPr>
          <p:cNvPr id="17" name="Text 15"/>
          <p:cNvSpPr txBox="1"/>
          <p:nvPr/>
        </p:nvSpPr>
        <p:spPr>
          <a:xfrm>
            <a:off x="4986406" y="1709928"/>
            <a:ext cx="694944" cy="694944"/>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3</a:t>
            </a:r>
            <a:endParaRPr lang="pt-BR" sz="1800" dirty="0"/>
          </a:p>
        </p:txBody>
      </p:sp>
      <p:sp>
        <p:nvSpPr>
          <p:cNvPr id="18" name="Text 16"/>
          <p:cNvSpPr txBox="1"/>
          <p:nvPr/>
        </p:nvSpPr>
        <p:spPr>
          <a:xfrm>
            <a:off x="4986406" y="2560320"/>
            <a:ext cx="1990283" cy="365760"/>
          </a:xfrm>
          <a:prstGeom prst="rect">
            <a:avLst/>
          </a:prstGeom>
          <a:noFill/>
          <a:ln/>
        </p:spPr>
        <p:txBody>
          <a:bodyPr wrap="square" lIns="0" tIns="0" rIns="0" bIns="0" rtlCol="0" anchor="t"/>
          <a:lstStyle/>
          <a:p>
            <a:pPr indent="0" marL="0">
              <a:buNone/>
            </a:pPr>
            <a:r>
              <a:rPr lang="pt-BR" altLang="en-US" sz="1700" b="1" dirty="0">
                <a:solidFill>
                  <a:srgbClr val="1E2328"/>
                </a:solidFill>
                <a:latin typeface="Arial" pitchFamily="34" charset="0"/>
                <a:ea typeface="Arial" pitchFamily="34" charset="-122"/>
                <a:cs typeface="Arial" pitchFamily="34" charset="-120"/>
              </a:rPr>
              <a:t>Admitir</a:t>
            </a:r>
            <a:endParaRPr lang="pt-BR" sz="1700" dirty="0"/>
          </a:p>
        </p:txBody>
      </p:sp>
      <p:sp>
        <p:nvSpPr>
          <p:cNvPr id="19" name="Text 17"/>
          <p:cNvSpPr txBox="1"/>
          <p:nvPr/>
        </p:nvSpPr>
        <p:spPr>
          <a:xfrm>
            <a:off x="4986406" y="2971800"/>
            <a:ext cx="1944563" cy="12344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O nó reconstrói os bytes exatos, confere a assinatura e recusa repetições.</a:t>
            </a:r>
            <a:endParaRPr lang="pt-BR" sz="1350" dirty="0"/>
          </a:p>
        </p:txBody>
      </p:sp>
      <p:sp>
        <p:nvSpPr>
          <p:cNvPr id="20" name="Shape 18"/>
          <p:cNvSpPr/>
          <p:nvPr/>
        </p:nvSpPr>
        <p:spPr>
          <a:xfrm>
            <a:off x="7936809" y="2057400"/>
            <a:ext cx="1441643" cy="0"/>
          </a:xfrm>
          <a:prstGeom prst="line">
            <a:avLst/>
          </a:prstGeom>
          <a:noFill/>
          <a:ln w="25400">
            <a:solidFill>
              <a:srgbClr val="D5DBE1"/>
            </a:solidFill>
            <a:prstDash val="solid"/>
          </a:ln>
        </p:spPr>
      </p:sp>
      <p:sp>
        <p:nvSpPr>
          <p:cNvPr id="21" name="Shape 19"/>
          <p:cNvSpPr/>
          <p:nvPr/>
        </p:nvSpPr>
        <p:spPr>
          <a:xfrm>
            <a:off x="7205289" y="1709928"/>
            <a:ext cx="694944" cy="694944"/>
          </a:xfrm>
          <a:prstGeom prst="ellipse">
            <a:avLst/>
          </a:prstGeom>
          <a:solidFill>
            <a:srgbClr val="007D9C"/>
          </a:solidFill>
          <a:ln w="9525">
            <a:solidFill>
              <a:srgbClr val="007D9C"/>
            </a:solidFill>
            <a:prstDash val="solid"/>
          </a:ln>
        </p:spPr>
      </p:sp>
      <p:sp>
        <p:nvSpPr>
          <p:cNvPr id="22" name="Text 20"/>
          <p:cNvSpPr txBox="1"/>
          <p:nvPr/>
        </p:nvSpPr>
        <p:spPr>
          <a:xfrm>
            <a:off x="7205289" y="1709928"/>
            <a:ext cx="694944" cy="694944"/>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4</a:t>
            </a:r>
            <a:endParaRPr lang="pt-BR" sz="1800" dirty="0"/>
          </a:p>
        </p:txBody>
      </p:sp>
      <p:sp>
        <p:nvSpPr>
          <p:cNvPr id="23" name="Text 21"/>
          <p:cNvSpPr txBox="1"/>
          <p:nvPr/>
        </p:nvSpPr>
        <p:spPr>
          <a:xfrm>
            <a:off x="7205289" y="2560320"/>
            <a:ext cx="1990283" cy="365760"/>
          </a:xfrm>
          <a:prstGeom prst="rect">
            <a:avLst/>
          </a:prstGeom>
          <a:noFill/>
          <a:ln/>
        </p:spPr>
        <p:txBody>
          <a:bodyPr wrap="square" lIns="0" tIns="0" rIns="0" bIns="0" rtlCol="0" anchor="t"/>
          <a:lstStyle/>
          <a:p>
            <a:pPr indent="0" marL="0">
              <a:buNone/>
            </a:pPr>
            <a:r>
              <a:rPr lang="pt-BR" altLang="en-US" sz="1700" b="1" dirty="0">
                <a:solidFill>
                  <a:srgbClr val="1E2328"/>
                </a:solidFill>
                <a:latin typeface="Arial" pitchFamily="34" charset="0"/>
                <a:ea typeface="Arial" pitchFamily="34" charset="-122"/>
                <a:cs typeface="Arial" pitchFamily="34" charset="-120"/>
              </a:rPr>
              <a:t>Executar</a:t>
            </a:r>
            <a:endParaRPr lang="pt-BR" sz="1700" dirty="0"/>
          </a:p>
        </p:txBody>
      </p:sp>
      <p:sp>
        <p:nvSpPr>
          <p:cNvPr id="24" name="Text 22"/>
          <p:cNvSpPr txBox="1"/>
          <p:nvPr/>
        </p:nvSpPr>
        <p:spPr>
          <a:xfrm>
            <a:off x="7205289" y="2971800"/>
            <a:ext cx="1944563" cy="12344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O Dispatch roda o contrato numa cópia do estado, no horário do bloco.</a:t>
            </a:r>
            <a:endParaRPr lang="pt-BR" sz="1350" dirty="0"/>
          </a:p>
        </p:txBody>
      </p:sp>
      <p:sp>
        <p:nvSpPr>
          <p:cNvPr id="25" name="Shape 23"/>
          <p:cNvSpPr/>
          <p:nvPr/>
        </p:nvSpPr>
        <p:spPr>
          <a:xfrm>
            <a:off x="9424172" y="1709928"/>
            <a:ext cx="694944" cy="694944"/>
          </a:xfrm>
          <a:prstGeom prst="ellipse">
            <a:avLst/>
          </a:prstGeom>
          <a:solidFill>
            <a:srgbClr val="007D9C"/>
          </a:solidFill>
          <a:ln w="9525">
            <a:solidFill>
              <a:srgbClr val="007D9C"/>
            </a:solidFill>
            <a:prstDash val="solid"/>
          </a:ln>
        </p:spPr>
      </p:sp>
      <p:sp>
        <p:nvSpPr>
          <p:cNvPr id="26" name="Text 24"/>
          <p:cNvSpPr txBox="1"/>
          <p:nvPr/>
        </p:nvSpPr>
        <p:spPr>
          <a:xfrm>
            <a:off x="9424172" y="1709928"/>
            <a:ext cx="694944" cy="694944"/>
          </a:xfrm>
          <a:prstGeom prst="rect">
            <a:avLst/>
          </a:prstGeom>
          <a:noFill/>
          <a:ln/>
        </p:spPr>
        <p:txBody>
          <a:bodyPr wrap="square" lIns="0" tIns="0" rIns="0" bIns="0" rtlCol="0" anchor="ctr"/>
          <a:lstStyle/>
          <a:p>
            <a:pPr algn="ctr" indent="0" marL="0">
              <a:buNone/>
            </a:pPr>
            <a:r>
              <a:rPr lang="pt-BR" altLang="en-US" sz="1800" b="1" dirty="0">
                <a:solidFill>
                  <a:srgbClr val="FFFFFF"/>
                </a:solidFill>
                <a:latin typeface="Arial" pitchFamily="34" charset="0"/>
                <a:ea typeface="Arial" pitchFamily="34" charset="-122"/>
                <a:cs typeface="Arial" pitchFamily="34" charset="-120"/>
              </a:rPr>
              <a:t>5</a:t>
            </a:r>
            <a:endParaRPr lang="pt-BR" sz="1800" dirty="0"/>
          </a:p>
        </p:txBody>
      </p:sp>
      <p:sp>
        <p:nvSpPr>
          <p:cNvPr id="27" name="Text 25"/>
          <p:cNvSpPr txBox="1"/>
          <p:nvPr/>
        </p:nvSpPr>
        <p:spPr>
          <a:xfrm>
            <a:off x="9424172" y="2560320"/>
            <a:ext cx="1990283" cy="365760"/>
          </a:xfrm>
          <a:prstGeom prst="rect">
            <a:avLst/>
          </a:prstGeom>
          <a:noFill/>
          <a:ln/>
        </p:spPr>
        <p:txBody>
          <a:bodyPr wrap="square" lIns="0" tIns="0" rIns="0" bIns="0" rtlCol="0" anchor="t"/>
          <a:lstStyle/>
          <a:p>
            <a:pPr indent="0" marL="0">
              <a:buNone/>
            </a:pPr>
            <a:r>
              <a:rPr lang="pt-BR" altLang="en-US" sz="1700" b="1" dirty="0">
                <a:solidFill>
                  <a:srgbClr val="1E2328"/>
                </a:solidFill>
                <a:latin typeface="Arial" pitchFamily="34" charset="0"/>
                <a:ea typeface="Arial" pitchFamily="34" charset="-122"/>
                <a:cs typeface="Arial" pitchFamily="34" charset="-120"/>
              </a:rPr>
              <a:t>Selar</a:t>
            </a:r>
            <a:endParaRPr lang="pt-BR" sz="1700" dirty="0"/>
          </a:p>
        </p:txBody>
      </p:sp>
      <p:sp>
        <p:nvSpPr>
          <p:cNvPr id="28" name="Text 26"/>
          <p:cNvSpPr txBox="1"/>
          <p:nvPr/>
        </p:nvSpPr>
        <p:spPr>
          <a:xfrm>
            <a:off x="9424172" y="2971800"/>
            <a:ext cx="1944563" cy="12344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Um bloco por transação, encadeado por hash e assinado pelo validador.</a:t>
            </a:r>
            <a:endParaRPr lang="pt-BR" sz="1350" dirty="0"/>
          </a:p>
        </p:txBody>
      </p:sp>
      <p:sp>
        <p:nvSpPr>
          <p:cNvPr id="29" name="Shape 27"/>
          <p:cNvSpPr/>
          <p:nvPr/>
        </p:nvSpPr>
        <p:spPr>
          <a:xfrm>
            <a:off x="548640" y="4389120"/>
            <a:ext cx="11094415" cy="1783080"/>
          </a:xfrm>
          <a:prstGeom prst="roundRect">
            <a:avLst>
              <a:gd name="adj" fmla="val 4103"/>
            </a:avLst>
          </a:prstGeom>
          <a:solidFill>
            <a:srgbClr val="1E2328"/>
          </a:solidFill>
          <a:ln w="9525">
            <a:solidFill>
              <a:srgbClr val="1E2328"/>
            </a:solidFill>
            <a:prstDash val="solid"/>
          </a:ln>
        </p:spPr>
      </p:sp>
      <p:sp>
        <p:nvSpPr>
          <p:cNvPr id="30" name="Text 28"/>
          <p:cNvSpPr txBox="1"/>
          <p:nvPr/>
        </p:nvSpPr>
        <p:spPr>
          <a:xfrm>
            <a:off x="822960" y="4526280"/>
            <a:ext cx="10545775" cy="1554480"/>
          </a:xfrm>
          <a:prstGeom prst="rect">
            <a:avLst/>
          </a:prstGeom>
          <a:noFill/>
          <a:ln/>
        </p:spPr>
        <p:txBody>
          <a:bodyPr wrap="square" lIns="0" tIns="0" rIns="0" bIns="0" rtlCol="0" anchor="t"/>
          <a:lstStyle/>
          <a:p>
            <a:pPr indent="0" marL="0">
              <a:spcAft>
                <a:spcPts val="300"/>
              </a:spcAft>
              <a:buNone/>
            </a:pPr>
            <a:r>
              <a:rPr lang="pt-BR" altLang="en-US" sz="1300" b="1" dirty="0">
                <a:solidFill>
                  <a:srgbClr val="F2A900"/>
                </a:solidFill>
                <a:latin typeface="Courier New" pitchFamily="34" charset="0"/>
                <a:ea typeface="Courier New" pitchFamily="34" charset="-122"/>
                <a:cs typeface="Courier New" pitchFamily="34" charset="-120"/>
              </a:rPr>
              <a:t>POST /tx</a:t>
            </a:r>
            <a:endParaRPr lang="pt-BR" sz="1300" dirty="0"/>
          </a:p>
          <a:p>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{"from":"949f5f22…ed1a","method":</a:t>
            </a:r>
            <a:pPr indent="0" marL="0">
              <a:spcAft>
                <a:spcPts val="300"/>
              </a:spcAft>
              <a:buNone/>
            </a:pPr>
            <a:r>
              <a:rPr lang="pt-BR" altLang="en-US" sz="1300" dirty="0">
                <a:solidFill>
                  <a:srgbClr val="00ADD8"/>
                </a:solidFill>
                <a:latin typeface="Courier New" pitchFamily="34" charset="0"/>
                <a:ea typeface="Courier New" pitchFamily="34" charset="-122"/>
                <a:cs typeface="Courier New" pitchFamily="34" charset="-120"/>
              </a:rPr>
              <a:t>"StartRental"</a:t>
            </a:r>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a:t>
            </a:r>
            <a:endParaRPr lang="pt-BR" sz="1300" dirty="0"/>
          </a:p>
          <a:p>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 "args":{"CarID":1,"DaysPlanned":3,"Items":[2],"Deposit":500},</a:t>
            </a:r>
            <a:endParaRPr lang="pt-BR" sz="1300" dirty="0"/>
          </a:p>
          <a:p>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 "nonce":1790803955260,"signature":"5c1f…9a0e"}</a:t>
            </a:r>
            <a:endParaRPr lang="pt-BR" sz="1300" dirty="0"/>
          </a:p>
          <a:p>
            <a:pPr indent="0" marL="0">
              <a:spcAft>
                <a:spcPts val="300"/>
              </a:spcAft>
              <a:buNone/>
            </a:pPr>
            <a:r>
              <a:rPr lang="pt-BR" altLang="en-US" sz="1300" dirty="0">
                <a:solidFill>
                  <a:srgbClr val="F2A900"/>
                </a:solidFill>
                <a:latin typeface="Courier New" pitchFamily="34" charset="0"/>
                <a:ea typeface="Courier New" pitchFamily="34" charset="-122"/>
                <a:cs typeface="Courier New" pitchFamily="34" charset="-120"/>
              </a:rPr>
              <a:t>→ </a:t>
            </a:r>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{"txHash":"0x1e56…52f6","block":</a:t>
            </a:r>
            <a:pPr indent="0" marL="0">
              <a:spcAft>
                <a:spcPts val="300"/>
              </a:spcAft>
              <a:buNone/>
            </a:pPr>
            <a:r>
              <a:rPr lang="pt-BR" altLang="en-US" sz="1300" b="1" dirty="0">
                <a:solidFill>
                  <a:srgbClr val="00ADD8"/>
                </a:solidFill>
                <a:latin typeface="Courier New" pitchFamily="34" charset="0"/>
                <a:ea typeface="Courier New" pitchFamily="34" charset="-122"/>
                <a:cs typeface="Courier New" pitchFamily="34" charset="-120"/>
              </a:rPr>
              <a:t>5</a:t>
            </a:r>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,"receipt":{"events":[{"name":"RentalStarted",…}]}}</a:t>
            </a:r>
            <a:endParaRPr lang="pt-BR"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02 · ARQUITETURA</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Duas formas de uma transação falhar</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9</a:t>
            </a:r>
            <a:endParaRPr lang="pt-BR" sz="1000" dirty="0"/>
          </a:p>
        </p:txBody>
      </p:sp>
      <p:sp>
        <p:nvSpPr>
          <p:cNvPr id="5" name="Shape 3"/>
          <p:cNvSpPr/>
          <p:nvPr/>
        </p:nvSpPr>
        <p:spPr>
          <a:xfrm>
            <a:off x="548640" y="1645920"/>
            <a:ext cx="5350612" cy="3886200"/>
          </a:xfrm>
          <a:prstGeom prst="roundRect">
            <a:avLst>
              <a:gd name="adj" fmla="val 1882"/>
            </a:avLst>
          </a:prstGeom>
          <a:solidFill>
            <a:srgbClr val="F2F5F7"/>
          </a:solidFill>
          <a:ln w="9525">
            <a:solidFill>
              <a:srgbClr val="F2F5F7"/>
            </a:solidFill>
            <a:prstDash val="solid"/>
          </a:ln>
        </p:spPr>
      </p:sp>
      <p:sp>
        <p:nvSpPr>
          <p:cNvPr id="6" name="Shape 4"/>
          <p:cNvSpPr/>
          <p:nvPr/>
        </p:nvSpPr>
        <p:spPr>
          <a:xfrm>
            <a:off x="868680" y="1920240"/>
            <a:ext cx="731520" cy="731520"/>
          </a:xfrm>
          <a:prstGeom prst="ellipse">
            <a:avLst/>
          </a:prstGeom>
          <a:solidFill>
            <a:srgbClr val="C8412E"/>
          </a:solidFill>
          <a:ln w="9525">
            <a:solidFill>
              <a:srgbClr val="C8412E"/>
            </a:solidFill>
            <a:prstDash val="solid"/>
          </a:ln>
        </p:spPr>
      </p:sp>
      <p:pic>
        <p:nvPicPr>
          <p:cNvPr id="7" name="Image 0" descr="preencoded.png">    </p:cNvPr>
          <p:cNvPicPr>
            <a:picLocks noChangeAspect="1"/>
          </p:cNvPicPr>
          <p:nvPr/>
        </p:nvPicPr>
        <p:blipFill>
          <a:blip r:embed="rId1"/>
          <a:stretch>
            <a:fillRect/>
          </a:stretch>
        </p:blipFill>
        <p:spPr>
          <a:xfrm>
            <a:off x="1044245" y="2095805"/>
            <a:ext cx="380390" cy="380390"/>
          </a:xfrm>
          <a:prstGeom prst="rect">
            <a:avLst/>
          </a:prstGeom>
        </p:spPr>
      </p:pic>
      <p:sp>
        <p:nvSpPr>
          <p:cNvPr id="8" name="Text 5"/>
          <p:cNvSpPr txBox="1"/>
          <p:nvPr/>
        </p:nvSpPr>
        <p:spPr>
          <a:xfrm>
            <a:off x="1783080" y="1920240"/>
            <a:ext cx="3887572" cy="731520"/>
          </a:xfrm>
          <a:prstGeom prst="rect">
            <a:avLst/>
          </a:prstGeom>
          <a:noFill/>
          <a:ln/>
        </p:spPr>
        <p:txBody>
          <a:bodyPr wrap="square" lIns="0" tIns="0" rIns="0" bIns="0" rtlCol="0" anchor="ctr"/>
          <a:lstStyle/>
          <a:p>
            <a:pPr indent="0" marL="0">
              <a:buNone/>
            </a:pPr>
            <a:r>
              <a:rPr lang="pt-BR" altLang="en-US" sz="2000" b="1" dirty="0">
                <a:solidFill>
                  <a:srgbClr val="1E2328"/>
                </a:solidFill>
                <a:latin typeface="Arial" pitchFamily="34" charset="0"/>
                <a:ea typeface="Arial" pitchFamily="34" charset="-122"/>
                <a:cs typeface="Arial" pitchFamily="34" charset="-120"/>
              </a:rPr>
              <a:t>Recusada na porta</a:t>
            </a:r>
            <a:endParaRPr lang="pt-BR" sz="2000" dirty="0"/>
          </a:p>
        </p:txBody>
      </p:sp>
      <p:sp>
        <p:nvSpPr>
          <p:cNvPr id="9" name="Text 6"/>
          <p:cNvSpPr txBox="1"/>
          <p:nvPr/>
        </p:nvSpPr>
        <p:spPr>
          <a:xfrm>
            <a:off x="868680" y="2834640"/>
            <a:ext cx="4710532" cy="68580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Assinatura inválida, corpo malformado ou uma transação que já está na cadeia.</a:t>
            </a:r>
            <a:endParaRPr lang="pt-BR" sz="1500" dirty="0"/>
          </a:p>
        </p:txBody>
      </p:sp>
      <p:sp>
        <p:nvSpPr>
          <p:cNvPr id="10" name="Text 7"/>
          <p:cNvSpPr txBox="1"/>
          <p:nvPr/>
        </p:nvSpPr>
        <p:spPr>
          <a:xfrm>
            <a:off x="868680" y="3566160"/>
            <a:ext cx="4710532" cy="1005840"/>
          </a:xfrm>
          <a:prstGeom prst="rect">
            <a:avLst/>
          </a:prstGeom>
          <a:noFill/>
          <a:ln/>
        </p:spPr>
        <p:txBody>
          <a:bodyPr wrap="square" lIns="0" tIns="0" rIns="0" bIns="0" rtlCol="0" anchor="t"/>
          <a:lstStyle/>
          <a:p>
            <a:pPr marL="342900" indent="-342900">
              <a:spcAft>
                <a:spcPts val="400"/>
              </a:spcAft>
              <a:buSzPct val="100000"/>
              <a:buChar char="•"/>
            </a:pPr>
            <a:r>
              <a:rPr lang="pt-BR" altLang="en-US" sz="1500" dirty="0">
                <a:solidFill>
                  <a:srgbClr val="1E2328"/>
                </a:solidFill>
                <a:latin typeface="Calibri" pitchFamily="34" charset="0"/>
                <a:ea typeface="Calibri" pitchFamily="34" charset="-122"/>
                <a:cs typeface="Calibri" pitchFamily="34" charset="-120"/>
              </a:rPr>
              <a:t>HTTP 400 ou 409</a:t>
            </a:r>
            <a:endParaRPr lang="pt-BR" sz="1500" dirty="0"/>
          </a:p>
          <a:p>
            <a:pPr marL="342900" indent="-342900">
              <a:spcAft>
                <a:spcPts val="400"/>
              </a:spcAft>
              <a:buSzPct val="100000"/>
              <a:buChar char="•"/>
            </a:pPr>
            <a:r>
              <a:rPr lang="pt-BR" altLang="en-US" sz="1500" dirty="0">
                <a:solidFill>
                  <a:srgbClr val="1E2328"/>
                </a:solidFill>
                <a:latin typeface="Calibri" pitchFamily="34" charset="0"/>
                <a:ea typeface="Calibri" pitchFamily="34" charset="-122"/>
                <a:cs typeface="Calibri" pitchFamily="34" charset="-120"/>
              </a:rPr>
              <a:t>Nunca chega ao contrato</a:t>
            </a:r>
            <a:endParaRPr lang="pt-BR" sz="1500" dirty="0"/>
          </a:p>
          <a:p>
            <a:pPr marL="342900" indent="-342900">
              <a:spcAft>
                <a:spcPts val="400"/>
              </a:spcAft>
              <a:buSzPct val="100000"/>
              <a:buChar char="•"/>
            </a:pPr>
            <a:r>
              <a:rPr lang="pt-BR" altLang="en-US" sz="1500" dirty="0">
                <a:solidFill>
                  <a:srgbClr val="1E2328"/>
                </a:solidFill>
                <a:latin typeface="Calibri" pitchFamily="34" charset="0"/>
                <a:ea typeface="Calibri" pitchFamily="34" charset="-122"/>
                <a:cs typeface="Calibri" pitchFamily="34" charset="-120"/>
              </a:rPr>
              <a:t>Nenhum bloco, nenhum rastro na cadeia</a:t>
            </a:r>
            <a:endParaRPr lang="pt-BR" sz="1500" dirty="0"/>
          </a:p>
        </p:txBody>
      </p:sp>
      <p:sp>
        <p:nvSpPr>
          <p:cNvPr id="11" name="Shape 8"/>
          <p:cNvSpPr/>
          <p:nvPr/>
        </p:nvSpPr>
        <p:spPr>
          <a:xfrm>
            <a:off x="868680" y="4663440"/>
            <a:ext cx="4710532" cy="685800"/>
          </a:xfrm>
          <a:prstGeom prst="roundRect">
            <a:avLst>
              <a:gd name="adj" fmla="val 10667"/>
            </a:avLst>
          </a:prstGeom>
          <a:solidFill>
            <a:srgbClr val="1E2328"/>
          </a:solidFill>
          <a:ln w="9525">
            <a:solidFill>
              <a:srgbClr val="1E2328"/>
            </a:solidFill>
            <a:prstDash val="solid"/>
          </a:ln>
        </p:spPr>
      </p:sp>
      <p:sp>
        <p:nvSpPr>
          <p:cNvPr id="12" name="Text 9"/>
          <p:cNvSpPr txBox="1"/>
          <p:nvPr/>
        </p:nvSpPr>
        <p:spPr>
          <a:xfrm>
            <a:off x="1051560" y="4700016"/>
            <a:ext cx="4344772" cy="621792"/>
          </a:xfrm>
          <a:prstGeom prst="rect">
            <a:avLst/>
          </a:prstGeom>
          <a:noFill/>
          <a:ln/>
        </p:spPr>
        <p:txBody>
          <a:bodyPr wrap="square" lIns="0" tIns="0" rIns="0" bIns="0" rtlCol="0" anchor="ctr"/>
          <a:lstStyle/>
          <a:p>
            <a:pPr indent="0" marL="0">
              <a:buNone/>
            </a:pPr>
            <a:r>
              <a:rPr lang="pt-BR" altLang="en-US" sz="1250" dirty="0">
                <a:solidFill>
                  <a:srgbClr val="FFFFFF"/>
                </a:solidFill>
                <a:latin typeface="Courier New" pitchFamily="34" charset="0"/>
                <a:ea typeface="Courier New" pitchFamily="34" charset="-122"/>
                <a:cs typeface="Courier New" pitchFamily="34" charset="-120"/>
              </a:rPr>
              <a:t>"signature":"0000garbage"</a:t>
            </a:r>
            <a:endParaRPr lang="pt-BR" sz="1250" dirty="0"/>
          </a:p>
          <a:p>
            <a:pPr indent="0" marL="0">
              <a:buNone/>
            </a:pPr>
            <a:r>
              <a:rPr lang="pt-BR" altLang="en-US" sz="1250" dirty="0">
                <a:solidFill>
                  <a:srgbClr val="FF8A7A"/>
                </a:solidFill>
                <a:latin typeface="Courier New" pitchFamily="34" charset="0"/>
                <a:ea typeface="Courier New" pitchFamily="34" charset="-122"/>
                <a:cs typeface="Courier New" pitchFamily="34" charset="-120"/>
              </a:rPr>
              <a:t>→ 400 invalid signature</a:t>
            </a:r>
            <a:endParaRPr lang="pt-BR" sz="1250" dirty="0"/>
          </a:p>
        </p:txBody>
      </p:sp>
      <p:sp>
        <p:nvSpPr>
          <p:cNvPr id="13" name="Shape 10"/>
          <p:cNvSpPr/>
          <p:nvPr/>
        </p:nvSpPr>
        <p:spPr>
          <a:xfrm>
            <a:off x="6292444" y="1645920"/>
            <a:ext cx="5350612" cy="3886200"/>
          </a:xfrm>
          <a:prstGeom prst="roundRect">
            <a:avLst>
              <a:gd name="adj" fmla="val 1882"/>
            </a:avLst>
          </a:prstGeom>
          <a:solidFill>
            <a:srgbClr val="F2F5F7"/>
          </a:solidFill>
          <a:ln w="9525">
            <a:solidFill>
              <a:srgbClr val="F2F5F7"/>
            </a:solidFill>
            <a:prstDash val="solid"/>
          </a:ln>
        </p:spPr>
      </p:sp>
      <p:sp>
        <p:nvSpPr>
          <p:cNvPr id="14" name="Shape 11"/>
          <p:cNvSpPr/>
          <p:nvPr/>
        </p:nvSpPr>
        <p:spPr>
          <a:xfrm>
            <a:off x="6612484" y="1920240"/>
            <a:ext cx="731520" cy="731520"/>
          </a:xfrm>
          <a:prstGeom prst="ellipse">
            <a:avLst/>
          </a:prstGeom>
          <a:solidFill>
            <a:srgbClr val="F2A900"/>
          </a:solidFill>
          <a:ln w="9525">
            <a:solidFill>
              <a:srgbClr val="F2A900"/>
            </a:solidFill>
            <a:prstDash val="solid"/>
          </a:ln>
        </p:spPr>
      </p:sp>
      <p:pic>
        <p:nvPicPr>
          <p:cNvPr id="15" name="Image 1" descr="preencoded.png">    </p:cNvPr>
          <p:cNvPicPr>
            <a:picLocks noChangeAspect="1"/>
          </p:cNvPicPr>
          <p:nvPr/>
        </p:nvPicPr>
        <p:blipFill>
          <a:blip r:embed="rId2"/>
          <a:stretch>
            <a:fillRect/>
          </a:stretch>
        </p:blipFill>
        <p:spPr>
          <a:xfrm>
            <a:off x="6788048" y="2095805"/>
            <a:ext cx="380390" cy="380390"/>
          </a:xfrm>
          <a:prstGeom prst="rect">
            <a:avLst/>
          </a:prstGeom>
        </p:spPr>
      </p:pic>
      <p:sp>
        <p:nvSpPr>
          <p:cNvPr id="16" name="Text 12"/>
          <p:cNvSpPr txBox="1"/>
          <p:nvPr/>
        </p:nvSpPr>
        <p:spPr>
          <a:xfrm>
            <a:off x="7526884" y="1920240"/>
            <a:ext cx="3887572" cy="731520"/>
          </a:xfrm>
          <a:prstGeom prst="rect">
            <a:avLst/>
          </a:prstGeom>
          <a:noFill/>
          <a:ln/>
        </p:spPr>
        <p:txBody>
          <a:bodyPr wrap="square" lIns="0" tIns="0" rIns="0" bIns="0" rtlCol="0" anchor="ctr"/>
          <a:lstStyle/>
          <a:p>
            <a:pPr indent="0" marL="0">
              <a:buNone/>
            </a:pPr>
            <a:r>
              <a:rPr lang="pt-BR" altLang="en-US" sz="2000" b="1" dirty="0">
                <a:solidFill>
                  <a:srgbClr val="1E2328"/>
                </a:solidFill>
                <a:latin typeface="Arial" pitchFamily="34" charset="0"/>
                <a:ea typeface="Arial" pitchFamily="34" charset="-122"/>
                <a:cs typeface="Arial" pitchFamily="34" charset="-120"/>
              </a:rPr>
              <a:t>Rejeitada pelo contrato</a:t>
            </a:r>
            <a:endParaRPr lang="pt-BR" sz="2000" dirty="0"/>
          </a:p>
        </p:txBody>
      </p:sp>
      <p:sp>
        <p:nvSpPr>
          <p:cNvPr id="17" name="Text 13"/>
          <p:cNvSpPr txBox="1"/>
          <p:nvPr/>
        </p:nvSpPr>
        <p:spPr>
          <a:xfrm>
            <a:off x="6612484" y="2834640"/>
            <a:ext cx="4710532" cy="68580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Assinatura válida, mas uma regra de negócio diz não: papel ausente, carro indisponível, garantia insuficiente.</a:t>
            </a:r>
            <a:endParaRPr lang="pt-BR" sz="1500" dirty="0"/>
          </a:p>
        </p:txBody>
      </p:sp>
      <p:sp>
        <p:nvSpPr>
          <p:cNvPr id="18" name="Text 14"/>
          <p:cNvSpPr txBox="1"/>
          <p:nvPr/>
        </p:nvSpPr>
        <p:spPr>
          <a:xfrm>
            <a:off x="6612484" y="3566160"/>
            <a:ext cx="4710532" cy="1005840"/>
          </a:xfrm>
          <a:prstGeom prst="rect">
            <a:avLst/>
          </a:prstGeom>
          <a:noFill/>
          <a:ln/>
        </p:spPr>
        <p:txBody>
          <a:bodyPr wrap="square" lIns="0" tIns="0" rIns="0" bIns="0" rtlCol="0" anchor="t"/>
          <a:lstStyle/>
          <a:p>
            <a:pPr marL="342900" indent="-342900">
              <a:spcAft>
                <a:spcPts val="400"/>
              </a:spcAft>
              <a:buSzPct val="100000"/>
              <a:buChar char="•"/>
            </a:pPr>
            <a:r>
              <a:rPr lang="pt-BR" altLang="en-US" sz="1500" dirty="0">
                <a:solidFill>
                  <a:srgbClr val="1E2328"/>
                </a:solidFill>
                <a:latin typeface="Calibri" pitchFamily="34" charset="0"/>
                <a:ea typeface="Calibri" pitchFamily="34" charset="-122"/>
                <a:cs typeface="Calibri" pitchFamily="34" charset="-120"/>
              </a:rPr>
              <a:t>Incluída no bloco seguinte</a:t>
            </a:r>
            <a:endParaRPr lang="pt-BR" sz="1500" dirty="0"/>
          </a:p>
          <a:p>
            <a:pPr marL="342900" indent="-342900">
              <a:spcAft>
                <a:spcPts val="400"/>
              </a:spcAft>
              <a:buSzPct val="100000"/>
              <a:buChar char="•"/>
            </a:pPr>
            <a:r>
              <a:rPr lang="pt-BR" altLang="en-US" sz="1500" dirty="0">
                <a:solidFill>
                  <a:srgbClr val="1E2328"/>
                </a:solidFill>
                <a:latin typeface="Calibri" pitchFamily="34" charset="0"/>
                <a:ea typeface="Calibri" pitchFamily="34" charset="-122"/>
                <a:cs typeface="Calibri" pitchFamily="34" charset="-120"/>
              </a:rPr>
              <a:t>Erro no recibo; estado inalterado</a:t>
            </a:r>
            <a:endParaRPr lang="pt-BR" sz="1500" dirty="0"/>
          </a:p>
          <a:p>
            <a:pPr marL="342900" indent="-342900">
              <a:spcAft>
                <a:spcPts val="400"/>
              </a:spcAft>
              <a:buSzPct val="100000"/>
              <a:buChar char="•"/>
            </a:pPr>
            <a:r>
              <a:rPr lang="pt-BR" altLang="en-US" sz="1500" dirty="0">
                <a:solidFill>
                  <a:srgbClr val="1E2328"/>
                </a:solidFill>
                <a:latin typeface="Calibri" pitchFamily="34" charset="0"/>
                <a:ea typeface="Calibri" pitchFamily="34" charset="-122"/>
                <a:cs typeface="Calibri" pitchFamily="34" charset="-120"/>
              </a:rPr>
              <a:t>Registro permanente da tentativa recusada</a:t>
            </a:r>
            <a:endParaRPr lang="pt-BR" sz="1500" dirty="0"/>
          </a:p>
        </p:txBody>
      </p:sp>
      <p:sp>
        <p:nvSpPr>
          <p:cNvPr id="19" name="Shape 15"/>
          <p:cNvSpPr/>
          <p:nvPr/>
        </p:nvSpPr>
        <p:spPr>
          <a:xfrm>
            <a:off x="6612484" y="4663440"/>
            <a:ext cx="4710532" cy="685800"/>
          </a:xfrm>
          <a:prstGeom prst="roundRect">
            <a:avLst>
              <a:gd name="adj" fmla="val 10667"/>
            </a:avLst>
          </a:prstGeom>
          <a:solidFill>
            <a:srgbClr val="1E2328"/>
          </a:solidFill>
          <a:ln w="9525">
            <a:solidFill>
              <a:srgbClr val="1E2328"/>
            </a:solidFill>
            <a:prstDash val="solid"/>
          </a:ln>
        </p:spPr>
      </p:sp>
      <p:sp>
        <p:nvSpPr>
          <p:cNvPr id="20" name="Text 16"/>
          <p:cNvSpPr txBox="1"/>
          <p:nvPr/>
        </p:nvSpPr>
        <p:spPr>
          <a:xfrm>
            <a:off x="6795364" y="4700016"/>
            <a:ext cx="4344772" cy="621792"/>
          </a:xfrm>
          <a:prstGeom prst="rect">
            <a:avLst/>
          </a:prstGeom>
          <a:noFill/>
          <a:ln/>
        </p:spPr>
        <p:txBody>
          <a:bodyPr wrap="square" lIns="0" tIns="0" rIns="0" bIns="0" rtlCol="0" anchor="ctr"/>
          <a:lstStyle/>
          <a:p>
            <a:pPr indent="0" marL="0">
              <a:buNone/>
            </a:pPr>
            <a:r>
              <a:rPr lang="pt-BR" altLang="en-US" sz="1250" dirty="0">
                <a:solidFill>
                  <a:srgbClr val="FFFFFF"/>
                </a:solidFill>
                <a:latin typeface="Courier New" pitchFamily="34" charset="0"/>
                <a:ea typeface="Courier New" pitchFamily="34" charset="-122"/>
                <a:cs typeface="Courier New" pitchFamily="34" charset="-120"/>
              </a:rPr>
              <a:t>bob → RegisterCar</a:t>
            </a:r>
            <a:endParaRPr lang="pt-BR" sz="1250" dirty="0"/>
          </a:p>
          <a:p>
            <a:pPr indent="0" marL="0">
              <a:buNone/>
            </a:pPr>
            <a:r>
              <a:rPr lang="pt-BR" altLang="en-US" sz="1250" dirty="0">
                <a:solidFill>
                  <a:srgbClr val="F2A900"/>
                </a:solidFill>
                <a:latin typeface="Courier New" pitchFamily="34" charset="0"/>
                <a:ea typeface="Courier New" pitchFamily="34" charset="-122"/>
                <a:cs typeface="Courier New" pitchFamily="34" charset="-120"/>
              </a:rPr>
              <a:t>→ bloco 8: missing role REGISTRAR</a:t>
            </a:r>
            <a:endParaRPr lang="pt-BR" sz="1250" dirty="0"/>
          </a:p>
        </p:txBody>
      </p:sp>
      <p:sp>
        <p:nvSpPr>
          <p:cNvPr id="21" name="Text 17"/>
          <p:cNvSpPr txBox="1"/>
          <p:nvPr/>
        </p:nvSpPr>
        <p:spPr>
          <a:xfrm>
            <a:off x="548640" y="5760720"/>
            <a:ext cx="11094415" cy="411480"/>
          </a:xfrm>
          <a:prstGeom prst="rect">
            <a:avLst/>
          </a:prstGeom>
          <a:noFill/>
          <a:ln/>
        </p:spPr>
        <p:txBody>
          <a:bodyPr wrap="square" lIns="0" tIns="0" rIns="0" bIns="0" rtlCol="0" anchor="t"/>
          <a:lstStyle/>
          <a:p>
            <a:pPr indent="0" marL="0">
              <a:buNone/>
            </a:pPr>
            <a:r>
              <a:rPr lang="pt-BR" altLang="en-US" sz="1400" i="1" dirty="0">
                <a:solidFill>
                  <a:srgbClr val="5F6B76"/>
                </a:solidFill>
                <a:latin typeface="Calibri" pitchFamily="34" charset="0"/>
                <a:ea typeface="Calibri" pitchFamily="34" charset="-122"/>
                <a:cs typeface="Calibri" pitchFamily="34" charset="-120"/>
              </a:rPr>
              <a:t>É a mesma distinção que uma rede EVM faz entre uma transação que a rede descarta e uma que chega ao contrato e é revertida.</a:t>
            </a:r>
            <a:endParaRPr lang="pt-B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02 · ARQUITETURA</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Blocos: encadeados, selados, verificáveis</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10</a:t>
            </a:r>
            <a:endParaRPr lang="pt-BR" sz="1000" dirty="0"/>
          </a:p>
        </p:txBody>
      </p:sp>
      <p:sp>
        <p:nvSpPr>
          <p:cNvPr id="5" name="Shape 3"/>
          <p:cNvSpPr/>
          <p:nvPr/>
        </p:nvSpPr>
        <p:spPr>
          <a:xfrm>
            <a:off x="548640" y="1645920"/>
            <a:ext cx="3246120" cy="2514600"/>
          </a:xfrm>
          <a:prstGeom prst="roundRect">
            <a:avLst>
              <a:gd name="adj" fmla="val 2909"/>
            </a:avLst>
          </a:prstGeom>
          <a:solidFill>
            <a:srgbClr val="1E2328"/>
          </a:solidFill>
          <a:ln w="9525">
            <a:solidFill>
              <a:srgbClr val="1E2328"/>
            </a:solidFill>
            <a:prstDash val="solid"/>
          </a:ln>
        </p:spPr>
      </p:sp>
      <p:sp>
        <p:nvSpPr>
          <p:cNvPr id="6" name="Text 4"/>
          <p:cNvSpPr txBox="1"/>
          <p:nvPr/>
        </p:nvSpPr>
        <p:spPr>
          <a:xfrm>
            <a:off x="822960" y="1783080"/>
            <a:ext cx="2697480" cy="384048"/>
          </a:xfrm>
          <a:prstGeom prst="rect">
            <a:avLst/>
          </a:prstGeom>
          <a:noFill/>
          <a:ln/>
        </p:spPr>
        <p:txBody>
          <a:bodyPr wrap="square" lIns="0" tIns="0" rIns="0" bIns="0" rtlCol="0" anchor="t"/>
          <a:lstStyle/>
          <a:p>
            <a:pPr indent="0" marL="0">
              <a:buNone/>
            </a:pPr>
            <a:r>
              <a:rPr lang="pt-BR" altLang="en-US" sz="1700" b="1" dirty="0">
                <a:solidFill>
                  <a:srgbClr val="FFFFFF"/>
                </a:solidFill>
                <a:latin typeface="Arial" pitchFamily="34" charset="0"/>
                <a:ea typeface="Arial" pitchFamily="34" charset="-122"/>
                <a:cs typeface="Arial" pitchFamily="34" charset="-120"/>
              </a:rPr>
              <a:t>Bloco #4</a:t>
            </a:r>
            <a:endParaRPr lang="pt-BR" sz="1700" dirty="0"/>
          </a:p>
        </p:txBody>
      </p:sp>
      <p:sp>
        <p:nvSpPr>
          <p:cNvPr id="7" name="Text 5"/>
          <p:cNvSpPr txBox="1"/>
          <p:nvPr/>
        </p:nvSpPr>
        <p:spPr>
          <a:xfrm>
            <a:off x="822960" y="2286000"/>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prevHash</a:t>
            </a:r>
            <a:endParaRPr lang="pt-BR" sz="1150" dirty="0"/>
          </a:p>
        </p:txBody>
      </p:sp>
      <p:sp>
        <p:nvSpPr>
          <p:cNvPr id="8" name="Text 6"/>
          <p:cNvSpPr txBox="1"/>
          <p:nvPr/>
        </p:nvSpPr>
        <p:spPr>
          <a:xfrm>
            <a:off x="1810512" y="2286000"/>
            <a:ext cx="1828800" cy="310896"/>
          </a:xfrm>
          <a:prstGeom prst="rect">
            <a:avLst/>
          </a:prstGeom>
          <a:noFill/>
          <a:ln/>
        </p:spPr>
        <p:txBody>
          <a:bodyPr wrap="square" lIns="0" tIns="0" rIns="0" bIns="0" rtlCol="0" anchor="ctr"/>
          <a:lstStyle/>
          <a:p>
            <a:pPr indent="0" marL="0">
              <a:buNone/>
            </a:pPr>
            <a:r>
              <a:rPr lang="pt-BR" altLang="en-US" sz="1150" dirty="0">
                <a:solidFill>
                  <a:srgbClr val="00ADD8"/>
                </a:solidFill>
                <a:latin typeface="Courier New" pitchFamily="34" charset="0"/>
                <a:ea typeface="Courier New" pitchFamily="34" charset="-122"/>
                <a:cs typeface="Courier New" pitchFamily="34" charset="-120"/>
              </a:rPr>
              <a:t>0xcc0b…beff</a:t>
            </a:r>
            <a:endParaRPr lang="pt-BR" sz="1150" dirty="0"/>
          </a:p>
        </p:txBody>
      </p:sp>
      <p:sp>
        <p:nvSpPr>
          <p:cNvPr id="9" name="Text 7"/>
          <p:cNvSpPr txBox="1"/>
          <p:nvPr/>
        </p:nvSpPr>
        <p:spPr>
          <a:xfrm>
            <a:off x="822960" y="2642616"/>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stateHash</a:t>
            </a:r>
            <a:endParaRPr lang="pt-BR" sz="1150" dirty="0"/>
          </a:p>
        </p:txBody>
      </p:sp>
      <p:sp>
        <p:nvSpPr>
          <p:cNvPr id="10" name="Text 8"/>
          <p:cNvSpPr txBox="1"/>
          <p:nvPr/>
        </p:nvSpPr>
        <p:spPr>
          <a:xfrm>
            <a:off x="1810512" y="2642616"/>
            <a:ext cx="1828800" cy="310896"/>
          </a:xfrm>
          <a:prstGeom prst="rect">
            <a:avLst/>
          </a:prstGeom>
          <a:noFill/>
          <a:ln/>
        </p:spPr>
        <p:txBody>
          <a:bodyPr wrap="square" lIns="0" tIns="0" rIns="0" bIns="0" rtlCol="0" anchor="ctr"/>
          <a:lstStyle/>
          <a:p>
            <a:pPr indent="0" marL="0">
              <a:buNone/>
            </a:pPr>
            <a:r>
              <a:rPr lang="pt-BR" altLang="en-US" sz="1150" dirty="0">
                <a:solidFill>
                  <a:srgbClr val="FFFFFF"/>
                </a:solidFill>
                <a:latin typeface="Courier New" pitchFamily="34" charset="0"/>
                <a:ea typeface="Courier New" pitchFamily="34" charset="-122"/>
                <a:cs typeface="Courier New" pitchFamily="34" charset="-120"/>
              </a:rPr>
              <a:t>0xfc1c…93b1</a:t>
            </a:r>
            <a:endParaRPr lang="pt-BR" sz="1150" dirty="0"/>
          </a:p>
        </p:txBody>
      </p:sp>
      <p:sp>
        <p:nvSpPr>
          <p:cNvPr id="11" name="Text 9"/>
          <p:cNvSpPr txBox="1"/>
          <p:nvPr/>
        </p:nvSpPr>
        <p:spPr>
          <a:xfrm>
            <a:off x="822960" y="2999232"/>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tx</a:t>
            </a:r>
            <a:endParaRPr lang="pt-BR" sz="1150" dirty="0"/>
          </a:p>
        </p:txBody>
      </p:sp>
      <p:sp>
        <p:nvSpPr>
          <p:cNvPr id="12" name="Text 10"/>
          <p:cNvSpPr txBox="1"/>
          <p:nvPr/>
        </p:nvSpPr>
        <p:spPr>
          <a:xfrm>
            <a:off x="1810512" y="2999232"/>
            <a:ext cx="1828800" cy="310896"/>
          </a:xfrm>
          <a:prstGeom prst="rect">
            <a:avLst/>
          </a:prstGeom>
          <a:noFill/>
          <a:ln/>
        </p:spPr>
        <p:txBody>
          <a:bodyPr wrap="square" lIns="0" tIns="0" rIns="0" bIns="0" rtlCol="0" anchor="ctr"/>
          <a:lstStyle/>
          <a:p>
            <a:pPr indent="0" marL="0">
              <a:buNone/>
            </a:pPr>
            <a:r>
              <a:rPr lang="pt-BR" altLang="en-US" sz="1150" dirty="0">
                <a:solidFill>
                  <a:srgbClr val="FFFFFF"/>
                </a:solidFill>
                <a:latin typeface="Courier New" pitchFamily="34" charset="0"/>
                <a:ea typeface="Courier New" pitchFamily="34" charset="-122"/>
                <a:cs typeface="Courier New" pitchFamily="34" charset="-120"/>
              </a:rPr>
              <a:t>MintDeposit  ✓</a:t>
            </a:r>
            <a:endParaRPr lang="pt-BR" sz="1150" dirty="0"/>
          </a:p>
        </p:txBody>
      </p:sp>
      <p:sp>
        <p:nvSpPr>
          <p:cNvPr id="13" name="Text 11"/>
          <p:cNvSpPr txBox="1"/>
          <p:nvPr/>
        </p:nvSpPr>
        <p:spPr>
          <a:xfrm>
            <a:off x="822960" y="3355848"/>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selado</a:t>
            </a:r>
            <a:endParaRPr lang="pt-BR" sz="1150" dirty="0"/>
          </a:p>
        </p:txBody>
      </p:sp>
      <p:sp>
        <p:nvSpPr>
          <p:cNvPr id="14" name="Text 12"/>
          <p:cNvSpPr txBox="1"/>
          <p:nvPr/>
        </p:nvSpPr>
        <p:spPr>
          <a:xfrm>
            <a:off x="1810512" y="3355848"/>
            <a:ext cx="1828800" cy="310896"/>
          </a:xfrm>
          <a:prstGeom prst="rect">
            <a:avLst/>
          </a:prstGeom>
          <a:noFill/>
          <a:ln/>
        </p:spPr>
        <p:txBody>
          <a:bodyPr wrap="square" lIns="0" tIns="0" rIns="0" bIns="0" rtlCol="0" anchor="ctr"/>
          <a:lstStyle/>
          <a:p>
            <a:pPr indent="0" marL="0">
              <a:buNone/>
            </a:pPr>
            <a:r>
              <a:rPr lang="pt-BR" altLang="en-US" sz="1150" dirty="0">
                <a:solidFill>
                  <a:srgbClr val="FFFFFF"/>
                </a:solidFill>
                <a:latin typeface="Courier New" pitchFamily="34" charset="0"/>
                <a:ea typeface="Courier New" pitchFamily="34" charset="-122"/>
                <a:cs typeface="Courier New" pitchFamily="34" charset="-120"/>
              </a:rPr>
              <a:t>admin (Ed25519)</a:t>
            </a:r>
            <a:endParaRPr lang="pt-BR" sz="1150" dirty="0"/>
          </a:p>
        </p:txBody>
      </p:sp>
      <p:sp>
        <p:nvSpPr>
          <p:cNvPr id="15" name="Text 13"/>
          <p:cNvSpPr txBox="1"/>
          <p:nvPr/>
        </p:nvSpPr>
        <p:spPr>
          <a:xfrm>
            <a:off x="822960" y="3712464"/>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hash</a:t>
            </a:r>
            <a:endParaRPr lang="pt-BR" sz="1150" dirty="0"/>
          </a:p>
        </p:txBody>
      </p:sp>
      <p:sp>
        <p:nvSpPr>
          <p:cNvPr id="16" name="Text 14"/>
          <p:cNvSpPr txBox="1"/>
          <p:nvPr/>
        </p:nvSpPr>
        <p:spPr>
          <a:xfrm>
            <a:off x="1810512" y="3712464"/>
            <a:ext cx="1828800" cy="310896"/>
          </a:xfrm>
          <a:prstGeom prst="rect">
            <a:avLst/>
          </a:prstGeom>
          <a:noFill/>
          <a:ln/>
        </p:spPr>
        <p:txBody>
          <a:bodyPr wrap="square" lIns="0" tIns="0" rIns="0" bIns="0" rtlCol="0" anchor="ctr"/>
          <a:lstStyle/>
          <a:p>
            <a:pPr indent="0" marL="0">
              <a:buNone/>
            </a:pPr>
            <a:r>
              <a:rPr lang="pt-BR" altLang="en-US" sz="1150" b="1" dirty="0">
                <a:solidFill>
                  <a:srgbClr val="00ADD8"/>
                </a:solidFill>
                <a:latin typeface="Courier New" pitchFamily="34" charset="0"/>
                <a:ea typeface="Courier New" pitchFamily="34" charset="-122"/>
                <a:cs typeface="Courier New" pitchFamily="34" charset="-120"/>
              </a:rPr>
              <a:t>0x7693…1685</a:t>
            </a:r>
            <a:endParaRPr lang="pt-BR" sz="1150" dirty="0"/>
          </a:p>
        </p:txBody>
      </p:sp>
      <p:sp>
        <p:nvSpPr>
          <p:cNvPr id="17" name="Shape 15"/>
          <p:cNvSpPr/>
          <p:nvPr/>
        </p:nvSpPr>
        <p:spPr>
          <a:xfrm>
            <a:off x="4472788" y="1645920"/>
            <a:ext cx="3246120" cy="2514600"/>
          </a:xfrm>
          <a:prstGeom prst="roundRect">
            <a:avLst>
              <a:gd name="adj" fmla="val 2909"/>
            </a:avLst>
          </a:prstGeom>
          <a:solidFill>
            <a:srgbClr val="1E2328"/>
          </a:solidFill>
          <a:ln w="9525">
            <a:solidFill>
              <a:srgbClr val="1E2328"/>
            </a:solidFill>
            <a:prstDash val="solid"/>
          </a:ln>
        </p:spPr>
      </p:sp>
      <p:sp>
        <p:nvSpPr>
          <p:cNvPr id="18" name="Text 16"/>
          <p:cNvSpPr txBox="1"/>
          <p:nvPr/>
        </p:nvSpPr>
        <p:spPr>
          <a:xfrm>
            <a:off x="4747108" y="1783080"/>
            <a:ext cx="2697480" cy="384048"/>
          </a:xfrm>
          <a:prstGeom prst="rect">
            <a:avLst/>
          </a:prstGeom>
          <a:noFill/>
          <a:ln/>
        </p:spPr>
        <p:txBody>
          <a:bodyPr wrap="square" lIns="0" tIns="0" rIns="0" bIns="0" rtlCol="0" anchor="t"/>
          <a:lstStyle/>
          <a:p>
            <a:pPr indent="0" marL="0">
              <a:buNone/>
            </a:pPr>
            <a:r>
              <a:rPr lang="pt-BR" altLang="en-US" sz="1700" b="1" dirty="0">
                <a:solidFill>
                  <a:srgbClr val="FFFFFF"/>
                </a:solidFill>
                <a:latin typeface="Arial" pitchFamily="34" charset="0"/>
                <a:ea typeface="Arial" pitchFamily="34" charset="-122"/>
                <a:cs typeface="Arial" pitchFamily="34" charset="-120"/>
              </a:rPr>
              <a:t>Bloco #5</a:t>
            </a:r>
            <a:endParaRPr lang="pt-BR" sz="1700" dirty="0"/>
          </a:p>
        </p:txBody>
      </p:sp>
      <p:sp>
        <p:nvSpPr>
          <p:cNvPr id="19" name="Text 17"/>
          <p:cNvSpPr txBox="1"/>
          <p:nvPr/>
        </p:nvSpPr>
        <p:spPr>
          <a:xfrm>
            <a:off x="4747108" y="2286000"/>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prevHash</a:t>
            </a:r>
            <a:endParaRPr lang="pt-BR" sz="1150" dirty="0"/>
          </a:p>
        </p:txBody>
      </p:sp>
      <p:sp>
        <p:nvSpPr>
          <p:cNvPr id="20" name="Text 18"/>
          <p:cNvSpPr txBox="1"/>
          <p:nvPr/>
        </p:nvSpPr>
        <p:spPr>
          <a:xfrm>
            <a:off x="5734660" y="2286000"/>
            <a:ext cx="1828800" cy="310896"/>
          </a:xfrm>
          <a:prstGeom prst="rect">
            <a:avLst/>
          </a:prstGeom>
          <a:noFill/>
          <a:ln/>
        </p:spPr>
        <p:txBody>
          <a:bodyPr wrap="square" lIns="0" tIns="0" rIns="0" bIns="0" rtlCol="0" anchor="ctr"/>
          <a:lstStyle/>
          <a:p>
            <a:pPr indent="0" marL="0">
              <a:buNone/>
            </a:pPr>
            <a:r>
              <a:rPr lang="pt-BR" altLang="en-US" sz="1150" dirty="0">
                <a:solidFill>
                  <a:srgbClr val="00ADD8"/>
                </a:solidFill>
                <a:latin typeface="Courier New" pitchFamily="34" charset="0"/>
                <a:ea typeface="Courier New" pitchFamily="34" charset="-122"/>
                <a:cs typeface="Courier New" pitchFamily="34" charset="-120"/>
              </a:rPr>
              <a:t>0x7693…1685</a:t>
            </a:r>
            <a:endParaRPr lang="pt-BR" sz="1150" dirty="0"/>
          </a:p>
        </p:txBody>
      </p:sp>
      <p:sp>
        <p:nvSpPr>
          <p:cNvPr id="21" name="Text 19"/>
          <p:cNvSpPr txBox="1"/>
          <p:nvPr/>
        </p:nvSpPr>
        <p:spPr>
          <a:xfrm>
            <a:off x="4747108" y="2642616"/>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stateHash</a:t>
            </a:r>
            <a:endParaRPr lang="pt-BR" sz="1150" dirty="0"/>
          </a:p>
        </p:txBody>
      </p:sp>
      <p:sp>
        <p:nvSpPr>
          <p:cNvPr id="22" name="Text 20"/>
          <p:cNvSpPr txBox="1"/>
          <p:nvPr/>
        </p:nvSpPr>
        <p:spPr>
          <a:xfrm>
            <a:off x="5734660" y="2642616"/>
            <a:ext cx="1828800" cy="310896"/>
          </a:xfrm>
          <a:prstGeom prst="rect">
            <a:avLst/>
          </a:prstGeom>
          <a:noFill/>
          <a:ln/>
        </p:spPr>
        <p:txBody>
          <a:bodyPr wrap="square" lIns="0" tIns="0" rIns="0" bIns="0" rtlCol="0" anchor="ctr"/>
          <a:lstStyle/>
          <a:p>
            <a:pPr indent="0" marL="0">
              <a:buNone/>
            </a:pPr>
            <a:r>
              <a:rPr lang="pt-BR" altLang="en-US" sz="1150" dirty="0">
                <a:solidFill>
                  <a:srgbClr val="FFFFFF"/>
                </a:solidFill>
                <a:latin typeface="Courier New" pitchFamily="34" charset="0"/>
                <a:ea typeface="Courier New" pitchFamily="34" charset="-122"/>
                <a:cs typeface="Courier New" pitchFamily="34" charset="-120"/>
              </a:rPr>
              <a:t>0xad7d…c905</a:t>
            </a:r>
            <a:endParaRPr lang="pt-BR" sz="1150" dirty="0"/>
          </a:p>
        </p:txBody>
      </p:sp>
      <p:sp>
        <p:nvSpPr>
          <p:cNvPr id="23" name="Text 21"/>
          <p:cNvSpPr txBox="1"/>
          <p:nvPr/>
        </p:nvSpPr>
        <p:spPr>
          <a:xfrm>
            <a:off x="4747108" y="2999232"/>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tx</a:t>
            </a:r>
            <a:endParaRPr lang="pt-BR" sz="1150" dirty="0"/>
          </a:p>
        </p:txBody>
      </p:sp>
      <p:sp>
        <p:nvSpPr>
          <p:cNvPr id="24" name="Text 22"/>
          <p:cNvSpPr txBox="1"/>
          <p:nvPr/>
        </p:nvSpPr>
        <p:spPr>
          <a:xfrm>
            <a:off x="5734660" y="2999232"/>
            <a:ext cx="1828800" cy="310896"/>
          </a:xfrm>
          <a:prstGeom prst="rect">
            <a:avLst/>
          </a:prstGeom>
          <a:noFill/>
          <a:ln/>
        </p:spPr>
        <p:txBody>
          <a:bodyPr wrap="square" lIns="0" tIns="0" rIns="0" bIns="0" rtlCol="0" anchor="ctr"/>
          <a:lstStyle/>
          <a:p>
            <a:pPr indent="0" marL="0">
              <a:buNone/>
            </a:pPr>
            <a:r>
              <a:rPr lang="pt-BR" altLang="en-US" sz="1150" dirty="0">
                <a:solidFill>
                  <a:srgbClr val="FFFFFF"/>
                </a:solidFill>
                <a:latin typeface="Courier New" pitchFamily="34" charset="0"/>
                <a:ea typeface="Courier New" pitchFamily="34" charset="-122"/>
                <a:cs typeface="Courier New" pitchFamily="34" charset="-120"/>
              </a:rPr>
              <a:t>StartRental  ✓</a:t>
            </a:r>
            <a:endParaRPr lang="pt-BR" sz="1150" dirty="0"/>
          </a:p>
        </p:txBody>
      </p:sp>
      <p:sp>
        <p:nvSpPr>
          <p:cNvPr id="25" name="Text 23"/>
          <p:cNvSpPr txBox="1"/>
          <p:nvPr/>
        </p:nvSpPr>
        <p:spPr>
          <a:xfrm>
            <a:off x="4747108" y="3355848"/>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selado</a:t>
            </a:r>
            <a:endParaRPr lang="pt-BR" sz="1150" dirty="0"/>
          </a:p>
        </p:txBody>
      </p:sp>
      <p:sp>
        <p:nvSpPr>
          <p:cNvPr id="26" name="Text 24"/>
          <p:cNvSpPr txBox="1"/>
          <p:nvPr/>
        </p:nvSpPr>
        <p:spPr>
          <a:xfrm>
            <a:off x="5734660" y="3355848"/>
            <a:ext cx="1828800" cy="310896"/>
          </a:xfrm>
          <a:prstGeom prst="rect">
            <a:avLst/>
          </a:prstGeom>
          <a:noFill/>
          <a:ln/>
        </p:spPr>
        <p:txBody>
          <a:bodyPr wrap="square" lIns="0" tIns="0" rIns="0" bIns="0" rtlCol="0" anchor="ctr"/>
          <a:lstStyle/>
          <a:p>
            <a:pPr indent="0" marL="0">
              <a:buNone/>
            </a:pPr>
            <a:r>
              <a:rPr lang="pt-BR" altLang="en-US" sz="1150" dirty="0">
                <a:solidFill>
                  <a:srgbClr val="FFFFFF"/>
                </a:solidFill>
                <a:latin typeface="Courier New" pitchFamily="34" charset="0"/>
                <a:ea typeface="Courier New" pitchFamily="34" charset="-122"/>
                <a:cs typeface="Courier New" pitchFamily="34" charset="-120"/>
              </a:rPr>
              <a:t>admin (Ed25519)</a:t>
            </a:r>
            <a:endParaRPr lang="pt-BR" sz="1150" dirty="0"/>
          </a:p>
        </p:txBody>
      </p:sp>
      <p:sp>
        <p:nvSpPr>
          <p:cNvPr id="27" name="Text 25"/>
          <p:cNvSpPr txBox="1"/>
          <p:nvPr/>
        </p:nvSpPr>
        <p:spPr>
          <a:xfrm>
            <a:off x="4747108" y="3712464"/>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hash</a:t>
            </a:r>
            <a:endParaRPr lang="pt-BR" sz="1150" dirty="0"/>
          </a:p>
        </p:txBody>
      </p:sp>
      <p:sp>
        <p:nvSpPr>
          <p:cNvPr id="28" name="Text 26"/>
          <p:cNvSpPr txBox="1"/>
          <p:nvPr/>
        </p:nvSpPr>
        <p:spPr>
          <a:xfrm>
            <a:off x="5734660" y="3712464"/>
            <a:ext cx="1828800" cy="310896"/>
          </a:xfrm>
          <a:prstGeom prst="rect">
            <a:avLst/>
          </a:prstGeom>
          <a:noFill/>
          <a:ln/>
        </p:spPr>
        <p:txBody>
          <a:bodyPr wrap="square" lIns="0" tIns="0" rIns="0" bIns="0" rtlCol="0" anchor="ctr"/>
          <a:lstStyle/>
          <a:p>
            <a:pPr indent="0" marL="0">
              <a:buNone/>
            </a:pPr>
            <a:r>
              <a:rPr lang="pt-BR" altLang="en-US" sz="1150" b="1" dirty="0">
                <a:solidFill>
                  <a:srgbClr val="00ADD8"/>
                </a:solidFill>
                <a:latin typeface="Courier New" pitchFamily="34" charset="0"/>
                <a:ea typeface="Courier New" pitchFamily="34" charset="-122"/>
                <a:cs typeface="Courier New" pitchFamily="34" charset="-120"/>
              </a:rPr>
              <a:t>0x889a…ccc5</a:t>
            </a:r>
            <a:endParaRPr lang="pt-BR" sz="1150" dirty="0"/>
          </a:p>
        </p:txBody>
      </p:sp>
      <p:sp>
        <p:nvSpPr>
          <p:cNvPr id="29" name="Shape 27"/>
          <p:cNvSpPr/>
          <p:nvPr/>
        </p:nvSpPr>
        <p:spPr>
          <a:xfrm>
            <a:off x="3849624" y="2651760"/>
            <a:ext cx="568300" cy="0"/>
          </a:xfrm>
          <a:prstGeom prst="line">
            <a:avLst/>
          </a:prstGeom>
          <a:noFill/>
          <a:ln w="25400">
            <a:solidFill>
              <a:srgbClr val="00ADD8"/>
            </a:solidFill>
            <a:prstDash val="solid"/>
            <a:headEnd type="triangle"/>
          </a:ln>
        </p:spPr>
      </p:sp>
      <p:sp>
        <p:nvSpPr>
          <p:cNvPr id="30" name="Shape 28"/>
          <p:cNvSpPr/>
          <p:nvPr/>
        </p:nvSpPr>
        <p:spPr>
          <a:xfrm>
            <a:off x="8396935" y="1645920"/>
            <a:ext cx="3246120" cy="2514600"/>
          </a:xfrm>
          <a:prstGeom prst="roundRect">
            <a:avLst>
              <a:gd name="adj" fmla="val 2909"/>
            </a:avLst>
          </a:prstGeom>
          <a:solidFill>
            <a:srgbClr val="1E2328"/>
          </a:solidFill>
          <a:ln w="9525">
            <a:solidFill>
              <a:srgbClr val="1E2328"/>
            </a:solidFill>
            <a:prstDash val="solid"/>
          </a:ln>
        </p:spPr>
      </p:sp>
      <p:sp>
        <p:nvSpPr>
          <p:cNvPr id="31" name="Text 29"/>
          <p:cNvSpPr txBox="1"/>
          <p:nvPr/>
        </p:nvSpPr>
        <p:spPr>
          <a:xfrm>
            <a:off x="8671255" y="1783080"/>
            <a:ext cx="2697480" cy="384048"/>
          </a:xfrm>
          <a:prstGeom prst="rect">
            <a:avLst/>
          </a:prstGeom>
          <a:noFill/>
          <a:ln/>
        </p:spPr>
        <p:txBody>
          <a:bodyPr wrap="square" lIns="0" tIns="0" rIns="0" bIns="0" rtlCol="0" anchor="t"/>
          <a:lstStyle/>
          <a:p>
            <a:pPr indent="0" marL="0">
              <a:buNone/>
            </a:pPr>
            <a:r>
              <a:rPr lang="pt-BR" altLang="en-US" sz="1700" b="1" dirty="0">
                <a:solidFill>
                  <a:srgbClr val="FFFFFF"/>
                </a:solidFill>
                <a:latin typeface="Arial" pitchFamily="34" charset="0"/>
                <a:ea typeface="Arial" pitchFamily="34" charset="-122"/>
                <a:cs typeface="Arial" pitchFamily="34" charset="-120"/>
              </a:rPr>
              <a:t>Bloco #6</a:t>
            </a:r>
            <a:endParaRPr lang="pt-BR" sz="1700" dirty="0"/>
          </a:p>
        </p:txBody>
      </p:sp>
      <p:sp>
        <p:nvSpPr>
          <p:cNvPr id="32" name="Text 30"/>
          <p:cNvSpPr txBox="1"/>
          <p:nvPr/>
        </p:nvSpPr>
        <p:spPr>
          <a:xfrm>
            <a:off x="8671255" y="2286000"/>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prevHash</a:t>
            </a:r>
            <a:endParaRPr lang="pt-BR" sz="1150" dirty="0"/>
          </a:p>
        </p:txBody>
      </p:sp>
      <p:sp>
        <p:nvSpPr>
          <p:cNvPr id="33" name="Text 31"/>
          <p:cNvSpPr txBox="1"/>
          <p:nvPr/>
        </p:nvSpPr>
        <p:spPr>
          <a:xfrm>
            <a:off x="9658807" y="2286000"/>
            <a:ext cx="1828800" cy="310896"/>
          </a:xfrm>
          <a:prstGeom prst="rect">
            <a:avLst/>
          </a:prstGeom>
          <a:noFill/>
          <a:ln/>
        </p:spPr>
        <p:txBody>
          <a:bodyPr wrap="square" lIns="0" tIns="0" rIns="0" bIns="0" rtlCol="0" anchor="ctr"/>
          <a:lstStyle/>
          <a:p>
            <a:pPr indent="0" marL="0">
              <a:buNone/>
            </a:pPr>
            <a:r>
              <a:rPr lang="pt-BR" altLang="en-US" sz="1150" dirty="0">
                <a:solidFill>
                  <a:srgbClr val="00ADD8"/>
                </a:solidFill>
                <a:latin typeface="Courier New" pitchFamily="34" charset="0"/>
                <a:ea typeface="Courier New" pitchFamily="34" charset="-122"/>
                <a:cs typeface="Courier New" pitchFamily="34" charset="-120"/>
              </a:rPr>
              <a:t>0x889a…ccc5</a:t>
            </a:r>
            <a:endParaRPr lang="pt-BR" sz="1150" dirty="0"/>
          </a:p>
        </p:txBody>
      </p:sp>
      <p:sp>
        <p:nvSpPr>
          <p:cNvPr id="34" name="Text 32"/>
          <p:cNvSpPr txBox="1"/>
          <p:nvPr/>
        </p:nvSpPr>
        <p:spPr>
          <a:xfrm>
            <a:off x="8671255" y="2642616"/>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stateHash</a:t>
            </a:r>
            <a:endParaRPr lang="pt-BR" sz="1150" dirty="0"/>
          </a:p>
        </p:txBody>
      </p:sp>
      <p:sp>
        <p:nvSpPr>
          <p:cNvPr id="35" name="Text 33"/>
          <p:cNvSpPr txBox="1"/>
          <p:nvPr/>
        </p:nvSpPr>
        <p:spPr>
          <a:xfrm>
            <a:off x="9658807" y="2642616"/>
            <a:ext cx="1828800" cy="310896"/>
          </a:xfrm>
          <a:prstGeom prst="rect">
            <a:avLst/>
          </a:prstGeom>
          <a:noFill/>
          <a:ln/>
        </p:spPr>
        <p:txBody>
          <a:bodyPr wrap="square" lIns="0" tIns="0" rIns="0" bIns="0" rtlCol="0" anchor="ctr"/>
          <a:lstStyle/>
          <a:p>
            <a:pPr indent="0" marL="0">
              <a:buNone/>
            </a:pPr>
            <a:r>
              <a:rPr lang="pt-BR" altLang="en-US" sz="1150" dirty="0">
                <a:solidFill>
                  <a:srgbClr val="F2A900"/>
                </a:solidFill>
                <a:latin typeface="Courier New" pitchFamily="34" charset="0"/>
                <a:ea typeface="Courier New" pitchFamily="34" charset="-122"/>
                <a:cs typeface="Courier New" pitchFamily="34" charset="-120"/>
              </a:rPr>
              <a:t>0xad7d…c905</a:t>
            </a:r>
            <a:endParaRPr lang="pt-BR" sz="1150" dirty="0"/>
          </a:p>
        </p:txBody>
      </p:sp>
      <p:sp>
        <p:nvSpPr>
          <p:cNvPr id="36" name="Text 34"/>
          <p:cNvSpPr txBox="1"/>
          <p:nvPr/>
        </p:nvSpPr>
        <p:spPr>
          <a:xfrm>
            <a:off x="8671255" y="2999232"/>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tx</a:t>
            </a:r>
            <a:endParaRPr lang="pt-BR" sz="1150" dirty="0"/>
          </a:p>
        </p:txBody>
      </p:sp>
      <p:sp>
        <p:nvSpPr>
          <p:cNvPr id="37" name="Text 35"/>
          <p:cNvSpPr txBox="1"/>
          <p:nvPr/>
        </p:nvSpPr>
        <p:spPr>
          <a:xfrm>
            <a:off x="9658807" y="2999232"/>
            <a:ext cx="1828800" cy="310896"/>
          </a:xfrm>
          <a:prstGeom prst="rect">
            <a:avLst/>
          </a:prstGeom>
          <a:noFill/>
          <a:ln/>
        </p:spPr>
        <p:txBody>
          <a:bodyPr wrap="square" lIns="0" tIns="0" rIns="0" bIns="0" rtlCol="0" anchor="ctr"/>
          <a:lstStyle/>
          <a:p>
            <a:pPr indent="0" marL="0">
              <a:buNone/>
            </a:pPr>
            <a:r>
              <a:rPr lang="pt-BR" altLang="en-US" sz="1150" dirty="0">
                <a:solidFill>
                  <a:srgbClr val="FF8A7A"/>
                </a:solidFill>
                <a:latin typeface="Courier New" pitchFamily="34" charset="0"/>
                <a:ea typeface="Courier New" pitchFamily="34" charset="-122"/>
                <a:cs typeface="Courier New" pitchFamily="34" charset="-120"/>
              </a:rPr>
              <a:t>StartRental  ✕</a:t>
            </a:r>
            <a:endParaRPr lang="pt-BR" sz="1150" dirty="0"/>
          </a:p>
        </p:txBody>
      </p:sp>
      <p:sp>
        <p:nvSpPr>
          <p:cNvPr id="38" name="Text 36"/>
          <p:cNvSpPr txBox="1"/>
          <p:nvPr/>
        </p:nvSpPr>
        <p:spPr>
          <a:xfrm>
            <a:off x="8671255" y="3355848"/>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selado</a:t>
            </a:r>
            <a:endParaRPr lang="pt-BR" sz="1150" dirty="0"/>
          </a:p>
        </p:txBody>
      </p:sp>
      <p:sp>
        <p:nvSpPr>
          <p:cNvPr id="39" name="Text 37"/>
          <p:cNvSpPr txBox="1"/>
          <p:nvPr/>
        </p:nvSpPr>
        <p:spPr>
          <a:xfrm>
            <a:off x="9658807" y="3355848"/>
            <a:ext cx="1828800" cy="310896"/>
          </a:xfrm>
          <a:prstGeom prst="rect">
            <a:avLst/>
          </a:prstGeom>
          <a:noFill/>
          <a:ln/>
        </p:spPr>
        <p:txBody>
          <a:bodyPr wrap="square" lIns="0" tIns="0" rIns="0" bIns="0" rtlCol="0" anchor="ctr"/>
          <a:lstStyle/>
          <a:p>
            <a:pPr indent="0" marL="0">
              <a:buNone/>
            </a:pPr>
            <a:r>
              <a:rPr lang="pt-BR" altLang="en-US" sz="1150" dirty="0">
                <a:solidFill>
                  <a:srgbClr val="FFFFFF"/>
                </a:solidFill>
                <a:latin typeface="Courier New" pitchFamily="34" charset="0"/>
                <a:ea typeface="Courier New" pitchFamily="34" charset="-122"/>
                <a:cs typeface="Courier New" pitchFamily="34" charset="-120"/>
              </a:rPr>
              <a:t>admin (Ed25519)</a:t>
            </a:r>
            <a:endParaRPr lang="pt-BR" sz="1150" dirty="0"/>
          </a:p>
        </p:txBody>
      </p:sp>
      <p:sp>
        <p:nvSpPr>
          <p:cNvPr id="40" name="Text 38"/>
          <p:cNvSpPr txBox="1"/>
          <p:nvPr/>
        </p:nvSpPr>
        <p:spPr>
          <a:xfrm>
            <a:off x="8671255" y="3712464"/>
            <a:ext cx="960120" cy="310896"/>
          </a:xfrm>
          <a:prstGeom prst="rect">
            <a:avLst/>
          </a:prstGeom>
          <a:noFill/>
          <a:ln/>
        </p:spPr>
        <p:txBody>
          <a:bodyPr wrap="square" lIns="0" tIns="0" rIns="0" bIns="0" rtlCol="0" anchor="ctr"/>
          <a:lstStyle/>
          <a:p>
            <a:pPr indent="0" marL="0">
              <a:buNone/>
            </a:pPr>
            <a:r>
              <a:rPr lang="pt-BR" altLang="en-US" sz="1150" dirty="0">
                <a:solidFill>
                  <a:srgbClr val="8B96A1"/>
                </a:solidFill>
                <a:latin typeface="Courier New" pitchFamily="34" charset="0"/>
                <a:ea typeface="Courier New" pitchFamily="34" charset="-122"/>
                <a:cs typeface="Courier New" pitchFamily="34" charset="-120"/>
              </a:rPr>
              <a:t>hash</a:t>
            </a:r>
            <a:endParaRPr lang="pt-BR" sz="1150" dirty="0"/>
          </a:p>
        </p:txBody>
      </p:sp>
      <p:sp>
        <p:nvSpPr>
          <p:cNvPr id="41" name="Text 39"/>
          <p:cNvSpPr txBox="1"/>
          <p:nvPr/>
        </p:nvSpPr>
        <p:spPr>
          <a:xfrm>
            <a:off x="9658807" y="3712464"/>
            <a:ext cx="1828800" cy="310896"/>
          </a:xfrm>
          <a:prstGeom prst="rect">
            <a:avLst/>
          </a:prstGeom>
          <a:noFill/>
          <a:ln/>
        </p:spPr>
        <p:txBody>
          <a:bodyPr wrap="square" lIns="0" tIns="0" rIns="0" bIns="0" rtlCol="0" anchor="ctr"/>
          <a:lstStyle/>
          <a:p>
            <a:pPr indent="0" marL="0">
              <a:buNone/>
            </a:pPr>
            <a:r>
              <a:rPr lang="pt-BR" altLang="en-US" sz="1150" b="1" dirty="0">
                <a:solidFill>
                  <a:srgbClr val="00ADD8"/>
                </a:solidFill>
                <a:latin typeface="Courier New" pitchFamily="34" charset="0"/>
                <a:ea typeface="Courier New" pitchFamily="34" charset="-122"/>
                <a:cs typeface="Courier New" pitchFamily="34" charset="-120"/>
              </a:rPr>
              <a:t>0x0d30…0b9d</a:t>
            </a:r>
            <a:endParaRPr lang="pt-BR" sz="1150" dirty="0"/>
          </a:p>
        </p:txBody>
      </p:sp>
      <p:sp>
        <p:nvSpPr>
          <p:cNvPr id="42" name="Shape 40"/>
          <p:cNvSpPr/>
          <p:nvPr/>
        </p:nvSpPr>
        <p:spPr>
          <a:xfrm>
            <a:off x="7773772" y="2651760"/>
            <a:ext cx="568300" cy="0"/>
          </a:xfrm>
          <a:prstGeom prst="line">
            <a:avLst/>
          </a:prstGeom>
          <a:noFill/>
          <a:ln w="25400">
            <a:solidFill>
              <a:srgbClr val="00ADD8"/>
            </a:solidFill>
            <a:prstDash val="solid"/>
            <a:headEnd type="triangle"/>
          </a:ln>
        </p:spPr>
      </p:sp>
      <p:sp>
        <p:nvSpPr>
          <p:cNvPr id="43" name="Text 41"/>
          <p:cNvSpPr txBox="1"/>
          <p:nvPr/>
        </p:nvSpPr>
        <p:spPr>
          <a:xfrm>
            <a:off x="548640" y="4297680"/>
            <a:ext cx="11094415" cy="365760"/>
          </a:xfrm>
          <a:prstGeom prst="rect">
            <a:avLst/>
          </a:prstGeom>
          <a:noFill/>
          <a:ln/>
        </p:spPr>
        <p:txBody>
          <a:bodyPr wrap="square" lIns="0" tIns="0" rIns="0" bIns="0" rtlCol="0" anchor="t"/>
          <a:lstStyle/>
          <a:p>
            <a:pPr indent="0" marL="0">
              <a:buNone/>
            </a:pPr>
            <a:r>
              <a:rPr lang="pt-BR" altLang="en-US" sz="1400" b="1" dirty="0">
                <a:solidFill>
                  <a:srgbClr val="1E2328"/>
                </a:solidFill>
                <a:latin typeface="Calibri" pitchFamily="34" charset="0"/>
                <a:ea typeface="Calibri" pitchFamily="34" charset="-122"/>
                <a:cs typeface="Calibri" pitchFamily="34" charset="-120"/>
              </a:rPr>
              <a:t>O bloco #6 guardou uma transação rejeitada, </a:t>
            </a:r>
            <a:pPr indent="0" marL="0">
              <a:buNone/>
            </a:pPr>
            <a:r>
              <a:rPr lang="pt-BR" altLang="en-US" sz="1400" dirty="0">
                <a:solidFill>
                  <a:srgbClr val="1E2328"/>
                </a:solidFill>
                <a:latin typeface="Calibri" pitchFamily="34" charset="0"/>
                <a:ea typeface="Calibri" pitchFamily="34" charset="-122"/>
                <a:cs typeface="Calibri" pitchFamily="34" charset="-120"/>
              </a:rPr>
              <a:t>então seu stateHash é igual ao do bloco #5: nada mudou, mas a tentativa está na cadeia.</a:t>
            </a:r>
            <a:endParaRPr lang="pt-BR" sz="1400" dirty="0"/>
          </a:p>
        </p:txBody>
      </p:sp>
      <p:sp>
        <p:nvSpPr>
          <p:cNvPr id="44" name="Shape 42"/>
          <p:cNvSpPr/>
          <p:nvPr/>
        </p:nvSpPr>
        <p:spPr>
          <a:xfrm>
            <a:off x="548640" y="4892040"/>
            <a:ext cx="566928" cy="566928"/>
          </a:xfrm>
          <a:prstGeom prst="ellipse">
            <a:avLst/>
          </a:prstGeom>
          <a:solidFill>
            <a:srgbClr val="007D9C"/>
          </a:solidFill>
          <a:ln w="9525">
            <a:solidFill>
              <a:srgbClr val="007D9C"/>
            </a:solidFill>
            <a:prstDash val="solid"/>
          </a:ln>
        </p:spPr>
      </p:sp>
      <p:pic>
        <p:nvPicPr>
          <p:cNvPr id="45" name="Image 0" descr="preencoded.png">    </p:cNvPr>
          <p:cNvPicPr>
            <a:picLocks noChangeAspect="1"/>
          </p:cNvPicPr>
          <p:nvPr/>
        </p:nvPicPr>
        <p:blipFill>
          <a:blip r:embed="rId1"/>
          <a:stretch>
            <a:fillRect/>
          </a:stretch>
        </p:blipFill>
        <p:spPr>
          <a:xfrm>
            <a:off x="684703" y="5028103"/>
            <a:ext cx="294803" cy="294803"/>
          </a:xfrm>
          <a:prstGeom prst="rect">
            <a:avLst/>
          </a:prstGeom>
        </p:spPr>
      </p:pic>
      <p:sp>
        <p:nvSpPr>
          <p:cNvPr id="46" name="Text 43"/>
          <p:cNvSpPr txBox="1"/>
          <p:nvPr/>
        </p:nvSpPr>
        <p:spPr>
          <a:xfrm>
            <a:off x="1280160" y="4873752"/>
            <a:ext cx="2753258" cy="329184"/>
          </a:xfrm>
          <a:prstGeom prst="rect">
            <a:avLst/>
          </a:prstGeom>
          <a:noFill/>
          <a:ln/>
        </p:spPr>
        <p:txBody>
          <a:bodyPr wrap="square" lIns="0" tIns="0" rIns="0" bIns="0" rtlCol="0" anchor="t"/>
          <a:lstStyle/>
          <a:p>
            <a:pPr indent="0" marL="0">
              <a:buNone/>
            </a:pPr>
            <a:r>
              <a:rPr lang="pt-BR" altLang="en-US" sz="1500" b="1" dirty="0">
                <a:solidFill>
                  <a:srgbClr val="1E2328"/>
                </a:solidFill>
                <a:latin typeface="Arial" pitchFamily="34" charset="0"/>
                <a:ea typeface="Arial" pitchFamily="34" charset="-122"/>
                <a:cs typeface="Arial" pitchFamily="34" charset="-120"/>
              </a:rPr>
              <a:t>Encadeados por hash</a:t>
            </a:r>
            <a:endParaRPr lang="pt-BR" sz="1500" dirty="0"/>
          </a:p>
        </p:txBody>
      </p:sp>
      <p:sp>
        <p:nvSpPr>
          <p:cNvPr id="47" name="Text 44"/>
          <p:cNvSpPr txBox="1"/>
          <p:nvPr/>
        </p:nvSpPr>
        <p:spPr>
          <a:xfrm>
            <a:off x="1280160" y="5230368"/>
            <a:ext cx="2753258" cy="86868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Cada bloco guarda o hash do anterior; alterar um bloco quebra todos os elos seguintes.</a:t>
            </a:r>
            <a:endParaRPr lang="pt-BR" sz="1300" dirty="0"/>
          </a:p>
        </p:txBody>
      </p:sp>
      <p:sp>
        <p:nvSpPr>
          <p:cNvPr id="48" name="Shape 45"/>
          <p:cNvSpPr/>
          <p:nvPr/>
        </p:nvSpPr>
        <p:spPr>
          <a:xfrm>
            <a:off x="4353458" y="4892040"/>
            <a:ext cx="566928" cy="566928"/>
          </a:xfrm>
          <a:prstGeom prst="ellipse">
            <a:avLst/>
          </a:prstGeom>
          <a:solidFill>
            <a:srgbClr val="007D9C"/>
          </a:solidFill>
          <a:ln w="9525">
            <a:solidFill>
              <a:srgbClr val="007D9C"/>
            </a:solidFill>
            <a:prstDash val="solid"/>
          </a:ln>
        </p:spPr>
      </p:sp>
      <p:pic>
        <p:nvPicPr>
          <p:cNvPr id="49" name="Image 1" descr="preencoded.png">    </p:cNvPr>
          <p:cNvPicPr>
            <a:picLocks noChangeAspect="1"/>
          </p:cNvPicPr>
          <p:nvPr/>
        </p:nvPicPr>
        <p:blipFill>
          <a:blip r:embed="rId2"/>
          <a:stretch>
            <a:fillRect/>
          </a:stretch>
        </p:blipFill>
        <p:spPr>
          <a:xfrm>
            <a:off x="4489521" y="5028103"/>
            <a:ext cx="294803" cy="294803"/>
          </a:xfrm>
          <a:prstGeom prst="rect">
            <a:avLst/>
          </a:prstGeom>
        </p:spPr>
      </p:pic>
      <p:sp>
        <p:nvSpPr>
          <p:cNvPr id="50" name="Text 46"/>
          <p:cNvSpPr txBox="1"/>
          <p:nvPr/>
        </p:nvSpPr>
        <p:spPr>
          <a:xfrm>
            <a:off x="5084978" y="4873752"/>
            <a:ext cx="2753258" cy="329184"/>
          </a:xfrm>
          <a:prstGeom prst="rect">
            <a:avLst/>
          </a:prstGeom>
          <a:noFill/>
          <a:ln/>
        </p:spPr>
        <p:txBody>
          <a:bodyPr wrap="square" lIns="0" tIns="0" rIns="0" bIns="0" rtlCol="0" anchor="t"/>
          <a:lstStyle/>
          <a:p>
            <a:pPr indent="0" marL="0">
              <a:buNone/>
            </a:pPr>
            <a:r>
              <a:rPr lang="pt-BR" altLang="en-US" sz="1500" b="1" dirty="0">
                <a:solidFill>
                  <a:srgbClr val="1E2328"/>
                </a:solidFill>
                <a:latin typeface="Arial" pitchFamily="34" charset="0"/>
                <a:ea typeface="Arial" pitchFamily="34" charset="-122"/>
                <a:cs typeface="Arial" pitchFamily="34" charset="-120"/>
              </a:rPr>
              <a:t>Selados</a:t>
            </a:r>
            <a:endParaRPr lang="pt-BR" sz="1500" dirty="0"/>
          </a:p>
        </p:txBody>
      </p:sp>
      <p:sp>
        <p:nvSpPr>
          <p:cNvPr id="51" name="Text 47"/>
          <p:cNvSpPr txBox="1"/>
          <p:nvPr/>
        </p:nvSpPr>
        <p:spPr>
          <a:xfrm>
            <a:off x="5084978" y="5230368"/>
            <a:ext cx="2753258" cy="86868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O validador assina o hash de cada bloco: prova de autoridade com um único validador.</a:t>
            </a:r>
            <a:endParaRPr lang="pt-BR" sz="1300" dirty="0"/>
          </a:p>
        </p:txBody>
      </p:sp>
      <p:sp>
        <p:nvSpPr>
          <p:cNvPr id="52" name="Shape 48"/>
          <p:cNvSpPr/>
          <p:nvPr/>
        </p:nvSpPr>
        <p:spPr>
          <a:xfrm>
            <a:off x="8158277" y="4892040"/>
            <a:ext cx="566928" cy="566928"/>
          </a:xfrm>
          <a:prstGeom prst="ellipse">
            <a:avLst/>
          </a:prstGeom>
          <a:solidFill>
            <a:srgbClr val="007D9C"/>
          </a:solidFill>
          <a:ln w="9525">
            <a:solidFill>
              <a:srgbClr val="007D9C"/>
            </a:solidFill>
            <a:prstDash val="solid"/>
          </a:ln>
        </p:spPr>
      </p:sp>
      <p:pic>
        <p:nvPicPr>
          <p:cNvPr id="53" name="Image 2" descr="preencoded.png">    </p:cNvPr>
          <p:cNvPicPr>
            <a:picLocks noChangeAspect="1"/>
          </p:cNvPicPr>
          <p:nvPr/>
        </p:nvPicPr>
        <p:blipFill>
          <a:blip r:embed="rId3"/>
          <a:stretch>
            <a:fillRect/>
          </a:stretch>
        </p:blipFill>
        <p:spPr>
          <a:xfrm>
            <a:off x="8294340" y="5028103"/>
            <a:ext cx="294803" cy="294803"/>
          </a:xfrm>
          <a:prstGeom prst="rect">
            <a:avLst/>
          </a:prstGeom>
        </p:spPr>
      </p:pic>
      <p:sp>
        <p:nvSpPr>
          <p:cNvPr id="54" name="Text 49"/>
          <p:cNvSpPr txBox="1"/>
          <p:nvPr/>
        </p:nvSpPr>
        <p:spPr>
          <a:xfrm>
            <a:off x="8889797" y="4873752"/>
            <a:ext cx="2753258" cy="329184"/>
          </a:xfrm>
          <a:prstGeom prst="rect">
            <a:avLst/>
          </a:prstGeom>
          <a:noFill/>
          <a:ln/>
        </p:spPr>
        <p:txBody>
          <a:bodyPr wrap="square" lIns="0" tIns="0" rIns="0" bIns="0" rtlCol="0" anchor="t"/>
          <a:lstStyle/>
          <a:p>
            <a:pPr indent="0" marL="0">
              <a:buNone/>
            </a:pPr>
            <a:r>
              <a:rPr lang="pt-BR" altLang="en-US" sz="1500" b="1" dirty="0">
                <a:solidFill>
                  <a:srgbClr val="1E2328"/>
                </a:solidFill>
                <a:latin typeface="Arial" pitchFamily="34" charset="0"/>
                <a:ea typeface="Arial" pitchFamily="34" charset="-122"/>
                <a:cs typeface="Arial" pitchFamily="34" charset="-120"/>
              </a:rPr>
              <a:t>Reexecutados ao reiniciar</a:t>
            </a:r>
            <a:endParaRPr lang="pt-BR" sz="1500" dirty="0"/>
          </a:p>
        </p:txBody>
      </p:sp>
      <p:sp>
        <p:nvSpPr>
          <p:cNvPr id="55" name="Text 50"/>
          <p:cNvSpPr txBox="1"/>
          <p:nvPr/>
        </p:nvSpPr>
        <p:spPr>
          <a:xfrm>
            <a:off x="8889797" y="5230368"/>
            <a:ext cx="2753258" cy="86868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O nó reexecuta seu log. Args editados, um bloco removido ou um recibo reescrito são recusados.</a:t>
            </a:r>
            <a:endParaRPr lang="pt-BR"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03 · TOKENIZAÇÃO</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O que é tokenização?</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11</a:t>
            </a:r>
            <a:endParaRPr lang="pt-BR" sz="1000" dirty="0"/>
          </a:p>
        </p:txBody>
      </p:sp>
      <p:sp>
        <p:nvSpPr>
          <p:cNvPr id="5" name="Text 3"/>
          <p:cNvSpPr txBox="1"/>
          <p:nvPr/>
        </p:nvSpPr>
        <p:spPr>
          <a:xfrm>
            <a:off x="548640" y="1645920"/>
            <a:ext cx="6309360" cy="1188720"/>
          </a:xfrm>
          <a:prstGeom prst="rect">
            <a:avLst/>
          </a:prstGeom>
          <a:noFill/>
          <a:ln/>
        </p:spPr>
        <p:txBody>
          <a:bodyPr wrap="square" lIns="0" tIns="0" rIns="0" bIns="0" rtlCol="0" anchor="t"/>
          <a:lstStyle/>
          <a:p>
            <a:pPr indent="0" marL="0">
              <a:buNone/>
            </a:pPr>
            <a:r>
              <a:rPr lang="pt-BR" altLang="en-US" sz="1800" b="1" dirty="0">
                <a:solidFill>
                  <a:srgbClr val="1E2328"/>
                </a:solidFill>
                <a:latin typeface="Calibri" pitchFamily="34" charset="0"/>
                <a:ea typeface="Calibri" pitchFamily="34" charset="-122"/>
                <a:cs typeface="Calibri" pitchFamily="34" charset="-120"/>
              </a:rPr>
              <a:t>Tokenizar é representar um ativo ou um direito como um registro num livro-razão compartilhado, que pode ser detido, transferido e bloqueado por regras que todos os nós aplicam.</a:t>
            </a:r>
            <a:endParaRPr lang="pt-BR" sz="1800" dirty="0"/>
          </a:p>
        </p:txBody>
      </p:sp>
      <p:sp>
        <p:nvSpPr>
          <p:cNvPr id="6" name="Shape 4"/>
          <p:cNvSpPr/>
          <p:nvPr/>
        </p:nvSpPr>
        <p:spPr>
          <a:xfrm>
            <a:off x="548640" y="3017520"/>
            <a:ext cx="640080" cy="640080"/>
          </a:xfrm>
          <a:prstGeom prst="ellipse">
            <a:avLst/>
          </a:prstGeom>
          <a:solidFill>
            <a:srgbClr val="F2A900"/>
          </a:solidFill>
          <a:ln w="9525">
            <a:solidFill>
              <a:srgbClr val="F2A900"/>
            </a:solidFill>
            <a:prstDash val="solid"/>
          </a:ln>
        </p:spPr>
      </p:sp>
      <p:pic>
        <p:nvPicPr>
          <p:cNvPr id="7" name="Image 0" descr="preencoded.png">    </p:cNvPr>
          <p:cNvPicPr>
            <a:picLocks noChangeAspect="1"/>
          </p:cNvPicPr>
          <p:nvPr/>
        </p:nvPicPr>
        <p:blipFill>
          <a:blip r:embed="rId1"/>
          <a:stretch>
            <a:fillRect/>
          </a:stretch>
        </p:blipFill>
        <p:spPr>
          <a:xfrm>
            <a:off x="702259" y="3171139"/>
            <a:ext cx="332842" cy="332842"/>
          </a:xfrm>
          <a:prstGeom prst="rect">
            <a:avLst/>
          </a:prstGeom>
        </p:spPr>
      </p:pic>
      <p:sp>
        <p:nvSpPr>
          <p:cNvPr id="8" name="Text 5"/>
          <p:cNvSpPr txBox="1"/>
          <p:nvPr/>
        </p:nvSpPr>
        <p:spPr>
          <a:xfrm>
            <a:off x="1417320" y="2999232"/>
            <a:ext cx="5440680" cy="310896"/>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Fungível</a:t>
            </a:r>
            <a:endParaRPr lang="pt-BR" sz="1600" dirty="0"/>
          </a:p>
        </p:txBody>
      </p:sp>
      <p:sp>
        <p:nvSpPr>
          <p:cNvPr id="9" name="Text 6"/>
          <p:cNvSpPr txBox="1"/>
          <p:nvPr/>
        </p:nvSpPr>
        <p:spPr>
          <a:xfrm>
            <a:off x="1417320" y="3319272"/>
            <a:ext cx="5440680" cy="36576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Unidades intercambiáveis: um token de depósito vale o mesmo que outro. Oferta: muitos.</a:t>
            </a:r>
            <a:endParaRPr lang="pt-BR" sz="1400" dirty="0"/>
          </a:p>
        </p:txBody>
      </p:sp>
      <p:sp>
        <p:nvSpPr>
          <p:cNvPr id="10" name="Shape 7"/>
          <p:cNvSpPr/>
          <p:nvPr/>
        </p:nvSpPr>
        <p:spPr>
          <a:xfrm>
            <a:off x="548640" y="3931920"/>
            <a:ext cx="640080" cy="640080"/>
          </a:xfrm>
          <a:prstGeom prst="ellipse">
            <a:avLst/>
          </a:prstGeom>
          <a:solidFill>
            <a:srgbClr val="007D9C"/>
          </a:solidFill>
          <a:ln w="9525">
            <a:solidFill>
              <a:srgbClr val="007D9C"/>
            </a:solidFill>
            <a:prstDash val="solid"/>
          </a:ln>
        </p:spPr>
      </p:sp>
      <p:pic>
        <p:nvPicPr>
          <p:cNvPr id="11" name="Image 1" descr="preencoded.png">    </p:cNvPr>
          <p:cNvPicPr>
            <a:picLocks noChangeAspect="1"/>
          </p:cNvPicPr>
          <p:nvPr/>
        </p:nvPicPr>
        <p:blipFill>
          <a:blip r:embed="rId2"/>
          <a:stretch>
            <a:fillRect/>
          </a:stretch>
        </p:blipFill>
        <p:spPr>
          <a:xfrm>
            <a:off x="702259" y="4085539"/>
            <a:ext cx="332842" cy="332842"/>
          </a:xfrm>
          <a:prstGeom prst="rect">
            <a:avLst/>
          </a:prstGeom>
        </p:spPr>
      </p:pic>
      <p:sp>
        <p:nvSpPr>
          <p:cNvPr id="12" name="Text 8"/>
          <p:cNvSpPr txBox="1"/>
          <p:nvPr/>
        </p:nvSpPr>
        <p:spPr>
          <a:xfrm>
            <a:off x="1417320" y="3913632"/>
            <a:ext cx="5440680" cy="310896"/>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Não fungível</a:t>
            </a:r>
            <a:endParaRPr lang="pt-BR" sz="1600" dirty="0"/>
          </a:p>
        </p:txBody>
      </p:sp>
      <p:sp>
        <p:nvSpPr>
          <p:cNvPr id="13" name="Text 9"/>
          <p:cNvSpPr txBox="1"/>
          <p:nvPr/>
        </p:nvSpPr>
        <p:spPr>
          <a:xfrm>
            <a:off x="1417320" y="4233672"/>
            <a:ext cx="5440680" cy="365760"/>
          </a:xfrm>
          <a:prstGeom prst="rect">
            <a:avLst/>
          </a:prstGeom>
          <a:noFill/>
          <a:ln/>
        </p:spPr>
        <p:txBody>
          <a:bodyPr wrap="square" lIns="0" tIns="0" rIns="0" bIns="0" rtlCol="0" anchor="t"/>
          <a:lstStyle/>
          <a:p>
            <a:pPr indent="0" marL="0">
              <a:buNone/>
            </a:pPr>
            <a:r>
              <a:rPr lang="pt-BR" altLang="en-US" sz="1400" dirty="0">
                <a:solidFill>
                  <a:srgbClr val="5F6B76"/>
                </a:solidFill>
                <a:latin typeface="Calibri" pitchFamily="34" charset="0"/>
                <a:ea typeface="Calibri" pitchFamily="34" charset="-122"/>
                <a:cs typeface="Calibri" pitchFamily="34" charset="-120"/>
              </a:rPr>
              <a:t>Itens únicos, com oferta de um: este carro, este relógio.</a:t>
            </a:r>
            <a:endParaRPr lang="pt-BR" sz="1400" dirty="0"/>
          </a:p>
        </p:txBody>
      </p:sp>
      <p:sp>
        <p:nvSpPr>
          <p:cNvPr id="14" name="Shape 10"/>
          <p:cNvSpPr/>
          <p:nvPr/>
        </p:nvSpPr>
        <p:spPr>
          <a:xfrm>
            <a:off x="548640" y="4937760"/>
            <a:ext cx="6309360" cy="1188720"/>
          </a:xfrm>
          <a:prstGeom prst="roundRect">
            <a:avLst>
              <a:gd name="adj" fmla="val 6154"/>
            </a:avLst>
          </a:prstGeom>
          <a:solidFill>
            <a:srgbClr val="FFF4D6"/>
          </a:solidFill>
          <a:ln w="9525">
            <a:solidFill>
              <a:srgbClr val="FFF4D6"/>
            </a:solidFill>
            <a:prstDash val="solid"/>
          </a:ln>
        </p:spPr>
      </p:sp>
      <p:sp>
        <p:nvSpPr>
          <p:cNvPr id="15" name="Text 11"/>
          <p:cNvSpPr txBox="1"/>
          <p:nvPr/>
        </p:nvSpPr>
        <p:spPr>
          <a:xfrm>
            <a:off x="822960" y="5047488"/>
            <a:ext cx="5760720" cy="1005840"/>
          </a:xfrm>
          <a:prstGeom prst="rect">
            <a:avLst/>
          </a:prstGeom>
          <a:noFill/>
          <a:ln/>
        </p:spPr>
        <p:txBody>
          <a:bodyPr wrap="square" lIns="0" tIns="0" rIns="0" bIns="0" rtlCol="0" anchor="t"/>
          <a:lstStyle/>
          <a:p>
            <a:pPr indent="0" marL="0">
              <a:buNone/>
            </a:pPr>
            <a:r>
              <a:rPr lang="pt-BR" altLang="en-US" sz="1400" b="1" dirty="0">
                <a:solidFill>
                  <a:srgbClr val="1E2328"/>
                </a:solidFill>
                <a:latin typeface="Calibri" pitchFamily="34" charset="0"/>
                <a:ea typeface="Calibri" pitchFamily="34" charset="-122"/>
                <a:cs typeface="Calibri" pitchFamily="34" charset="-120"/>
              </a:rPr>
              <a:t>Um token registra um direito, não o objeto. </a:t>
            </a:r>
            <a:pPr indent="0" marL="0">
              <a:buNone/>
            </a:pPr>
            <a:r>
              <a:rPr lang="pt-BR" altLang="en-US" sz="1400" dirty="0">
                <a:solidFill>
                  <a:srgbClr val="1E2328"/>
                </a:solidFill>
                <a:latin typeface="Calibri" pitchFamily="34" charset="0"/>
                <a:ea typeface="Calibri" pitchFamily="34" charset="-122"/>
                <a:cs typeface="Calibri" pitchFamily="34" charset="-120"/>
              </a:rPr>
              <a:t>Ele vale plenamente para registros puros, como um cadastro ou um saldo. Um relógio físico ainda precisa de um custodiante para que seu token seja uma garantia real.</a:t>
            </a:r>
            <a:endParaRPr lang="pt-BR" sz="1400" dirty="0"/>
          </a:p>
        </p:txBody>
      </p:sp>
      <p:sp>
        <p:nvSpPr>
          <p:cNvPr id="16" name="Text 12"/>
          <p:cNvSpPr txBox="1"/>
          <p:nvPr/>
        </p:nvSpPr>
        <p:spPr>
          <a:xfrm>
            <a:off x="7443216" y="1645920"/>
            <a:ext cx="4023360" cy="256032"/>
          </a:xfrm>
          <a:prstGeom prst="rect">
            <a:avLst/>
          </a:prstGeom>
          <a:noFill/>
          <a:ln/>
        </p:spPr>
        <p:txBody>
          <a:bodyPr wrap="square" lIns="0" tIns="0" rIns="0" bIns="0" rtlCol="0" anchor="t"/>
          <a:lstStyle/>
          <a:p>
            <a:pPr algn="ctr" indent="0" marL="0">
              <a:buNone/>
            </a:pPr>
            <a:r>
              <a:rPr lang="pt-BR" altLang="en-US" sz="1050" b="1" spc="200" kern="0" dirty="0">
                <a:solidFill>
                  <a:srgbClr val="5F6B76"/>
                </a:solidFill>
                <a:latin typeface="Arial" pitchFamily="34" charset="0"/>
                <a:ea typeface="Arial" pitchFamily="34" charset="-122"/>
                <a:cs typeface="Arial" pitchFamily="34" charset="-120"/>
              </a:rPr>
              <a:t>FUNGÍVEL · TOKEN 0</a:t>
            </a:r>
            <a:endParaRPr lang="pt-BR" sz="1050" dirty="0"/>
          </a:p>
        </p:txBody>
      </p:sp>
      <p:sp>
        <p:nvSpPr>
          <p:cNvPr id="17" name="Shape 13"/>
          <p:cNvSpPr/>
          <p:nvPr/>
        </p:nvSpPr>
        <p:spPr>
          <a:xfrm>
            <a:off x="8586216" y="2697480"/>
            <a:ext cx="1737360" cy="585216"/>
          </a:xfrm>
          <a:prstGeom prst="ellipse">
            <a:avLst/>
          </a:prstGeom>
          <a:solidFill>
            <a:srgbClr val="D99700"/>
          </a:solidFill>
          <a:ln w="12700">
            <a:solidFill>
              <a:srgbClr val="1E2328"/>
            </a:solidFill>
            <a:prstDash val="solid"/>
          </a:ln>
        </p:spPr>
      </p:sp>
      <p:sp>
        <p:nvSpPr>
          <p:cNvPr id="18" name="Shape 14"/>
          <p:cNvSpPr/>
          <p:nvPr/>
        </p:nvSpPr>
        <p:spPr>
          <a:xfrm>
            <a:off x="8586216" y="2496312"/>
            <a:ext cx="1737360" cy="585216"/>
          </a:xfrm>
          <a:prstGeom prst="ellipse">
            <a:avLst/>
          </a:prstGeom>
          <a:solidFill>
            <a:srgbClr val="D99700"/>
          </a:solidFill>
          <a:ln w="12700">
            <a:solidFill>
              <a:srgbClr val="1E2328"/>
            </a:solidFill>
            <a:prstDash val="solid"/>
          </a:ln>
        </p:spPr>
      </p:sp>
      <p:sp>
        <p:nvSpPr>
          <p:cNvPr id="19" name="Shape 15"/>
          <p:cNvSpPr/>
          <p:nvPr/>
        </p:nvSpPr>
        <p:spPr>
          <a:xfrm>
            <a:off x="8586216" y="2295144"/>
            <a:ext cx="1737360" cy="585216"/>
          </a:xfrm>
          <a:prstGeom prst="ellipse">
            <a:avLst/>
          </a:prstGeom>
          <a:solidFill>
            <a:srgbClr val="D99700"/>
          </a:solidFill>
          <a:ln w="12700">
            <a:solidFill>
              <a:srgbClr val="1E2328"/>
            </a:solidFill>
            <a:prstDash val="solid"/>
          </a:ln>
        </p:spPr>
      </p:sp>
      <p:sp>
        <p:nvSpPr>
          <p:cNvPr id="20" name="Shape 16"/>
          <p:cNvSpPr/>
          <p:nvPr/>
        </p:nvSpPr>
        <p:spPr>
          <a:xfrm>
            <a:off x="8586216" y="2093976"/>
            <a:ext cx="1737360" cy="585216"/>
          </a:xfrm>
          <a:prstGeom prst="ellipse">
            <a:avLst/>
          </a:prstGeom>
          <a:solidFill>
            <a:srgbClr val="F2A900"/>
          </a:solidFill>
          <a:ln w="12700">
            <a:solidFill>
              <a:srgbClr val="1E2328"/>
            </a:solidFill>
            <a:prstDash val="solid"/>
          </a:ln>
        </p:spPr>
      </p:sp>
      <p:sp>
        <p:nvSpPr>
          <p:cNvPr id="21" name="Text 17"/>
          <p:cNvSpPr txBox="1"/>
          <p:nvPr/>
        </p:nvSpPr>
        <p:spPr>
          <a:xfrm>
            <a:off x="8586216" y="2093976"/>
            <a:ext cx="1737360" cy="585216"/>
          </a:xfrm>
          <a:prstGeom prst="rect">
            <a:avLst/>
          </a:prstGeom>
          <a:noFill/>
          <a:ln/>
        </p:spPr>
        <p:txBody>
          <a:bodyPr wrap="square" lIns="0" tIns="0" rIns="0" bIns="0" rtlCol="0" anchor="ctr"/>
          <a:lstStyle/>
          <a:p>
            <a:pPr algn="ctr" indent="0" marL="0">
              <a:buNone/>
            </a:pPr>
            <a:r>
              <a:rPr lang="pt-BR" altLang="en-US" sz="1200" b="1" dirty="0">
                <a:solidFill>
                  <a:srgbClr val="1E2328"/>
                </a:solidFill>
                <a:latin typeface="Arial" pitchFamily="34" charset="0"/>
                <a:ea typeface="Arial" pitchFamily="34" charset="-122"/>
                <a:cs typeface="Arial" pitchFamily="34" charset="-120"/>
              </a:rPr>
              <a:t>DEPÓSITO</a:t>
            </a:r>
            <a:endParaRPr lang="pt-BR" sz="1200" dirty="0"/>
          </a:p>
        </p:txBody>
      </p:sp>
      <p:sp>
        <p:nvSpPr>
          <p:cNvPr id="22" name="Text 18"/>
          <p:cNvSpPr txBox="1"/>
          <p:nvPr/>
        </p:nvSpPr>
        <p:spPr>
          <a:xfrm>
            <a:off x="7443216" y="3383280"/>
            <a:ext cx="4023360" cy="292608"/>
          </a:xfrm>
          <a:prstGeom prst="rect">
            <a:avLst/>
          </a:prstGeom>
          <a:noFill/>
          <a:ln/>
        </p:spPr>
        <p:txBody>
          <a:bodyPr wrap="square" lIns="0" tIns="0" rIns="0" bIns="0" rtlCol="0" anchor="t"/>
          <a:lstStyle/>
          <a:p>
            <a:pPr algn="ctr" indent="0" marL="0">
              <a:buNone/>
            </a:pPr>
            <a:r>
              <a:rPr lang="pt-BR" altLang="en-US" sz="1300" dirty="0">
                <a:solidFill>
                  <a:srgbClr val="5F6B76"/>
                </a:solidFill>
                <a:latin typeface="Calibri" pitchFamily="34" charset="0"/>
                <a:ea typeface="Calibri" pitchFamily="34" charset="-122"/>
                <a:cs typeface="Calibri" pitchFamily="34" charset="-120"/>
              </a:rPr>
              <a:t>1000 unidades intercambiáveis</a:t>
            </a:r>
            <a:endParaRPr lang="pt-BR" sz="1300" dirty="0"/>
          </a:p>
        </p:txBody>
      </p:sp>
      <p:sp>
        <p:nvSpPr>
          <p:cNvPr id="23" name="Text 19"/>
          <p:cNvSpPr txBox="1"/>
          <p:nvPr/>
        </p:nvSpPr>
        <p:spPr>
          <a:xfrm>
            <a:off x="7443216" y="3931920"/>
            <a:ext cx="4023360" cy="256032"/>
          </a:xfrm>
          <a:prstGeom prst="rect">
            <a:avLst/>
          </a:prstGeom>
          <a:noFill/>
          <a:ln/>
        </p:spPr>
        <p:txBody>
          <a:bodyPr wrap="square" lIns="0" tIns="0" rIns="0" bIns="0" rtlCol="0" anchor="t"/>
          <a:lstStyle/>
          <a:p>
            <a:pPr algn="ctr" indent="0" marL="0">
              <a:buNone/>
            </a:pPr>
            <a:r>
              <a:rPr lang="pt-BR" altLang="en-US" sz="1050" b="1" spc="200" kern="0" dirty="0">
                <a:solidFill>
                  <a:srgbClr val="5F6B76"/>
                </a:solidFill>
                <a:latin typeface="Arial" pitchFamily="34" charset="0"/>
                <a:ea typeface="Arial" pitchFamily="34" charset="-122"/>
                <a:cs typeface="Arial" pitchFamily="34" charset="-120"/>
              </a:rPr>
              <a:t>NÃO FUNGÍVEL · OFERTA DE 1</a:t>
            </a:r>
            <a:endParaRPr lang="pt-BR" sz="1050" dirty="0"/>
          </a:p>
        </p:txBody>
      </p:sp>
      <p:sp>
        <p:nvSpPr>
          <p:cNvPr id="24" name="Shape 20"/>
          <p:cNvSpPr/>
          <p:nvPr/>
        </p:nvSpPr>
        <p:spPr>
          <a:xfrm>
            <a:off x="8129016" y="4315968"/>
            <a:ext cx="1097280" cy="1097280"/>
          </a:xfrm>
          <a:prstGeom prst="ellipse">
            <a:avLst/>
          </a:prstGeom>
          <a:solidFill>
            <a:srgbClr val="007D9C"/>
          </a:solidFill>
          <a:ln w="9525">
            <a:solidFill>
              <a:srgbClr val="007D9C"/>
            </a:solidFill>
            <a:prstDash val="solid"/>
          </a:ln>
        </p:spPr>
      </p:sp>
      <p:pic>
        <p:nvPicPr>
          <p:cNvPr id="25" name="Image 2" descr="preencoded.png">    </p:cNvPr>
          <p:cNvPicPr>
            <a:picLocks noChangeAspect="1"/>
          </p:cNvPicPr>
          <p:nvPr/>
        </p:nvPicPr>
        <p:blipFill>
          <a:blip r:embed="rId3"/>
          <a:stretch>
            <a:fillRect/>
          </a:stretch>
        </p:blipFill>
        <p:spPr>
          <a:xfrm>
            <a:off x="8392363" y="4579315"/>
            <a:ext cx="570586" cy="570586"/>
          </a:xfrm>
          <a:prstGeom prst="rect">
            <a:avLst/>
          </a:prstGeom>
        </p:spPr>
      </p:pic>
      <p:sp>
        <p:nvSpPr>
          <p:cNvPr id="26" name="Text 21"/>
          <p:cNvSpPr txBox="1"/>
          <p:nvPr/>
        </p:nvSpPr>
        <p:spPr>
          <a:xfrm>
            <a:off x="7763256" y="5486400"/>
            <a:ext cx="1828800" cy="292608"/>
          </a:xfrm>
          <a:prstGeom prst="rect">
            <a:avLst/>
          </a:prstGeom>
          <a:noFill/>
          <a:ln/>
        </p:spPr>
        <p:txBody>
          <a:bodyPr wrap="square" lIns="0" tIns="0" rIns="0" bIns="0" rtlCol="0" anchor="t"/>
          <a:lstStyle/>
          <a:p>
            <a:pPr algn="ctr" indent="0" marL="0">
              <a:buNone/>
            </a:pPr>
            <a:r>
              <a:rPr lang="pt-BR" altLang="en-US" sz="1200" b="1" dirty="0">
                <a:solidFill>
                  <a:srgbClr val="007D9C"/>
                </a:solidFill>
                <a:latin typeface="Courier New" pitchFamily="34" charset="0"/>
                <a:ea typeface="Courier New" pitchFamily="34" charset="-122"/>
                <a:cs typeface="Courier New" pitchFamily="34" charset="-120"/>
              </a:rPr>
              <a:t>CARRO #1</a:t>
            </a:r>
            <a:endParaRPr lang="pt-BR" sz="1200" dirty="0"/>
          </a:p>
        </p:txBody>
      </p:sp>
      <p:sp>
        <p:nvSpPr>
          <p:cNvPr id="27" name="Shape 22"/>
          <p:cNvSpPr/>
          <p:nvPr/>
        </p:nvSpPr>
        <p:spPr>
          <a:xfrm>
            <a:off x="9683496" y="4315968"/>
            <a:ext cx="1097280" cy="1097280"/>
          </a:xfrm>
          <a:prstGeom prst="ellipse">
            <a:avLst/>
          </a:prstGeom>
          <a:solidFill>
            <a:srgbClr val="007D9C"/>
          </a:solidFill>
          <a:ln w="9525">
            <a:solidFill>
              <a:srgbClr val="007D9C"/>
            </a:solidFill>
            <a:prstDash val="solid"/>
          </a:ln>
        </p:spPr>
      </p:sp>
      <p:pic>
        <p:nvPicPr>
          <p:cNvPr id="28" name="Image 3" descr="preencoded.png">    </p:cNvPr>
          <p:cNvPicPr>
            <a:picLocks noChangeAspect="1"/>
          </p:cNvPicPr>
          <p:nvPr/>
        </p:nvPicPr>
        <p:blipFill>
          <a:blip r:embed="rId4"/>
          <a:stretch>
            <a:fillRect/>
          </a:stretch>
        </p:blipFill>
        <p:spPr>
          <a:xfrm>
            <a:off x="9946843" y="4579315"/>
            <a:ext cx="570586" cy="570586"/>
          </a:xfrm>
          <a:prstGeom prst="rect">
            <a:avLst/>
          </a:prstGeom>
        </p:spPr>
      </p:pic>
      <p:sp>
        <p:nvSpPr>
          <p:cNvPr id="29" name="Text 23"/>
          <p:cNvSpPr txBox="1"/>
          <p:nvPr/>
        </p:nvSpPr>
        <p:spPr>
          <a:xfrm>
            <a:off x="9317736" y="5486400"/>
            <a:ext cx="1828800" cy="292608"/>
          </a:xfrm>
          <a:prstGeom prst="rect">
            <a:avLst/>
          </a:prstGeom>
          <a:noFill/>
          <a:ln/>
        </p:spPr>
        <p:txBody>
          <a:bodyPr wrap="square" lIns="0" tIns="0" rIns="0" bIns="0" rtlCol="0" anchor="t"/>
          <a:lstStyle/>
          <a:p>
            <a:pPr algn="ctr" indent="0" marL="0">
              <a:buNone/>
            </a:pPr>
            <a:r>
              <a:rPr lang="pt-BR" altLang="en-US" sz="1200" b="1" dirty="0">
                <a:solidFill>
                  <a:srgbClr val="007D9C"/>
                </a:solidFill>
                <a:latin typeface="Courier New" pitchFamily="34" charset="0"/>
                <a:ea typeface="Courier New" pitchFamily="34" charset="-122"/>
                <a:cs typeface="Courier New" pitchFamily="34" charset="-120"/>
              </a:rPr>
              <a:t>RELÓGIO #2</a:t>
            </a:r>
            <a:endParaRPr lang="pt-BR"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03 · TOKENIZAÇÃO</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Três tipos de token, um livro-razão</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12</a:t>
            </a:r>
            <a:endParaRPr lang="pt-BR" sz="1000" dirty="0"/>
          </a:p>
        </p:txBody>
      </p:sp>
      <p:sp>
        <p:nvSpPr>
          <p:cNvPr id="5" name="Shape 3"/>
          <p:cNvSpPr/>
          <p:nvPr/>
        </p:nvSpPr>
        <p:spPr>
          <a:xfrm>
            <a:off x="548640" y="1645920"/>
            <a:ext cx="3484778" cy="3840480"/>
          </a:xfrm>
          <a:prstGeom prst="roundRect">
            <a:avLst>
              <a:gd name="adj" fmla="val 2099"/>
            </a:avLst>
          </a:prstGeom>
          <a:solidFill>
            <a:srgbClr val="F2F5F7"/>
          </a:solidFill>
          <a:ln w="9525">
            <a:solidFill>
              <a:srgbClr val="F2F5F7"/>
            </a:solidFill>
            <a:prstDash val="solid"/>
          </a:ln>
        </p:spPr>
      </p:sp>
      <p:sp>
        <p:nvSpPr>
          <p:cNvPr id="6" name="Shape 4"/>
          <p:cNvSpPr/>
          <p:nvPr/>
        </p:nvSpPr>
        <p:spPr>
          <a:xfrm>
            <a:off x="822960" y="1874520"/>
            <a:ext cx="685800" cy="685800"/>
          </a:xfrm>
          <a:prstGeom prst="ellipse">
            <a:avLst/>
          </a:prstGeom>
          <a:solidFill>
            <a:srgbClr val="007D9C"/>
          </a:solidFill>
          <a:ln w="9525">
            <a:solidFill>
              <a:srgbClr val="007D9C"/>
            </a:solidFill>
            <a:prstDash val="solid"/>
          </a:ln>
        </p:spPr>
      </p:sp>
      <p:pic>
        <p:nvPicPr>
          <p:cNvPr id="7" name="Image 0" descr="preencoded.png">    </p:cNvPr>
          <p:cNvPicPr>
            <a:picLocks noChangeAspect="1"/>
          </p:cNvPicPr>
          <p:nvPr/>
        </p:nvPicPr>
        <p:blipFill>
          <a:blip r:embed="rId1"/>
          <a:stretch>
            <a:fillRect/>
          </a:stretch>
        </p:blipFill>
        <p:spPr>
          <a:xfrm>
            <a:off x="987552" y="2039112"/>
            <a:ext cx="356616" cy="356616"/>
          </a:xfrm>
          <a:prstGeom prst="rect">
            <a:avLst/>
          </a:prstGeom>
        </p:spPr>
      </p:pic>
      <p:sp>
        <p:nvSpPr>
          <p:cNvPr id="8" name="Text 5"/>
          <p:cNvSpPr txBox="1"/>
          <p:nvPr/>
        </p:nvSpPr>
        <p:spPr>
          <a:xfrm>
            <a:off x="1691640" y="1874520"/>
            <a:ext cx="2113178" cy="685800"/>
          </a:xfrm>
          <a:prstGeom prst="rect">
            <a:avLst/>
          </a:prstGeom>
          <a:noFill/>
          <a:ln/>
        </p:spPr>
        <p:txBody>
          <a:bodyPr wrap="square" lIns="0" tIns="0" rIns="0" bIns="0" rtlCol="0" anchor="ctr"/>
          <a:lstStyle/>
          <a:p>
            <a:pPr indent="0" marL="0">
              <a:buNone/>
            </a:pPr>
            <a:r>
              <a:rPr lang="pt-BR" altLang="en-US" sz="1900" b="1" dirty="0">
                <a:solidFill>
                  <a:srgbClr val="1E2328"/>
                </a:solidFill>
                <a:latin typeface="Arial" pitchFamily="34" charset="0"/>
                <a:ea typeface="Arial" pitchFamily="34" charset="-122"/>
                <a:cs typeface="Arial" pitchFamily="34" charset="-120"/>
              </a:rPr>
              <a:t>Carro</a:t>
            </a:r>
            <a:endParaRPr lang="pt-BR" sz="1900" dirty="0"/>
          </a:p>
        </p:txBody>
      </p:sp>
      <p:sp>
        <p:nvSpPr>
          <p:cNvPr id="9" name="Text 6"/>
          <p:cNvSpPr txBox="1"/>
          <p:nvPr/>
        </p:nvSpPr>
        <p:spPr>
          <a:xfrm>
            <a:off x="822960" y="2788920"/>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ID DO TOKEN</a:t>
            </a:r>
            <a:endParaRPr lang="pt-BR" sz="950" dirty="0"/>
          </a:p>
        </p:txBody>
      </p:sp>
      <p:sp>
        <p:nvSpPr>
          <p:cNvPr id="10" name="Text 7"/>
          <p:cNvSpPr txBox="1"/>
          <p:nvPr/>
        </p:nvSpPr>
        <p:spPr>
          <a:xfrm>
            <a:off x="822960" y="2990088"/>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1, 2, 3 … (contador compartilhado)</a:t>
            </a:r>
            <a:endParaRPr lang="pt-BR" sz="1350" dirty="0"/>
          </a:p>
        </p:txBody>
      </p:sp>
      <p:sp>
        <p:nvSpPr>
          <p:cNvPr id="11" name="Text 8"/>
          <p:cNvSpPr txBox="1"/>
          <p:nvPr/>
        </p:nvSpPr>
        <p:spPr>
          <a:xfrm>
            <a:off x="822960" y="3392424"/>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OFERTA</a:t>
            </a:r>
            <a:endParaRPr lang="pt-BR" sz="950" dirty="0"/>
          </a:p>
        </p:txBody>
      </p:sp>
      <p:sp>
        <p:nvSpPr>
          <p:cNvPr id="12" name="Text 9"/>
          <p:cNvSpPr txBox="1"/>
          <p:nvPr/>
        </p:nvSpPr>
        <p:spPr>
          <a:xfrm>
            <a:off x="822960" y="3593592"/>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1</a:t>
            </a:r>
            <a:endParaRPr lang="pt-BR" sz="1350" dirty="0"/>
          </a:p>
        </p:txBody>
      </p:sp>
      <p:sp>
        <p:nvSpPr>
          <p:cNvPr id="13" name="Text 10"/>
          <p:cNvSpPr txBox="1"/>
          <p:nvPr/>
        </p:nvSpPr>
        <p:spPr>
          <a:xfrm>
            <a:off x="822960" y="3995928"/>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REPRESENTA</a:t>
            </a:r>
            <a:endParaRPr lang="pt-BR" sz="950" dirty="0"/>
          </a:p>
        </p:txBody>
      </p:sp>
      <p:sp>
        <p:nvSpPr>
          <p:cNvPr id="14" name="Text 11"/>
          <p:cNvSpPr txBox="1"/>
          <p:nvPr/>
        </p:nvSpPr>
        <p:spPr>
          <a:xfrm>
            <a:off x="822960" y="4197096"/>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Um veículo registrado</a:t>
            </a:r>
            <a:endParaRPr lang="pt-BR" sz="1350" dirty="0"/>
          </a:p>
        </p:txBody>
      </p:sp>
      <p:sp>
        <p:nvSpPr>
          <p:cNvPr id="15" name="Text 12"/>
          <p:cNvSpPr txBox="1"/>
          <p:nvPr/>
        </p:nvSpPr>
        <p:spPr>
          <a:xfrm>
            <a:off x="822960" y="4800600"/>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EMITIDO POR</a:t>
            </a:r>
            <a:endParaRPr lang="pt-BR" sz="950" dirty="0"/>
          </a:p>
        </p:txBody>
      </p:sp>
      <p:sp>
        <p:nvSpPr>
          <p:cNvPr id="16" name="Text 13"/>
          <p:cNvSpPr txBox="1"/>
          <p:nvPr/>
        </p:nvSpPr>
        <p:spPr>
          <a:xfrm>
            <a:off x="822960" y="5001768"/>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Registrador, para o proprietário</a:t>
            </a:r>
            <a:endParaRPr lang="pt-BR" sz="1350" dirty="0"/>
          </a:p>
        </p:txBody>
      </p:sp>
      <p:sp>
        <p:nvSpPr>
          <p:cNvPr id="17" name="Shape 14"/>
          <p:cNvSpPr/>
          <p:nvPr/>
        </p:nvSpPr>
        <p:spPr>
          <a:xfrm>
            <a:off x="4353458" y="1645920"/>
            <a:ext cx="3484778" cy="3840480"/>
          </a:xfrm>
          <a:prstGeom prst="roundRect">
            <a:avLst>
              <a:gd name="adj" fmla="val 2099"/>
            </a:avLst>
          </a:prstGeom>
          <a:solidFill>
            <a:srgbClr val="F2F5F7"/>
          </a:solidFill>
          <a:ln w="9525">
            <a:solidFill>
              <a:srgbClr val="F2F5F7"/>
            </a:solidFill>
            <a:prstDash val="solid"/>
          </a:ln>
        </p:spPr>
      </p:sp>
      <p:sp>
        <p:nvSpPr>
          <p:cNvPr id="18" name="Shape 15"/>
          <p:cNvSpPr/>
          <p:nvPr/>
        </p:nvSpPr>
        <p:spPr>
          <a:xfrm>
            <a:off x="4627778" y="1874520"/>
            <a:ext cx="685800" cy="685800"/>
          </a:xfrm>
          <a:prstGeom prst="ellipse">
            <a:avLst/>
          </a:prstGeom>
          <a:solidFill>
            <a:srgbClr val="007D9C"/>
          </a:solidFill>
          <a:ln w="9525">
            <a:solidFill>
              <a:srgbClr val="007D9C"/>
            </a:solidFill>
            <a:prstDash val="solid"/>
          </a:ln>
        </p:spPr>
      </p:sp>
      <p:pic>
        <p:nvPicPr>
          <p:cNvPr id="19" name="Image 1" descr="preencoded.png">    </p:cNvPr>
          <p:cNvPicPr>
            <a:picLocks noChangeAspect="1"/>
          </p:cNvPicPr>
          <p:nvPr/>
        </p:nvPicPr>
        <p:blipFill>
          <a:blip r:embed="rId2"/>
          <a:stretch>
            <a:fillRect/>
          </a:stretch>
        </p:blipFill>
        <p:spPr>
          <a:xfrm>
            <a:off x="4792370" y="2039112"/>
            <a:ext cx="356616" cy="356616"/>
          </a:xfrm>
          <a:prstGeom prst="rect">
            <a:avLst/>
          </a:prstGeom>
        </p:spPr>
      </p:pic>
      <p:sp>
        <p:nvSpPr>
          <p:cNvPr id="20" name="Text 16"/>
          <p:cNvSpPr txBox="1"/>
          <p:nvPr/>
        </p:nvSpPr>
        <p:spPr>
          <a:xfrm>
            <a:off x="5496458" y="1874520"/>
            <a:ext cx="2113178" cy="685800"/>
          </a:xfrm>
          <a:prstGeom prst="rect">
            <a:avLst/>
          </a:prstGeom>
          <a:noFill/>
          <a:ln/>
        </p:spPr>
        <p:txBody>
          <a:bodyPr wrap="square" lIns="0" tIns="0" rIns="0" bIns="0" rtlCol="0" anchor="ctr"/>
          <a:lstStyle/>
          <a:p>
            <a:pPr indent="0" marL="0">
              <a:buNone/>
            </a:pPr>
            <a:r>
              <a:rPr lang="pt-BR" altLang="en-US" sz="1900" b="1" dirty="0">
                <a:solidFill>
                  <a:srgbClr val="1E2328"/>
                </a:solidFill>
                <a:latin typeface="Arial" pitchFamily="34" charset="0"/>
                <a:ea typeface="Arial" pitchFamily="34" charset="-122"/>
                <a:cs typeface="Arial" pitchFamily="34" charset="-120"/>
              </a:rPr>
              <a:t>Item de garantia</a:t>
            </a:r>
            <a:endParaRPr lang="pt-BR" sz="1900" dirty="0"/>
          </a:p>
        </p:txBody>
      </p:sp>
      <p:sp>
        <p:nvSpPr>
          <p:cNvPr id="21" name="Text 17"/>
          <p:cNvSpPr txBox="1"/>
          <p:nvPr/>
        </p:nvSpPr>
        <p:spPr>
          <a:xfrm>
            <a:off x="4627778" y="2788920"/>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ID DO TOKEN</a:t>
            </a:r>
            <a:endParaRPr lang="pt-BR" sz="950" dirty="0"/>
          </a:p>
        </p:txBody>
      </p:sp>
      <p:sp>
        <p:nvSpPr>
          <p:cNvPr id="22" name="Text 18"/>
          <p:cNvSpPr txBox="1"/>
          <p:nvPr/>
        </p:nvSpPr>
        <p:spPr>
          <a:xfrm>
            <a:off x="4627778" y="2990088"/>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Mesmo contador dos carros</a:t>
            </a:r>
            <a:endParaRPr lang="pt-BR" sz="1350" dirty="0"/>
          </a:p>
        </p:txBody>
      </p:sp>
      <p:sp>
        <p:nvSpPr>
          <p:cNvPr id="23" name="Text 19"/>
          <p:cNvSpPr txBox="1"/>
          <p:nvPr/>
        </p:nvSpPr>
        <p:spPr>
          <a:xfrm>
            <a:off x="4627778" y="3392424"/>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OFERTA</a:t>
            </a:r>
            <a:endParaRPr lang="pt-BR" sz="950" dirty="0"/>
          </a:p>
        </p:txBody>
      </p:sp>
      <p:sp>
        <p:nvSpPr>
          <p:cNvPr id="24" name="Text 20"/>
          <p:cNvSpPr txBox="1"/>
          <p:nvPr/>
        </p:nvSpPr>
        <p:spPr>
          <a:xfrm>
            <a:off x="4627778" y="3593592"/>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1</a:t>
            </a:r>
            <a:endParaRPr lang="pt-BR" sz="1350" dirty="0"/>
          </a:p>
        </p:txBody>
      </p:sp>
      <p:sp>
        <p:nvSpPr>
          <p:cNvPr id="25" name="Text 21"/>
          <p:cNvSpPr txBox="1"/>
          <p:nvPr/>
        </p:nvSpPr>
        <p:spPr>
          <a:xfrm>
            <a:off x="4627778" y="3995928"/>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REPRESENTA</a:t>
            </a:r>
            <a:endParaRPr lang="pt-BR" sz="950" dirty="0"/>
          </a:p>
        </p:txBody>
      </p:sp>
      <p:sp>
        <p:nvSpPr>
          <p:cNvPr id="26" name="Text 22"/>
          <p:cNvSpPr txBox="1"/>
          <p:nvPr/>
        </p:nvSpPr>
        <p:spPr>
          <a:xfrm>
            <a:off x="4627778" y="4197096"/>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Um ativo avaliado: relógio, notebook, segundo veículo</a:t>
            </a:r>
            <a:endParaRPr lang="pt-BR" sz="1350" dirty="0"/>
          </a:p>
        </p:txBody>
      </p:sp>
      <p:sp>
        <p:nvSpPr>
          <p:cNvPr id="27" name="Text 23"/>
          <p:cNvSpPr txBox="1"/>
          <p:nvPr/>
        </p:nvSpPr>
        <p:spPr>
          <a:xfrm>
            <a:off x="4627778" y="4800600"/>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EMITIDO POR</a:t>
            </a:r>
            <a:endParaRPr lang="pt-BR" sz="950" dirty="0"/>
          </a:p>
        </p:txBody>
      </p:sp>
      <p:sp>
        <p:nvSpPr>
          <p:cNvPr id="28" name="Text 24"/>
          <p:cNvSpPr txBox="1"/>
          <p:nvPr/>
        </p:nvSpPr>
        <p:spPr>
          <a:xfrm>
            <a:off x="4627778" y="5001768"/>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Registrador, para o detentor</a:t>
            </a:r>
            <a:endParaRPr lang="pt-BR" sz="1350" dirty="0"/>
          </a:p>
        </p:txBody>
      </p:sp>
      <p:sp>
        <p:nvSpPr>
          <p:cNvPr id="29" name="Shape 25"/>
          <p:cNvSpPr/>
          <p:nvPr/>
        </p:nvSpPr>
        <p:spPr>
          <a:xfrm>
            <a:off x="8158277" y="1645920"/>
            <a:ext cx="3484778" cy="3840480"/>
          </a:xfrm>
          <a:prstGeom prst="roundRect">
            <a:avLst>
              <a:gd name="adj" fmla="val 2099"/>
            </a:avLst>
          </a:prstGeom>
          <a:solidFill>
            <a:srgbClr val="F2F5F7"/>
          </a:solidFill>
          <a:ln w="9525">
            <a:solidFill>
              <a:srgbClr val="F2F5F7"/>
            </a:solidFill>
            <a:prstDash val="solid"/>
          </a:ln>
        </p:spPr>
      </p:sp>
      <p:sp>
        <p:nvSpPr>
          <p:cNvPr id="30" name="Shape 26"/>
          <p:cNvSpPr/>
          <p:nvPr/>
        </p:nvSpPr>
        <p:spPr>
          <a:xfrm>
            <a:off x="8432597" y="1874520"/>
            <a:ext cx="685800" cy="685800"/>
          </a:xfrm>
          <a:prstGeom prst="ellipse">
            <a:avLst/>
          </a:prstGeom>
          <a:solidFill>
            <a:srgbClr val="F2A900"/>
          </a:solidFill>
          <a:ln w="9525">
            <a:solidFill>
              <a:srgbClr val="F2A900"/>
            </a:solidFill>
            <a:prstDash val="solid"/>
          </a:ln>
        </p:spPr>
      </p:sp>
      <p:pic>
        <p:nvPicPr>
          <p:cNvPr id="31" name="Image 2" descr="preencoded.png">    </p:cNvPr>
          <p:cNvPicPr>
            <a:picLocks noChangeAspect="1"/>
          </p:cNvPicPr>
          <p:nvPr/>
        </p:nvPicPr>
        <p:blipFill>
          <a:blip r:embed="rId3"/>
          <a:stretch>
            <a:fillRect/>
          </a:stretch>
        </p:blipFill>
        <p:spPr>
          <a:xfrm>
            <a:off x="8597189" y="2039112"/>
            <a:ext cx="356616" cy="356616"/>
          </a:xfrm>
          <a:prstGeom prst="rect">
            <a:avLst/>
          </a:prstGeom>
        </p:spPr>
      </p:pic>
      <p:sp>
        <p:nvSpPr>
          <p:cNvPr id="32" name="Text 27"/>
          <p:cNvSpPr txBox="1"/>
          <p:nvPr/>
        </p:nvSpPr>
        <p:spPr>
          <a:xfrm>
            <a:off x="9301277" y="1874520"/>
            <a:ext cx="2113178" cy="685800"/>
          </a:xfrm>
          <a:prstGeom prst="rect">
            <a:avLst/>
          </a:prstGeom>
          <a:noFill/>
          <a:ln/>
        </p:spPr>
        <p:txBody>
          <a:bodyPr wrap="square" lIns="0" tIns="0" rIns="0" bIns="0" rtlCol="0" anchor="ctr"/>
          <a:lstStyle/>
          <a:p>
            <a:pPr indent="0" marL="0">
              <a:buNone/>
            </a:pPr>
            <a:r>
              <a:rPr lang="pt-BR" altLang="en-US" sz="1900" b="1" dirty="0">
                <a:solidFill>
                  <a:srgbClr val="1E2328"/>
                </a:solidFill>
                <a:latin typeface="Arial" pitchFamily="34" charset="0"/>
                <a:ea typeface="Arial" pitchFamily="34" charset="-122"/>
                <a:cs typeface="Arial" pitchFamily="34" charset="-120"/>
              </a:rPr>
              <a:t>Depósito</a:t>
            </a:r>
            <a:endParaRPr lang="pt-BR" sz="1900" dirty="0"/>
          </a:p>
        </p:txBody>
      </p:sp>
      <p:sp>
        <p:nvSpPr>
          <p:cNvPr id="33" name="Text 28"/>
          <p:cNvSpPr txBox="1"/>
          <p:nvPr/>
        </p:nvSpPr>
        <p:spPr>
          <a:xfrm>
            <a:off x="8432597" y="2788920"/>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ID DO TOKEN</a:t>
            </a:r>
            <a:endParaRPr lang="pt-BR" sz="950" dirty="0"/>
          </a:p>
        </p:txBody>
      </p:sp>
      <p:sp>
        <p:nvSpPr>
          <p:cNvPr id="34" name="Text 29"/>
          <p:cNvSpPr txBox="1"/>
          <p:nvPr/>
        </p:nvSpPr>
        <p:spPr>
          <a:xfrm>
            <a:off x="8432597" y="2990088"/>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0 (fixo)</a:t>
            </a:r>
            <a:endParaRPr lang="pt-BR" sz="1350" dirty="0"/>
          </a:p>
        </p:txBody>
      </p:sp>
      <p:sp>
        <p:nvSpPr>
          <p:cNvPr id="35" name="Text 30"/>
          <p:cNvSpPr txBox="1"/>
          <p:nvPr/>
        </p:nvSpPr>
        <p:spPr>
          <a:xfrm>
            <a:off x="8432597" y="3392424"/>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OFERTA</a:t>
            </a:r>
            <a:endParaRPr lang="pt-BR" sz="950" dirty="0"/>
          </a:p>
        </p:txBody>
      </p:sp>
      <p:sp>
        <p:nvSpPr>
          <p:cNvPr id="36" name="Text 31"/>
          <p:cNvSpPr txBox="1"/>
          <p:nvPr/>
        </p:nvSpPr>
        <p:spPr>
          <a:xfrm>
            <a:off x="8432597" y="3593592"/>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Muitos</a:t>
            </a:r>
            <a:endParaRPr lang="pt-BR" sz="1350" dirty="0"/>
          </a:p>
        </p:txBody>
      </p:sp>
      <p:sp>
        <p:nvSpPr>
          <p:cNvPr id="37" name="Text 32"/>
          <p:cNvSpPr txBox="1"/>
          <p:nvPr/>
        </p:nvSpPr>
        <p:spPr>
          <a:xfrm>
            <a:off x="8432597" y="3995928"/>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REPRESENTA</a:t>
            </a:r>
            <a:endParaRPr lang="pt-BR" sz="950" dirty="0"/>
          </a:p>
        </p:txBody>
      </p:sp>
      <p:sp>
        <p:nvSpPr>
          <p:cNvPr id="38" name="Text 33"/>
          <p:cNvSpPr txBox="1"/>
          <p:nvPr/>
        </p:nvSpPr>
        <p:spPr>
          <a:xfrm>
            <a:off x="8432597" y="4197096"/>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Crédito pré-pago para aluguel, depósitos e multas</a:t>
            </a:r>
            <a:endParaRPr lang="pt-BR" sz="1350" dirty="0"/>
          </a:p>
        </p:txBody>
      </p:sp>
      <p:sp>
        <p:nvSpPr>
          <p:cNvPr id="39" name="Text 34"/>
          <p:cNvSpPr txBox="1"/>
          <p:nvPr/>
        </p:nvSpPr>
        <p:spPr>
          <a:xfrm>
            <a:off x="8432597" y="4800600"/>
            <a:ext cx="2936138" cy="201168"/>
          </a:xfrm>
          <a:prstGeom prst="rect">
            <a:avLst/>
          </a:prstGeom>
          <a:noFill/>
          <a:ln/>
        </p:spPr>
        <p:txBody>
          <a:bodyPr wrap="square" lIns="0" tIns="0" rIns="0" bIns="0" rtlCol="0" anchor="t"/>
          <a:lstStyle/>
          <a:p>
            <a:pPr indent="0" marL="0">
              <a:buNone/>
            </a:pPr>
            <a:r>
              <a:rPr lang="pt-BR" altLang="en-US" sz="950" b="1" spc="100" kern="0" dirty="0">
                <a:solidFill>
                  <a:srgbClr val="5F6B76"/>
                </a:solidFill>
                <a:latin typeface="Arial" pitchFamily="34" charset="0"/>
                <a:ea typeface="Arial" pitchFamily="34" charset="-122"/>
                <a:cs typeface="Arial" pitchFamily="34" charset="-120"/>
              </a:rPr>
              <a:t>EMITIDO POR</a:t>
            </a:r>
            <a:endParaRPr lang="pt-BR" sz="950" dirty="0"/>
          </a:p>
        </p:txBody>
      </p:sp>
      <p:sp>
        <p:nvSpPr>
          <p:cNvPr id="40" name="Text 35"/>
          <p:cNvSpPr txBox="1"/>
          <p:nvPr/>
        </p:nvSpPr>
        <p:spPr>
          <a:xfrm>
            <a:off x="8432597" y="5001768"/>
            <a:ext cx="2936138" cy="384048"/>
          </a:xfrm>
          <a:prstGeom prst="rect">
            <a:avLst/>
          </a:prstGeom>
          <a:noFill/>
          <a:ln/>
        </p:spPr>
        <p:txBody>
          <a:bodyPr wrap="square" lIns="0" tIns="0" rIns="0" bIns="0" rtlCol="0" anchor="t"/>
          <a:lstStyle/>
          <a:p>
            <a:pPr indent="0" marL="0">
              <a:buNone/>
            </a:pPr>
            <a:r>
              <a:rPr lang="pt-BR" altLang="en-US" sz="1350" dirty="0">
                <a:solidFill>
                  <a:srgbClr val="1E2328"/>
                </a:solidFill>
                <a:latin typeface="Calibri" pitchFamily="34" charset="0"/>
                <a:ea typeface="Calibri" pitchFamily="34" charset="-122"/>
                <a:cs typeface="Calibri" pitchFamily="34" charset="-120"/>
              </a:rPr>
              <a:t>Admin (faucet de teste)</a:t>
            </a:r>
            <a:endParaRPr lang="pt-BR" sz="1350" dirty="0"/>
          </a:p>
        </p:txBody>
      </p:sp>
      <p:sp>
        <p:nvSpPr>
          <p:cNvPr id="41" name="Shape 36"/>
          <p:cNvSpPr/>
          <p:nvPr/>
        </p:nvSpPr>
        <p:spPr>
          <a:xfrm>
            <a:off x="548640" y="5650992"/>
            <a:ext cx="11094415" cy="548640"/>
          </a:xfrm>
          <a:prstGeom prst="roundRect">
            <a:avLst>
              <a:gd name="adj" fmla="val 13333"/>
            </a:avLst>
          </a:prstGeom>
          <a:solidFill>
            <a:srgbClr val="1E2328"/>
          </a:solidFill>
          <a:ln w="9525">
            <a:solidFill>
              <a:srgbClr val="1E2328"/>
            </a:solidFill>
            <a:prstDash val="solid"/>
          </a:ln>
        </p:spPr>
      </p:sp>
      <p:sp>
        <p:nvSpPr>
          <p:cNvPr id="42" name="Text 37"/>
          <p:cNvSpPr txBox="1"/>
          <p:nvPr/>
        </p:nvSpPr>
        <p:spPr>
          <a:xfrm>
            <a:off x="822960" y="5650992"/>
            <a:ext cx="10545775" cy="548640"/>
          </a:xfrm>
          <a:prstGeom prst="rect">
            <a:avLst/>
          </a:prstGeom>
          <a:noFill/>
          <a:ln/>
        </p:spPr>
        <p:txBody>
          <a:bodyPr wrap="square" lIns="0" tIns="0" rIns="0" bIns="0" rtlCol="0" anchor="ctr"/>
          <a:lstStyle/>
          <a:p>
            <a:pPr indent="0" marL="0">
              <a:buNone/>
            </a:pPr>
            <a:r>
              <a:rPr lang="pt-BR" altLang="en-US" sz="1250" b="1" dirty="0">
                <a:solidFill>
                  <a:srgbClr val="00ADD8"/>
                </a:solidFill>
                <a:latin typeface="Courier New" pitchFamily="34" charset="0"/>
                <a:ea typeface="Courier New" pitchFamily="34" charset="-122"/>
                <a:cs typeface="Courier New" pitchFamily="34" charset="-120"/>
              </a:rPr>
              <a:t>Ledger  </a:t>
            </a:r>
            <a:pPr indent="0" marL="0">
              <a:buNone/>
            </a:pPr>
            <a:r>
              <a:rPr lang="pt-BR" altLang="en-US" sz="1250" dirty="0">
                <a:solidFill>
                  <a:srgbClr val="FFFFFF"/>
                </a:solidFill>
                <a:latin typeface="Courier New" pitchFamily="34" charset="0"/>
                <a:ea typeface="Courier New" pitchFamily="34" charset="-122"/>
                <a:cs typeface="Courier New" pitchFamily="34" charset="-120"/>
              </a:rPr>
              <a:t>map[tokenID]map[address]balance</a:t>
            </a:r>
            <a:pPr indent="0" marL="0">
              <a:buNone/>
            </a:pPr>
            <a:r>
              <a:rPr lang="pt-BR" altLang="en-US" sz="1250" dirty="0">
                <a:solidFill>
                  <a:srgbClr val="8B96A1"/>
                </a:solidFill>
                <a:latin typeface="Courier New" pitchFamily="34" charset="0"/>
                <a:ea typeface="Courier New" pitchFamily="34" charset="-122"/>
                <a:cs typeface="Courier New" pitchFamily="34" charset="-120"/>
              </a:rPr>
              <a:t>   // tokenID → endereço → saldo: um espaço de IDs, como no ERC-1155</a:t>
            </a:r>
            <a:endParaRPr lang="pt-BR"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03 · TOKENIZAÇÃO</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Como os tokens se movem na locação</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13</a:t>
            </a:r>
            <a:endParaRPr lang="pt-BR" sz="1000" dirty="0"/>
          </a:p>
        </p:txBody>
      </p:sp>
      <p:sp>
        <p:nvSpPr>
          <p:cNvPr id="5" name="Shape 3"/>
          <p:cNvSpPr/>
          <p:nvPr/>
        </p:nvSpPr>
        <p:spPr>
          <a:xfrm>
            <a:off x="960120" y="1783080"/>
            <a:ext cx="1325880" cy="1325880"/>
          </a:xfrm>
          <a:prstGeom prst="ellipse">
            <a:avLst/>
          </a:prstGeom>
          <a:solidFill>
            <a:srgbClr val="007D9C"/>
          </a:solidFill>
          <a:ln w="9525">
            <a:solidFill>
              <a:srgbClr val="007D9C"/>
            </a:solidFill>
            <a:prstDash val="solid"/>
          </a:ln>
        </p:spPr>
      </p:sp>
      <p:pic>
        <p:nvPicPr>
          <p:cNvPr id="6" name="Image 0" descr="preencoded.png">    </p:cNvPr>
          <p:cNvPicPr>
            <a:picLocks noChangeAspect="1"/>
          </p:cNvPicPr>
          <p:nvPr/>
        </p:nvPicPr>
        <p:blipFill>
          <a:blip r:embed="rId1"/>
          <a:stretch>
            <a:fillRect/>
          </a:stretch>
        </p:blipFill>
        <p:spPr>
          <a:xfrm>
            <a:off x="1278331" y="2101291"/>
            <a:ext cx="689458" cy="689458"/>
          </a:xfrm>
          <a:prstGeom prst="rect">
            <a:avLst/>
          </a:prstGeom>
        </p:spPr>
      </p:pic>
      <p:sp>
        <p:nvSpPr>
          <p:cNvPr id="7" name="Text 4"/>
          <p:cNvSpPr txBox="1"/>
          <p:nvPr/>
        </p:nvSpPr>
        <p:spPr>
          <a:xfrm>
            <a:off x="502920" y="3172968"/>
            <a:ext cx="2240280" cy="320040"/>
          </a:xfrm>
          <a:prstGeom prst="rect">
            <a:avLst/>
          </a:prstGeom>
          <a:noFill/>
          <a:ln/>
        </p:spPr>
        <p:txBody>
          <a:bodyPr wrap="square" lIns="0" tIns="0" rIns="0" bIns="0" rtlCol="0" anchor="t"/>
          <a:lstStyle/>
          <a:p>
            <a:pPr algn="ctr" indent="0" marL="0">
              <a:buNone/>
            </a:pPr>
            <a:r>
              <a:rPr lang="pt-BR" altLang="en-US" sz="1400" b="1" dirty="0">
                <a:solidFill>
                  <a:srgbClr val="1E2328"/>
                </a:solidFill>
                <a:latin typeface="Arial" pitchFamily="34" charset="0"/>
                <a:ea typeface="Arial" pitchFamily="34" charset="-122"/>
                <a:cs typeface="Arial" pitchFamily="34" charset="-120"/>
              </a:rPr>
              <a:t>Locatário (bob)</a:t>
            </a:r>
            <a:endParaRPr lang="pt-BR" sz="1400" dirty="0"/>
          </a:p>
        </p:txBody>
      </p:sp>
      <p:sp>
        <p:nvSpPr>
          <p:cNvPr id="8" name="Shape 5"/>
          <p:cNvSpPr/>
          <p:nvPr/>
        </p:nvSpPr>
        <p:spPr>
          <a:xfrm>
            <a:off x="4892040" y="1691640"/>
            <a:ext cx="2423160" cy="1508760"/>
          </a:xfrm>
          <a:prstGeom prst="roundRect">
            <a:avLst>
              <a:gd name="adj" fmla="val 4848"/>
            </a:avLst>
          </a:prstGeom>
          <a:solidFill>
            <a:srgbClr val="1E2328"/>
          </a:solidFill>
          <a:ln w="9525">
            <a:solidFill>
              <a:srgbClr val="1E2328"/>
            </a:solidFill>
            <a:prstDash val="solid"/>
          </a:ln>
        </p:spPr>
      </p:sp>
      <p:pic>
        <p:nvPicPr>
          <p:cNvPr id="9" name="Image 1" descr="preencoded.png">    </p:cNvPr>
          <p:cNvPicPr>
            <a:picLocks noChangeAspect="1"/>
          </p:cNvPicPr>
          <p:nvPr/>
        </p:nvPicPr>
        <p:blipFill>
          <a:blip r:embed="rId2"/>
          <a:stretch>
            <a:fillRect/>
          </a:stretch>
        </p:blipFill>
        <p:spPr>
          <a:xfrm>
            <a:off x="5852160" y="1828800"/>
            <a:ext cx="502920" cy="502920"/>
          </a:xfrm>
          <a:prstGeom prst="rect">
            <a:avLst/>
          </a:prstGeom>
        </p:spPr>
      </p:pic>
      <p:sp>
        <p:nvSpPr>
          <p:cNvPr id="10" name="Text 6"/>
          <p:cNvSpPr txBox="1"/>
          <p:nvPr/>
        </p:nvSpPr>
        <p:spPr>
          <a:xfrm>
            <a:off x="4892040" y="2377440"/>
            <a:ext cx="2423160" cy="365760"/>
          </a:xfrm>
          <a:prstGeom prst="rect">
            <a:avLst/>
          </a:prstGeom>
          <a:noFill/>
          <a:ln/>
        </p:spPr>
        <p:txBody>
          <a:bodyPr wrap="square" lIns="0" tIns="0" rIns="0" bIns="0" rtlCol="0" anchor="t"/>
          <a:lstStyle/>
          <a:p>
            <a:pPr algn="ctr" indent="0" marL="0">
              <a:buNone/>
            </a:pPr>
            <a:r>
              <a:rPr lang="pt-BR" altLang="en-US" sz="1600" b="1" dirty="0">
                <a:solidFill>
                  <a:srgbClr val="FFFFFF"/>
                </a:solidFill>
                <a:latin typeface="Arial" pitchFamily="34" charset="0"/>
                <a:ea typeface="Arial" pitchFamily="34" charset="-122"/>
                <a:cs typeface="Arial" pitchFamily="34" charset="-120"/>
              </a:rPr>
              <a:t>ESCROW</a:t>
            </a:r>
            <a:endParaRPr lang="pt-BR" sz="1600" dirty="0"/>
          </a:p>
        </p:txBody>
      </p:sp>
      <p:sp>
        <p:nvSpPr>
          <p:cNvPr id="11" name="Text 7"/>
          <p:cNvSpPr txBox="1"/>
          <p:nvPr/>
        </p:nvSpPr>
        <p:spPr>
          <a:xfrm>
            <a:off x="4892040" y="2724912"/>
            <a:ext cx="2423160" cy="320040"/>
          </a:xfrm>
          <a:prstGeom prst="rect">
            <a:avLst/>
          </a:prstGeom>
          <a:noFill/>
          <a:ln/>
        </p:spPr>
        <p:txBody>
          <a:bodyPr wrap="square" lIns="0" tIns="0" rIns="0" bIns="0" rtlCol="0" anchor="t"/>
          <a:lstStyle/>
          <a:p>
            <a:pPr algn="ctr" indent="0" marL="0">
              <a:buNone/>
            </a:pPr>
            <a:r>
              <a:rPr lang="pt-BR" altLang="en-US" sz="1250" dirty="0">
                <a:solidFill>
                  <a:srgbClr val="C9D1D9"/>
                </a:solidFill>
                <a:latin typeface="Calibri" pitchFamily="34" charset="0"/>
                <a:ea typeface="Calibri" pitchFamily="34" charset="-122"/>
                <a:cs typeface="Calibri" pitchFamily="34" charset="-120"/>
              </a:rPr>
              <a:t>custódia do contrato</a:t>
            </a:r>
            <a:endParaRPr lang="pt-BR" sz="1250" dirty="0"/>
          </a:p>
        </p:txBody>
      </p:sp>
      <p:sp>
        <p:nvSpPr>
          <p:cNvPr id="12" name="Shape 8"/>
          <p:cNvSpPr/>
          <p:nvPr/>
        </p:nvSpPr>
        <p:spPr>
          <a:xfrm>
            <a:off x="9921240" y="1783080"/>
            <a:ext cx="1325880" cy="1325880"/>
          </a:xfrm>
          <a:prstGeom prst="ellipse">
            <a:avLst/>
          </a:prstGeom>
          <a:solidFill>
            <a:srgbClr val="007D9C"/>
          </a:solidFill>
          <a:ln w="9525">
            <a:solidFill>
              <a:srgbClr val="007D9C"/>
            </a:solidFill>
            <a:prstDash val="solid"/>
          </a:ln>
        </p:spPr>
      </p:sp>
      <p:pic>
        <p:nvPicPr>
          <p:cNvPr id="13" name="Image 2" descr="preencoded.png">    </p:cNvPr>
          <p:cNvPicPr>
            <a:picLocks noChangeAspect="1"/>
          </p:cNvPicPr>
          <p:nvPr/>
        </p:nvPicPr>
        <p:blipFill>
          <a:blip r:embed="rId3"/>
          <a:stretch>
            <a:fillRect/>
          </a:stretch>
        </p:blipFill>
        <p:spPr>
          <a:xfrm>
            <a:off x="10239451" y="2101291"/>
            <a:ext cx="689458" cy="689458"/>
          </a:xfrm>
          <a:prstGeom prst="rect">
            <a:avLst/>
          </a:prstGeom>
        </p:spPr>
      </p:pic>
      <p:sp>
        <p:nvSpPr>
          <p:cNvPr id="14" name="Text 9"/>
          <p:cNvSpPr txBox="1"/>
          <p:nvPr/>
        </p:nvSpPr>
        <p:spPr>
          <a:xfrm>
            <a:off x="9372600" y="3172968"/>
            <a:ext cx="2423160" cy="320040"/>
          </a:xfrm>
          <a:prstGeom prst="rect">
            <a:avLst/>
          </a:prstGeom>
          <a:noFill/>
          <a:ln/>
        </p:spPr>
        <p:txBody>
          <a:bodyPr wrap="square" lIns="0" tIns="0" rIns="0" bIns="0" rtlCol="0" anchor="t"/>
          <a:lstStyle/>
          <a:p>
            <a:pPr algn="ctr" indent="0" marL="0">
              <a:buNone/>
            </a:pPr>
            <a:r>
              <a:rPr lang="pt-BR" altLang="en-US" sz="1400" b="1" dirty="0">
                <a:solidFill>
                  <a:srgbClr val="1E2328"/>
                </a:solidFill>
                <a:latin typeface="Arial" pitchFamily="34" charset="0"/>
                <a:ea typeface="Arial" pitchFamily="34" charset="-122"/>
                <a:cs typeface="Arial" pitchFamily="34" charset="-120"/>
              </a:rPr>
              <a:t>Proprietário (alice)</a:t>
            </a:r>
            <a:endParaRPr lang="pt-BR" sz="1400" dirty="0"/>
          </a:p>
        </p:txBody>
      </p:sp>
      <p:sp>
        <p:nvSpPr>
          <p:cNvPr id="15" name="Shape 10"/>
          <p:cNvSpPr/>
          <p:nvPr/>
        </p:nvSpPr>
        <p:spPr>
          <a:xfrm>
            <a:off x="9464040" y="3566160"/>
            <a:ext cx="2240280" cy="384048"/>
          </a:xfrm>
          <a:prstGeom prst="roundRect">
            <a:avLst>
              <a:gd name="adj" fmla="val 19048"/>
            </a:avLst>
          </a:prstGeom>
          <a:solidFill>
            <a:srgbClr val="FFF4D6"/>
          </a:solidFill>
          <a:ln w="9525">
            <a:solidFill>
              <a:srgbClr val="FFF4D6"/>
            </a:solidFill>
            <a:prstDash val="solid"/>
          </a:ln>
        </p:spPr>
      </p:sp>
      <p:sp>
        <p:nvSpPr>
          <p:cNvPr id="16" name="Text 11"/>
          <p:cNvSpPr txBox="1"/>
          <p:nvPr/>
        </p:nvSpPr>
        <p:spPr>
          <a:xfrm>
            <a:off x="9464040" y="3566160"/>
            <a:ext cx="2240280" cy="384048"/>
          </a:xfrm>
          <a:prstGeom prst="rect">
            <a:avLst/>
          </a:prstGeom>
          <a:noFill/>
          <a:ln/>
        </p:spPr>
        <p:txBody>
          <a:bodyPr wrap="square" lIns="0" tIns="0" rIns="0" bIns="0" rtlCol="0" anchor="ctr"/>
          <a:lstStyle/>
          <a:p>
            <a:pPr algn="ctr" indent="0" marL="0">
              <a:buNone/>
            </a:pPr>
            <a:r>
              <a:rPr lang="pt-BR" altLang="en-US" sz="1200" b="1" dirty="0">
                <a:solidFill>
                  <a:srgbClr val="1E2328"/>
                </a:solidFill>
                <a:latin typeface="Calibri" pitchFamily="34" charset="0"/>
                <a:ea typeface="Calibri" pitchFamily="34" charset="-122"/>
                <a:cs typeface="Calibri" pitchFamily="34" charset="-120"/>
              </a:rPr>
              <a:t>token do carro: bloqueado</a:t>
            </a:r>
            <a:endParaRPr lang="pt-BR" sz="1200" dirty="0"/>
          </a:p>
        </p:txBody>
      </p:sp>
      <p:sp>
        <p:nvSpPr>
          <p:cNvPr id="17" name="Shape 12"/>
          <p:cNvSpPr/>
          <p:nvPr/>
        </p:nvSpPr>
        <p:spPr>
          <a:xfrm>
            <a:off x="2377440" y="2103120"/>
            <a:ext cx="2468880" cy="0"/>
          </a:xfrm>
          <a:prstGeom prst="line">
            <a:avLst/>
          </a:prstGeom>
          <a:noFill/>
          <a:ln w="28575">
            <a:solidFill>
              <a:srgbClr val="007D9C"/>
            </a:solidFill>
            <a:prstDash val="solid"/>
            <a:tailEnd type="triangle"/>
          </a:ln>
        </p:spPr>
      </p:sp>
      <p:sp>
        <p:nvSpPr>
          <p:cNvPr id="18" name="Text 13"/>
          <p:cNvSpPr txBox="1"/>
          <p:nvPr/>
        </p:nvSpPr>
        <p:spPr>
          <a:xfrm>
            <a:off x="2286000" y="1737360"/>
            <a:ext cx="2651760" cy="310896"/>
          </a:xfrm>
          <a:prstGeom prst="rect">
            <a:avLst/>
          </a:prstGeom>
          <a:noFill/>
          <a:ln/>
        </p:spPr>
        <p:txBody>
          <a:bodyPr wrap="square" lIns="0" tIns="0" rIns="0" bIns="0" rtlCol="0" anchor="t"/>
          <a:lstStyle/>
          <a:p>
            <a:pPr algn="ctr" indent="0" marL="0">
              <a:buNone/>
            </a:pPr>
            <a:r>
              <a:rPr lang="pt-BR" altLang="en-US" sz="1250" b="1" dirty="0">
                <a:solidFill>
                  <a:srgbClr val="1E2328"/>
                </a:solidFill>
                <a:latin typeface="Calibri" pitchFamily="34" charset="0"/>
                <a:ea typeface="Calibri" pitchFamily="34" charset="-122"/>
                <a:cs typeface="Calibri" pitchFamily="34" charset="-120"/>
              </a:rPr>
              <a:t>① depósito 500 + relógio #2</a:t>
            </a:r>
            <a:endParaRPr lang="pt-BR" sz="1250" dirty="0"/>
          </a:p>
        </p:txBody>
      </p:sp>
      <p:sp>
        <p:nvSpPr>
          <p:cNvPr id="19" name="Shape 14"/>
          <p:cNvSpPr/>
          <p:nvPr/>
        </p:nvSpPr>
        <p:spPr>
          <a:xfrm>
            <a:off x="2377440" y="2834640"/>
            <a:ext cx="2468880" cy="0"/>
          </a:xfrm>
          <a:prstGeom prst="line">
            <a:avLst/>
          </a:prstGeom>
          <a:noFill/>
          <a:ln w="28575">
            <a:solidFill>
              <a:srgbClr val="F2A900"/>
            </a:solidFill>
            <a:prstDash val="solid"/>
            <a:headEnd type="triangle"/>
          </a:ln>
        </p:spPr>
      </p:sp>
      <p:sp>
        <p:nvSpPr>
          <p:cNvPr id="20" name="Text 15"/>
          <p:cNvSpPr txBox="1"/>
          <p:nvPr/>
        </p:nvSpPr>
        <p:spPr>
          <a:xfrm>
            <a:off x="2286000" y="2907792"/>
            <a:ext cx="2651760" cy="310896"/>
          </a:xfrm>
          <a:prstGeom prst="rect">
            <a:avLst/>
          </a:prstGeom>
          <a:noFill/>
          <a:ln/>
        </p:spPr>
        <p:txBody>
          <a:bodyPr wrap="square" lIns="0" tIns="0" rIns="0" bIns="0" rtlCol="0" anchor="t"/>
          <a:lstStyle/>
          <a:p>
            <a:pPr algn="ctr" indent="0" marL="0">
              <a:buNone/>
            </a:pPr>
            <a:r>
              <a:rPr lang="pt-BR" altLang="en-US" sz="1250" b="1" dirty="0">
                <a:solidFill>
                  <a:srgbClr val="1E2328"/>
                </a:solidFill>
                <a:latin typeface="Calibri" pitchFamily="34" charset="0"/>
                <a:ea typeface="Calibri" pitchFamily="34" charset="-122"/>
                <a:cs typeface="Calibri" pitchFamily="34" charset="-120"/>
              </a:rPr>
              <a:t>② reembolso + itens de volta</a:t>
            </a:r>
            <a:endParaRPr lang="pt-BR" sz="1250" dirty="0"/>
          </a:p>
        </p:txBody>
      </p:sp>
      <p:sp>
        <p:nvSpPr>
          <p:cNvPr id="21" name="Shape 16"/>
          <p:cNvSpPr/>
          <p:nvPr/>
        </p:nvSpPr>
        <p:spPr>
          <a:xfrm>
            <a:off x="7360920" y="2103120"/>
            <a:ext cx="2514600" cy="0"/>
          </a:xfrm>
          <a:prstGeom prst="line">
            <a:avLst/>
          </a:prstGeom>
          <a:noFill/>
          <a:ln w="28575">
            <a:solidFill>
              <a:srgbClr val="F2A900"/>
            </a:solidFill>
            <a:prstDash val="solid"/>
            <a:tailEnd type="triangle"/>
          </a:ln>
        </p:spPr>
      </p:sp>
      <p:sp>
        <p:nvSpPr>
          <p:cNvPr id="22" name="Text 17"/>
          <p:cNvSpPr txBox="1"/>
          <p:nvPr/>
        </p:nvSpPr>
        <p:spPr>
          <a:xfrm>
            <a:off x="7360920" y="1737360"/>
            <a:ext cx="2514600" cy="310896"/>
          </a:xfrm>
          <a:prstGeom prst="rect">
            <a:avLst/>
          </a:prstGeom>
          <a:noFill/>
          <a:ln/>
        </p:spPr>
        <p:txBody>
          <a:bodyPr wrap="square" lIns="0" tIns="0" rIns="0" bIns="0" rtlCol="0" anchor="t"/>
          <a:lstStyle/>
          <a:p>
            <a:pPr algn="ctr" indent="0" marL="0">
              <a:buNone/>
            </a:pPr>
            <a:r>
              <a:rPr lang="pt-BR" altLang="en-US" sz="1250" b="1" dirty="0">
                <a:solidFill>
                  <a:srgbClr val="1E2328"/>
                </a:solidFill>
                <a:latin typeface="Calibri" pitchFamily="34" charset="0"/>
                <a:ea typeface="Calibri" pitchFamily="34" charset="-122"/>
                <a:cs typeface="Calibri" pitchFamily="34" charset="-120"/>
              </a:rPr>
              <a:t>② aluguel + cobranças</a:t>
            </a:r>
            <a:endParaRPr lang="pt-BR" sz="1250" dirty="0"/>
          </a:p>
        </p:txBody>
      </p:sp>
      <p:sp>
        <p:nvSpPr>
          <p:cNvPr id="23" name="Shape 18"/>
          <p:cNvSpPr/>
          <p:nvPr/>
        </p:nvSpPr>
        <p:spPr>
          <a:xfrm>
            <a:off x="7360920" y="2834640"/>
            <a:ext cx="2514600" cy="0"/>
          </a:xfrm>
          <a:prstGeom prst="line">
            <a:avLst/>
          </a:prstGeom>
          <a:noFill/>
          <a:ln w="28575">
            <a:solidFill>
              <a:srgbClr val="C8412E"/>
            </a:solidFill>
            <a:prstDash val="dash"/>
            <a:tailEnd type="triangle"/>
          </a:ln>
        </p:spPr>
      </p:sp>
      <p:sp>
        <p:nvSpPr>
          <p:cNvPr id="24" name="Text 19"/>
          <p:cNvSpPr txBox="1"/>
          <p:nvPr/>
        </p:nvSpPr>
        <p:spPr>
          <a:xfrm>
            <a:off x="7360920" y="2907792"/>
            <a:ext cx="2514600" cy="310896"/>
          </a:xfrm>
          <a:prstGeom prst="rect">
            <a:avLst/>
          </a:prstGeom>
          <a:noFill/>
          <a:ln/>
        </p:spPr>
        <p:txBody>
          <a:bodyPr wrap="square" lIns="0" tIns="0" rIns="0" bIns="0" rtlCol="0" anchor="t"/>
          <a:lstStyle/>
          <a:p>
            <a:pPr algn="ctr" indent="0" marL="0">
              <a:buNone/>
            </a:pPr>
            <a:r>
              <a:rPr lang="pt-BR" altLang="en-US" sz="1250" b="1" dirty="0">
                <a:solidFill>
                  <a:srgbClr val="1E2328"/>
                </a:solidFill>
                <a:latin typeface="Calibri" pitchFamily="34" charset="0"/>
                <a:ea typeface="Calibri" pitchFamily="34" charset="-122"/>
                <a:cs typeface="Calibri" pitchFamily="34" charset="-120"/>
              </a:rPr>
              <a:t>③ itens confiscados</a:t>
            </a:r>
            <a:endParaRPr lang="pt-BR" sz="1250" dirty="0"/>
          </a:p>
        </p:txBody>
      </p:sp>
      <p:sp>
        <p:nvSpPr>
          <p:cNvPr id="25" name="Shape 20"/>
          <p:cNvSpPr/>
          <p:nvPr/>
        </p:nvSpPr>
        <p:spPr>
          <a:xfrm>
            <a:off x="548640" y="4297680"/>
            <a:ext cx="3484778" cy="1828800"/>
          </a:xfrm>
          <a:prstGeom prst="roundRect">
            <a:avLst>
              <a:gd name="adj" fmla="val 4000"/>
            </a:avLst>
          </a:prstGeom>
          <a:solidFill>
            <a:srgbClr val="F2F5F7"/>
          </a:solidFill>
          <a:ln w="9525">
            <a:solidFill>
              <a:srgbClr val="F2F5F7"/>
            </a:solidFill>
            <a:prstDash val="solid"/>
          </a:ln>
        </p:spPr>
      </p:sp>
      <p:sp>
        <p:nvSpPr>
          <p:cNvPr id="26" name="Text 21"/>
          <p:cNvSpPr txBox="1"/>
          <p:nvPr/>
        </p:nvSpPr>
        <p:spPr>
          <a:xfrm>
            <a:off x="804672" y="4462272"/>
            <a:ext cx="2972714" cy="347472"/>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① Retirada</a:t>
            </a:r>
            <a:endParaRPr lang="pt-BR" sz="1600" dirty="0"/>
          </a:p>
        </p:txBody>
      </p:sp>
      <p:sp>
        <p:nvSpPr>
          <p:cNvPr id="27" name="Text 22"/>
          <p:cNvSpPr txBox="1"/>
          <p:nvPr/>
        </p:nvSpPr>
        <p:spPr>
          <a:xfrm>
            <a:off x="804672" y="4846320"/>
            <a:ext cx="2972714" cy="118872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Os tokens de depósito e os itens empenhados do locatário vão para o escrow. O token do carro fica com o proprietário, bloqueado com Rented = true.</a:t>
            </a:r>
            <a:endParaRPr lang="pt-BR" sz="1350" dirty="0"/>
          </a:p>
        </p:txBody>
      </p:sp>
      <p:sp>
        <p:nvSpPr>
          <p:cNvPr id="28" name="Shape 23"/>
          <p:cNvSpPr/>
          <p:nvPr/>
        </p:nvSpPr>
        <p:spPr>
          <a:xfrm>
            <a:off x="4353458" y="4297680"/>
            <a:ext cx="3484778" cy="1828800"/>
          </a:xfrm>
          <a:prstGeom prst="roundRect">
            <a:avLst>
              <a:gd name="adj" fmla="val 4000"/>
            </a:avLst>
          </a:prstGeom>
          <a:solidFill>
            <a:srgbClr val="F2F5F7"/>
          </a:solidFill>
          <a:ln w="9525">
            <a:solidFill>
              <a:srgbClr val="F2F5F7"/>
            </a:solidFill>
            <a:prstDash val="solid"/>
          </a:ln>
        </p:spPr>
      </p:sp>
      <p:sp>
        <p:nvSpPr>
          <p:cNvPr id="29" name="Text 24"/>
          <p:cNvSpPr txBox="1"/>
          <p:nvPr/>
        </p:nvSpPr>
        <p:spPr>
          <a:xfrm>
            <a:off x="4609490" y="4462272"/>
            <a:ext cx="2972714" cy="347472"/>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② Devolução</a:t>
            </a:r>
            <a:endParaRPr lang="pt-BR" sz="1600" dirty="0"/>
          </a:p>
        </p:txBody>
      </p:sp>
      <p:sp>
        <p:nvSpPr>
          <p:cNvPr id="30" name="Text 25"/>
          <p:cNvSpPr txBox="1"/>
          <p:nvPr/>
        </p:nvSpPr>
        <p:spPr>
          <a:xfrm>
            <a:off x="4609490" y="4846320"/>
            <a:ext cx="2972714" cy="118872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O vistoriador liquida. Aluguel e cobranças vão para o proprietário; o depósito não usado e os itens não confiscados voltam ao locatário.</a:t>
            </a:r>
            <a:endParaRPr lang="pt-BR" sz="1350" dirty="0"/>
          </a:p>
        </p:txBody>
      </p:sp>
      <p:sp>
        <p:nvSpPr>
          <p:cNvPr id="31" name="Shape 26"/>
          <p:cNvSpPr/>
          <p:nvPr/>
        </p:nvSpPr>
        <p:spPr>
          <a:xfrm>
            <a:off x="8158277" y="4297680"/>
            <a:ext cx="3484778" cy="1828800"/>
          </a:xfrm>
          <a:prstGeom prst="roundRect">
            <a:avLst>
              <a:gd name="adj" fmla="val 4000"/>
            </a:avLst>
          </a:prstGeom>
          <a:solidFill>
            <a:srgbClr val="F2F5F7"/>
          </a:solidFill>
          <a:ln w="9525">
            <a:solidFill>
              <a:srgbClr val="F2F5F7"/>
            </a:solidFill>
            <a:prstDash val="solid"/>
          </a:ln>
        </p:spPr>
      </p:sp>
      <p:sp>
        <p:nvSpPr>
          <p:cNvPr id="32" name="Text 27"/>
          <p:cNvSpPr txBox="1"/>
          <p:nvPr/>
        </p:nvSpPr>
        <p:spPr>
          <a:xfrm>
            <a:off x="8414309" y="4462272"/>
            <a:ext cx="2972714" cy="347472"/>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③ Déficit</a:t>
            </a:r>
            <a:endParaRPr lang="pt-BR" sz="1600" dirty="0"/>
          </a:p>
        </p:txBody>
      </p:sp>
      <p:sp>
        <p:nvSpPr>
          <p:cNvPr id="33" name="Text 28"/>
          <p:cNvSpPr txBox="1"/>
          <p:nvPr/>
        </p:nvSpPr>
        <p:spPr>
          <a:xfrm>
            <a:off x="8414309" y="4846320"/>
            <a:ext cx="2972714" cy="118872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Se as cobranças superam o depósito excedente, os itens empenhados vão para o proprietário, na ordem de penhor, até cobrir a dívida.</a:t>
            </a:r>
            <a:endParaRPr lang="pt-BR"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03 · TOKENIZAÇÃO</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Exemplo: liquidação por regras fixas</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14</a:t>
            </a:r>
            <a:endParaRPr lang="pt-BR" sz="1000" dirty="0"/>
          </a:p>
        </p:txBody>
      </p:sp>
      <p:sp>
        <p:nvSpPr>
          <p:cNvPr id="5" name="Text 3"/>
          <p:cNvSpPr txBox="1"/>
          <p:nvPr/>
        </p:nvSpPr>
        <p:spPr>
          <a:xfrm>
            <a:off x="548640" y="1481328"/>
            <a:ext cx="11094415" cy="566928"/>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Carro #1: </a:t>
            </a:r>
            <a:pPr indent="0" marL="0">
              <a:buNone/>
            </a:pPr>
            <a:r>
              <a:rPr lang="pt-BR" altLang="en-US" sz="1500" dirty="0">
                <a:solidFill>
                  <a:srgbClr val="1E2328"/>
                </a:solidFill>
                <a:latin typeface="Calibri" pitchFamily="34" charset="0"/>
                <a:ea typeface="Calibri" pitchFamily="34" charset="-122"/>
                <a:cs typeface="Calibri" pitchFamily="34" charset="-120"/>
              </a:rPr>
              <a:t>100/dia, garantia mínima 1000. Uma locação de 3 dias paga 300 de aluguel adiantado. Bob bloqueia 500 tokens de depósito e um relógio avaliado em 800, então a cobertura é 200 + 800 = 1000.</a:t>
            </a:r>
            <a:endParaRPr lang="pt-BR" sz="1500" dirty="0"/>
          </a:p>
        </p:txBody>
      </p:sp>
      <p:graphicFrame>
        <p:nvGraphicFramePr>
          <p:cNvPr id="6" name="Chart 0" descr=""/>
          <p:cNvGraphicFramePr/>
          <p:nvPr/>
        </p:nvGraphicFramePr>
        <p:xfrm>
          <a:off x="548640" y="2194560"/>
          <a:ext cx="667512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589520" y="2240280"/>
          <a:ext cx="4053535" cy="914400"/>
        </p:xfrm>
        <a:graphic>
          <a:graphicData uri="http://schemas.openxmlformats.org/drawingml/2006/table">
            <a:tbl>
              <a:tblPr/>
              <a:tblGrid>
                <a:gridCol w="1783080"/>
                <a:gridCol w="2270455"/>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Caso de devolução</a:t>
                      </a:r>
                      <a:endParaRPr lang="en-US" sz="1300" dirty="0">
                        <a:latin typeface="Calibri" charset="0"/>
                        <a:ea typeface="Calibri" charset="0"/>
                        <a:cs typeface="Calibri"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E23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Relógio (item #2)</a:t>
                      </a:r>
                      <a:endParaRPr lang="en-US" sz="1300" dirty="0">
                        <a:latin typeface="Calibri" charset="0"/>
                        <a:ea typeface="Calibri" charset="0"/>
                        <a:cs typeface="Calibri"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1E2328"/>
                    </a:solidFill>
                  </a:tcPr>
                </a:tc>
              </a:tr>
              <a:tr h="475488">
                <a:tc>
                  <a:txBody>
                    <a:bodyPr/>
                    <a:lstStyle/>
                    <a:p>
                      <a:pPr indent="0" marL="0">
                        <a:buNone/>
                      </a:pPr>
                      <a:r>
                        <a:rPr lang="en-US" sz="1300" dirty="0">
                          <a:solidFill>
                            <a:srgbClr val="1E2328"/>
                          </a:solidFill>
                          <a:latin typeface="Calibri" pitchFamily="34" charset="0"/>
                          <a:ea typeface="Calibri" pitchFamily="34" charset="-122"/>
                          <a:cs typeface="Calibri" pitchFamily="34" charset="-120"/>
                        </a:rPr>
                        <a:t>No prazo, sem danos</a:t>
                      </a:r>
                      <a:endParaRPr lang="en-US" sz="1300" dirty="0">
                        <a:latin typeface="Calibri" charset="0"/>
                        <a:ea typeface="Calibri" charset="0"/>
                        <a:cs typeface="Calibri"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1E2328"/>
                          </a:solidFill>
                          <a:latin typeface="Calibri" pitchFamily="34" charset="0"/>
                          <a:ea typeface="Calibri" pitchFamily="34" charset="-122"/>
                          <a:cs typeface="Calibri" pitchFamily="34" charset="-120"/>
                        </a:rPr>
                        <a:t>Devolvido ao bob</a:t>
                      </a:r>
                      <a:endParaRPr lang="en-US" sz="1300" dirty="0">
                        <a:latin typeface="Calibri" charset="0"/>
                        <a:ea typeface="Calibri" charset="0"/>
                        <a:cs typeface="Calibri"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328"/>
                          </a:solidFill>
                          <a:latin typeface="Calibri" pitchFamily="34" charset="0"/>
                          <a:ea typeface="Calibri" pitchFamily="34" charset="-122"/>
                          <a:cs typeface="Calibri" pitchFamily="34" charset="-120"/>
                        </a:rPr>
                        <a:t>Dano de 150</a:t>
                      </a:r>
                      <a:endParaRPr lang="en-US" sz="1300" dirty="0">
                        <a:latin typeface="Calibri" charset="0"/>
                        <a:ea typeface="Calibri" charset="0"/>
                        <a:cs typeface="Calibri"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1E2328"/>
                          </a:solidFill>
                          <a:latin typeface="Calibri" pitchFamily="34" charset="0"/>
                          <a:ea typeface="Calibri" pitchFamily="34" charset="-122"/>
                          <a:cs typeface="Calibri" pitchFamily="34" charset="-120"/>
                        </a:rPr>
                        <a:t>Devolvido ao bob</a:t>
                      </a:r>
                      <a:endParaRPr lang="en-US" sz="1300" dirty="0">
                        <a:latin typeface="Calibri" charset="0"/>
                        <a:ea typeface="Calibri" charset="0"/>
                        <a:cs typeface="Calibri"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328"/>
                          </a:solidFill>
                          <a:latin typeface="Calibri" pitchFamily="34" charset="0"/>
                          <a:ea typeface="Calibri" pitchFamily="34" charset="-122"/>
                          <a:cs typeface="Calibri" pitchFamily="34" charset="-120"/>
                        </a:rPr>
                        <a:t>Dano de 500</a:t>
                      </a:r>
                      <a:endParaRPr lang="en-US" sz="1300" dirty="0">
                        <a:latin typeface="Calibri" charset="0"/>
                        <a:ea typeface="Calibri" charset="0"/>
                        <a:cs typeface="Calibri"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b="1" dirty="0">
                          <a:solidFill>
                            <a:srgbClr val="C8412E"/>
                          </a:solidFill>
                          <a:latin typeface="Calibri" pitchFamily="34" charset="0"/>
                          <a:ea typeface="Calibri" pitchFamily="34" charset="-122"/>
                          <a:cs typeface="Calibri" pitchFamily="34" charset="-120"/>
                        </a:rPr>
                        <a:t>Confiscado: cobre o déficit de 300</a:t>
                      </a:r>
                      <a:endParaRPr lang="en-US" sz="1300" dirty="0">
                        <a:latin typeface="Calibri" charset="0"/>
                        <a:ea typeface="Calibri" charset="0"/>
                        <a:cs typeface="Calibri"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8" name="Shape 4"/>
          <p:cNvSpPr/>
          <p:nvPr/>
        </p:nvSpPr>
        <p:spPr>
          <a:xfrm>
            <a:off x="7589520" y="4343400"/>
            <a:ext cx="4053535" cy="1188720"/>
          </a:xfrm>
          <a:prstGeom prst="roundRect">
            <a:avLst>
              <a:gd name="adj" fmla="val 6154"/>
            </a:avLst>
          </a:prstGeom>
          <a:solidFill>
            <a:srgbClr val="E3F6FB"/>
          </a:solidFill>
          <a:ln w="9525">
            <a:solidFill>
              <a:srgbClr val="E3F6FB"/>
            </a:solidFill>
            <a:prstDash val="solid"/>
          </a:ln>
        </p:spPr>
      </p:sp>
      <p:sp>
        <p:nvSpPr>
          <p:cNvPr id="9" name="Text 5"/>
          <p:cNvSpPr txBox="1"/>
          <p:nvPr/>
        </p:nvSpPr>
        <p:spPr>
          <a:xfrm>
            <a:off x="7818120" y="4480560"/>
            <a:ext cx="3596335" cy="960120"/>
          </a:xfrm>
          <a:prstGeom prst="rect">
            <a:avLst/>
          </a:prstGeom>
          <a:noFill/>
          <a:ln/>
        </p:spPr>
        <p:txBody>
          <a:bodyPr wrap="square" lIns="0" tIns="0" rIns="0" bIns="0" rtlCol="0" anchor="t"/>
          <a:lstStyle/>
          <a:p>
            <a:pPr indent="0" marL="0">
              <a:buNone/>
            </a:pPr>
            <a:r>
              <a:rPr lang="pt-BR" altLang="en-US" sz="1400" b="1" dirty="0">
                <a:solidFill>
                  <a:srgbClr val="1E2328"/>
                </a:solidFill>
                <a:latin typeface="Calibri" pitchFamily="34" charset="0"/>
                <a:ea typeface="Calibri" pitchFamily="34" charset="-122"/>
                <a:cs typeface="Calibri" pitchFamily="34" charset="-120"/>
              </a:rPr>
              <a:t>Atraso custa mais. </a:t>
            </a:r>
            <a:pPr indent="0" marL="0">
              <a:buNone/>
            </a:pPr>
            <a:r>
              <a:rPr lang="pt-BR" altLang="en-US" sz="1400" dirty="0">
                <a:solidFill>
                  <a:srgbClr val="1E2328"/>
                </a:solidFill>
                <a:latin typeface="Calibri" pitchFamily="34" charset="0"/>
                <a:ea typeface="Calibri" pitchFamily="34" charset="-122"/>
                <a:cs typeface="Calibri" pitchFamily="34" charset="-120"/>
              </a:rPr>
              <a:t>Cada dia de atraso iniciado custa 1,5 × a diária. Uma hora de atraso no carro #1 soma 150, pagos primeiro com o depósito excedente.</a:t>
            </a:r>
            <a:endParaRPr lang="pt-B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04 · STACK TECNOLÓGICA</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Stack tecnológica por camada</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15</a:t>
            </a:r>
            <a:endParaRPr lang="pt-BR" sz="1000" dirty="0"/>
          </a:p>
        </p:txBody>
      </p:sp>
      <p:sp>
        <p:nvSpPr>
          <p:cNvPr id="5" name="Shape 3"/>
          <p:cNvSpPr/>
          <p:nvPr/>
        </p:nvSpPr>
        <p:spPr>
          <a:xfrm>
            <a:off x="548640" y="1645920"/>
            <a:ext cx="2036003" cy="2148840"/>
          </a:xfrm>
          <a:prstGeom prst="roundRect">
            <a:avLst>
              <a:gd name="adj" fmla="val 3593"/>
            </a:avLst>
          </a:prstGeom>
          <a:solidFill>
            <a:srgbClr val="F2F5F7"/>
          </a:solidFill>
          <a:ln w="9525">
            <a:solidFill>
              <a:srgbClr val="F2F5F7"/>
            </a:solidFill>
            <a:prstDash val="solid"/>
          </a:ln>
        </p:spPr>
      </p:sp>
      <p:sp>
        <p:nvSpPr>
          <p:cNvPr id="6" name="Shape 4"/>
          <p:cNvSpPr/>
          <p:nvPr/>
        </p:nvSpPr>
        <p:spPr>
          <a:xfrm>
            <a:off x="749808" y="1847088"/>
            <a:ext cx="530352" cy="530352"/>
          </a:xfrm>
          <a:prstGeom prst="ellipse">
            <a:avLst/>
          </a:prstGeom>
          <a:solidFill>
            <a:srgbClr val="1E2328"/>
          </a:solidFill>
          <a:ln w="9525">
            <a:solidFill>
              <a:srgbClr val="1E2328"/>
            </a:solidFill>
            <a:prstDash val="solid"/>
          </a:ln>
        </p:spPr>
      </p:sp>
      <p:pic>
        <p:nvPicPr>
          <p:cNvPr id="7" name="Image 0" descr="preencoded.png">    </p:cNvPr>
          <p:cNvPicPr>
            <a:picLocks noChangeAspect="1"/>
          </p:cNvPicPr>
          <p:nvPr/>
        </p:nvPicPr>
        <p:blipFill>
          <a:blip r:embed="rId1"/>
          <a:stretch>
            <a:fillRect/>
          </a:stretch>
        </p:blipFill>
        <p:spPr>
          <a:xfrm>
            <a:off x="869137" y="1966417"/>
            <a:ext cx="291694" cy="291694"/>
          </a:xfrm>
          <a:prstGeom prst="rect">
            <a:avLst/>
          </a:prstGeom>
        </p:spPr>
      </p:pic>
      <p:sp>
        <p:nvSpPr>
          <p:cNvPr id="8" name="Text 5"/>
          <p:cNvSpPr txBox="1"/>
          <p:nvPr/>
        </p:nvSpPr>
        <p:spPr>
          <a:xfrm>
            <a:off x="749808" y="248716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BLOCKCHAIN</a:t>
            </a:r>
            <a:endParaRPr lang="pt-BR" sz="950" dirty="0"/>
          </a:p>
        </p:txBody>
      </p:sp>
      <p:sp>
        <p:nvSpPr>
          <p:cNvPr id="9" name="Text 6"/>
          <p:cNvSpPr txBox="1"/>
          <p:nvPr/>
        </p:nvSpPr>
        <p:spPr>
          <a:xfrm>
            <a:off x="749808" y="270662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Nó Go próprio</a:t>
            </a:r>
            <a:endParaRPr lang="pt-BR" sz="1500" dirty="0"/>
          </a:p>
        </p:txBody>
      </p:sp>
      <p:sp>
        <p:nvSpPr>
          <p:cNvPr id="10" name="Text 7"/>
          <p:cNvSpPr txBox="1"/>
          <p:nvPr/>
        </p:nvSpPr>
        <p:spPr>
          <a:xfrm>
            <a:off x="749808" y="316382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Blocos encadeados por hash, um por transação</a:t>
            </a:r>
            <a:endParaRPr lang="pt-BR" sz="1200" dirty="0"/>
          </a:p>
        </p:txBody>
      </p:sp>
      <p:sp>
        <p:nvSpPr>
          <p:cNvPr id="11" name="Shape 8"/>
          <p:cNvSpPr/>
          <p:nvPr/>
        </p:nvSpPr>
        <p:spPr>
          <a:xfrm>
            <a:off x="2813243" y="1645920"/>
            <a:ext cx="2036003" cy="2148840"/>
          </a:xfrm>
          <a:prstGeom prst="roundRect">
            <a:avLst>
              <a:gd name="adj" fmla="val 3593"/>
            </a:avLst>
          </a:prstGeom>
          <a:solidFill>
            <a:srgbClr val="F2F5F7"/>
          </a:solidFill>
          <a:ln w="9525">
            <a:solidFill>
              <a:srgbClr val="F2F5F7"/>
            </a:solidFill>
            <a:prstDash val="solid"/>
          </a:ln>
        </p:spPr>
      </p:sp>
      <p:sp>
        <p:nvSpPr>
          <p:cNvPr id="12" name="Shape 9"/>
          <p:cNvSpPr/>
          <p:nvPr/>
        </p:nvSpPr>
        <p:spPr>
          <a:xfrm>
            <a:off x="3014411" y="1847088"/>
            <a:ext cx="530352" cy="530352"/>
          </a:xfrm>
          <a:prstGeom prst="ellipse">
            <a:avLst/>
          </a:prstGeom>
          <a:solidFill>
            <a:srgbClr val="1E2328"/>
          </a:solidFill>
          <a:ln w="9525">
            <a:solidFill>
              <a:srgbClr val="1E2328"/>
            </a:solidFill>
            <a:prstDash val="solid"/>
          </a:ln>
        </p:spPr>
      </p:sp>
      <p:pic>
        <p:nvPicPr>
          <p:cNvPr id="13" name="Image 1" descr="preencoded.png">    </p:cNvPr>
          <p:cNvPicPr>
            <a:picLocks noChangeAspect="1"/>
          </p:cNvPicPr>
          <p:nvPr/>
        </p:nvPicPr>
        <p:blipFill>
          <a:blip r:embed="rId2"/>
          <a:stretch>
            <a:fillRect/>
          </a:stretch>
        </p:blipFill>
        <p:spPr>
          <a:xfrm>
            <a:off x="3133740" y="1966417"/>
            <a:ext cx="291694" cy="291694"/>
          </a:xfrm>
          <a:prstGeom prst="rect">
            <a:avLst/>
          </a:prstGeom>
        </p:spPr>
      </p:pic>
      <p:sp>
        <p:nvSpPr>
          <p:cNvPr id="14" name="Text 10"/>
          <p:cNvSpPr txBox="1"/>
          <p:nvPr/>
        </p:nvSpPr>
        <p:spPr>
          <a:xfrm>
            <a:off x="3014411" y="248716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CONTRATO</a:t>
            </a:r>
            <a:endParaRPr lang="pt-BR" sz="950" dirty="0"/>
          </a:p>
        </p:txBody>
      </p:sp>
      <p:sp>
        <p:nvSpPr>
          <p:cNvPr id="15" name="Text 11"/>
          <p:cNvSpPr txBox="1"/>
          <p:nvPr/>
        </p:nvSpPr>
        <p:spPr>
          <a:xfrm>
            <a:off x="3014411" y="270662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Pacote Go, sem VM</a:t>
            </a:r>
            <a:endParaRPr lang="pt-BR" sz="1500" dirty="0"/>
          </a:p>
        </p:txBody>
      </p:sp>
      <p:sp>
        <p:nvSpPr>
          <p:cNvPr id="16" name="Text 12"/>
          <p:cNvSpPr txBox="1"/>
          <p:nvPr/>
        </p:nvSpPr>
        <p:spPr>
          <a:xfrm>
            <a:off x="3014411" y="316382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Uma função Dispatch decide cada tx</a:t>
            </a:r>
            <a:endParaRPr lang="pt-BR" sz="1200" dirty="0"/>
          </a:p>
        </p:txBody>
      </p:sp>
      <p:sp>
        <p:nvSpPr>
          <p:cNvPr id="17" name="Shape 13"/>
          <p:cNvSpPr/>
          <p:nvPr/>
        </p:nvSpPr>
        <p:spPr>
          <a:xfrm>
            <a:off x="5077846" y="1645920"/>
            <a:ext cx="2036003" cy="2148840"/>
          </a:xfrm>
          <a:prstGeom prst="roundRect">
            <a:avLst>
              <a:gd name="adj" fmla="val 3593"/>
            </a:avLst>
          </a:prstGeom>
          <a:solidFill>
            <a:srgbClr val="F2F5F7"/>
          </a:solidFill>
          <a:ln w="9525">
            <a:solidFill>
              <a:srgbClr val="F2F5F7"/>
            </a:solidFill>
            <a:prstDash val="solid"/>
          </a:ln>
        </p:spPr>
      </p:sp>
      <p:sp>
        <p:nvSpPr>
          <p:cNvPr id="18" name="Shape 14"/>
          <p:cNvSpPr/>
          <p:nvPr/>
        </p:nvSpPr>
        <p:spPr>
          <a:xfrm>
            <a:off x="5279014" y="1847088"/>
            <a:ext cx="530352" cy="530352"/>
          </a:xfrm>
          <a:prstGeom prst="ellipse">
            <a:avLst/>
          </a:prstGeom>
          <a:solidFill>
            <a:srgbClr val="1E2328"/>
          </a:solidFill>
          <a:ln w="9525">
            <a:solidFill>
              <a:srgbClr val="1E2328"/>
            </a:solidFill>
            <a:prstDash val="solid"/>
          </a:ln>
        </p:spPr>
      </p:sp>
      <p:pic>
        <p:nvPicPr>
          <p:cNvPr id="19" name="Image 2" descr="preencoded.png">    </p:cNvPr>
          <p:cNvPicPr>
            <a:picLocks noChangeAspect="1"/>
          </p:cNvPicPr>
          <p:nvPr/>
        </p:nvPicPr>
        <p:blipFill>
          <a:blip r:embed="rId3"/>
          <a:stretch>
            <a:fillRect/>
          </a:stretch>
        </p:blipFill>
        <p:spPr>
          <a:xfrm>
            <a:off x="5398343" y="1966417"/>
            <a:ext cx="291694" cy="291694"/>
          </a:xfrm>
          <a:prstGeom prst="rect">
            <a:avLst/>
          </a:prstGeom>
        </p:spPr>
      </p:pic>
      <p:sp>
        <p:nvSpPr>
          <p:cNvPr id="20" name="Text 15"/>
          <p:cNvSpPr txBox="1"/>
          <p:nvPr/>
        </p:nvSpPr>
        <p:spPr>
          <a:xfrm>
            <a:off x="5279014" y="248716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CONSENSO</a:t>
            </a:r>
            <a:endParaRPr lang="pt-BR" sz="950" dirty="0"/>
          </a:p>
        </p:txBody>
      </p:sp>
      <p:sp>
        <p:nvSpPr>
          <p:cNvPr id="21" name="Text 16"/>
          <p:cNvSpPr txBox="1"/>
          <p:nvPr/>
        </p:nvSpPr>
        <p:spPr>
          <a:xfrm>
            <a:off x="5279014" y="270662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Prova de autoridade</a:t>
            </a:r>
            <a:endParaRPr lang="pt-BR" sz="1500" dirty="0"/>
          </a:p>
        </p:txBody>
      </p:sp>
      <p:sp>
        <p:nvSpPr>
          <p:cNvPr id="22" name="Text 17"/>
          <p:cNvSpPr txBox="1"/>
          <p:nvPr/>
        </p:nvSpPr>
        <p:spPr>
          <a:xfrm>
            <a:off x="5279014" y="316382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Um validador assina cada bloco</a:t>
            </a:r>
            <a:endParaRPr lang="pt-BR" sz="1200" dirty="0"/>
          </a:p>
        </p:txBody>
      </p:sp>
      <p:sp>
        <p:nvSpPr>
          <p:cNvPr id="23" name="Shape 18"/>
          <p:cNvSpPr/>
          <p:nvPr/>
        </p:nvSpPr>
        <p:spPr>
          <a:xfrm>
            <a:off x="7342449" y="1645920"/>
            <a:ext cx="2036003" cy="2148840"/>
          </a:xfrm>
          <a:prstGeom prst="roundRect">
            <a:avLst>
              <a:gd name="adj" fmla="val 3593"/>
            </a:avLst>
          </a:prstGeom>
          <a:solidFill>
            <a:srgbClr val="F2F5F7"/>
          </a:solidFill>
          <a:ln w="9525">
            <a:solidFill>
              <a:srgbClr val="F2F5F7"/>
            </a:solidFill>
            <a:prstDash val="solid"/>
          </a:ln>
        </p:spPr>
      </p:sp>
      <p:sp>
        <p:nvSpPr>
          <p:cNvPr id="24" name="Shape 19"/>
          <p:cNvSpPr/>
          <p:nvPr/>
        </p:nvSpPr>
        <p:spPr>
          <a:xfrm>
            <a:off x="7543617" y="1847088"/>
            <a:ext cx="530352" cy="530352"/>
          </a:xfrm>
          <a:prstGeom prst="ellipse">
            <a:avLst/>
          </a:prstGeom>
          <a:solidFill>
            <a:srgbClr val="1E2328"/>
          </a:solidFill>
          <a:ln w="9525">
            <a:solidFill>
              <a:srgbClr val="1E2328"/>
            </a:solidFill>
            <a:prstDash val="solid"/>
          </a:ln>
        </p:spPr>
      </p:sp>
      <p:pic>
        <p:nvPicPr>
          <p:cNvPr id="25" name="Image 3" descr="preencoded.png">    </p:cNvPr>
          <p:cNvPicPr>
            <a:picLocks noChangeAspect="1"/>
          </p:cNvPicPr>
          <p:nvPr/>
        </p:nvPicPr>
        <p:blipFill>
          <a:blip r:embed="rId4"/>
          <a:stretch>
            <a:fillRect/>
          </a:stretch>
        </p:blipFill>
        <p:spPr>
          <a:xfrm>
            <a:off x="7662946" y="1966417"/>
            <a:ext cx="291694" cy="291694"/>
          </a:xfrm>
          <a:prstGeom prst="rect">
            <a:avLst/>
          </a:prstGeom>
        </p:spPr>
      </p:pic>
      <p:sp>
        <p:nvSpPr>
          <p:cNvPr id="26" name="Text 20"/>
          <p:cNvSpPr txBox="1"/>
          <p:nvPr/>
        </p:nvSpPr>
        <p:spPr>
          <a:xfrm>
            <a:off x="7543617" y="248716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API</a:t>
            </a:r>
            <a:endParaRPr lang="pt-BR" sz="950" dirty="0"/>
          </a:p>
        </p:txBody>
      </p:sp>
      <p:sp>
        <p:nvSpPr>
          <p:cNvPr id="27" name="Text 21"/>
          <p:cNvSpPr txBox="1"/>
          <p:nvPr/>
        </p:nvSpPr>
        <p:spPr>
          <a:xfrm>
            <a:off x="7543617" y="270662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net/http + JSON</a:t>
            </a:r>
            <a:endParaRPr lang="pt-BR" sz="1500" dirty="0"/>
          </a:p>
        </p:txBody>
      </p:sp>
      <p:sp>
        <p:nvSpPr>
          <p:cNvPr id="28" name="Text 22"/>
          <p:cNvSpPr txBox="1"/>
          <p:nvPr/>
        </p:nvSpPr>
        <p:spPr>
          <a:xfrm>
            <a:off x="7543617" y="316382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/tx, /assets, /rentals, /blocks, /roles</a:t>
            </a:r>
            <a:endParaRPr lang="pt-BR" sz="1200" dirty="0"/>
          </a:p>
        </p:txBody>
      </p:sp>
      <p:sp>
        <p:nvSpPr>
          <p:cNvPr id="29" name="Shape 23"/>
          <p:cNvSpPr/>
          <p:nvPr/>
        </p:nvSpPr>
        <p:spPr>
          <a:xfrm>
            <a:off x="9607052" y="1645920"/>
            <a:ext cx="2036003" cy="2148840"/>
          </a:xfrm>
          <a:prstGeom prst="roundRect">
            <a:avLst>
              <a:gd name="adj" fmla="val 3593"/>
            </a:avLst>
          </a:prstGeom>
          <a:solidFill>
            <a:srgbClr val="F2F5F7"/>
          </a:solidFill>
          <a:ln w="9525">
            <a:solidFill>
              <a:srgbClr val="F2F5F7"/>
            </a:solidFill>
            <a:prstDash val="solid"/>
          </a:ln>
        </p:spPr>
      </p:sp>
      <p:sp>
        <p:nvSpPr>
          <p:cNvPr id="30" name="Shape 24"/>
          <p:cNvSpPr/>
          <p:nvPr/>
        </p:nvSpPr>
        <p:spPr>
          <a:xfrm>
            <a:off x="9808220" y="1847088"/>
            <a:ext cx="530352" cy="530352"/>
          </a:xfrm>
          <a:prstGeom prst="ellipse">
            <a:avLst/>
          </a:prstGeom>
          <a:solidFill>
            <a:srgbClr val="1E2328"/>
          </a:solidFill>
          <a:ln w="9525">
            <a:solidFill>
              <a:srgbClr val="1E2328"/>
            </a:solidFill>
            <a:prstDash val="solid"/>
          </a:ln>
        </p:spPr>
      </p:sp>
      <p:pic>
        <p:nvPicPr>
          <p:cNvPr id="31" name="Image 4" descr="preencoded.png">    </p:cNvPr>
          <p:cNvPicPr>
            <a:picLocks noChangeAspect="1"/>
          </p:cNvPicPr>
          <p:nvPr/>
        </p:nvPicPr>
        <p:blipFill>
          <a:blip r:embed="rId5"/>
          <a:stretch>
            <a:fillRect/>
          </a:stretch>
        </p:blipFill>
        <p:spPr>
          <a:xfrm>
            <a:off x="9927549" y="1966417"/>
            <a:ext cx="291694" cy="291694"/>
          </a:xfrm>
          <a:prstGeom prst="rect">
            <a:avLst/>
          </a:prstGeom>
        </p:spPr>
      </p:pic>
      <p:sp>
        <p:nvSpPr>
          <p:cNvPr id="32" name="Text 25"/>
          <p:cNvSpPr txBox="1"/>
          <p:nvPr/>
        </p:nvSpPr>
        <p:spPr>
          <a:xfrm>
            <a:off x="9808220" y="248716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ASSINATURA</a:t>
            </a:r>
            <a:endParaRPr lang="pt-BR" sz="950" dirty="0"/>
          </a:p>
        </p:txBody>
      </p:sp>
      <p:sp>
        <p:nvSpPr>
          <p:cNvPr id="33" name="Text 26"/>
          <p:cNvSpPr txBox="1"/>
          <p:nvPr/>
        </p:nvSpPr>
        <p:spPr>
          <a:xfrm>
            <a:off x="9808220" y="270662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Ed25519</a:t>
            </a:r>
            <a:endParaRPr lang="pt-BR" sz="1500" dirty="0"/>
          </a:p>
        </p:txBody>
      </p:sp>
      <p:sp>
        <p:nvSpPr>
          <p:cNvPr id="34" name="Text 27"/>
          <p:cNvSpPr txBox="1"/>
          <p:nvPr/>
        </p:nvSpPr>
        <p:spPr>
          <a:xfrm>
            <a:off x="9808220" y="316382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crypto/ed25519 no Go, tweetnacl no navegador</a:t>
            </a:r>
            <a:endParaRPr lang="pt-BR" sz="1200" dirty="0"/>
          </a:p>
        </p:txBody>
      </p:sp>
      <p:sp>
        <p:nvSpPr>
          <p:cNvPr id="35" name="Shape 28"/>
          <p:cNvSpPr/>
          <p:nvPr/>
        </p:nvSpPr>
        <p:spPr>
          <a:xfrm>
            <a:off x="548640" y="4023360"/>
            <a:ext cx="2036003" cy="2148840"/>
          </a:xfrm>
          <a:prstGeom prst="roundRect">
            <a:avLst>
              <a:gd name="adj" fmla="val 3593"/>
            </a:avLst>
          </a:prstGeom>
          <a:solidFill>
            <a:srgbClr val="F2F5F7"/>
          </a:solidFill>
          <a:ln w="9525">
            <a:solidFill>
              <a:srgbClr val="F2F5F7"/>
            </a:solidFill>
            <a:prstDash val="solid"/>
          </a:ln>
        </p:spPr>
      </p:sp>
      <p:sp>
        <p:nvSpPr>
          <p:cNvPr id="36" name="Shape 29"/>
          <p:cNvSpPr/>
          <p:nvPr/>
        </p:nvSpPr>
        <p:spPr>
          <a:xfrm>
            <a:off x="749808" y="4224528"/>
            <a:ext cx="530352" cy="530352"/>
          </a:xfrm>
          <a:prstGeom prst="ellipse">
            <a:avLst/>
          </a:prstGeom>
          <a:solidFill>
            <a:srgbClr val="1E2328"/>
          </a:solidFill>
          <a:ln w="9525">
            <a:solidFill>
              <a:srgbClr val="1E2328"/>
            </a:solidFill>
            <a:prstDash val="solid"/>
          </a:ln>
        </p:spPr>
      </p:sp>
      <p:pic>
        <p:nvPicPr>
          <p:cNvPr id="37" name="Image 5" descr="preencoded.png">    </p:cNvPr>
          <p:cNvPicPr>
            <a:picLocks noChangeAspect="1"/>
          </p:cNvPicPr>
          <p:nvPr/>
        </p:nvPicPr>
        <p:blipFill>
          <a:blip r:embed="rId6"/>
          <a:stretch>
            <a:fillRect/>
          </a:stretch>
        </p:blipFill>
        <p:spPr>
          <a:xfrm>
            <a:off x="869137" y="4343857"/>
            <a:ext cx="291694" cy="291694"/>
          </a:xfrm>
          <a:prstGeom prst="rect">
            <a:avLst/>
          </a:prstGeom>
        </p:spPr>
      </p:pic>
      <p:sp>
        <p:nvSpPr>
          <p:cNvPr id="38" name="Text 30"/>
          <p:cNvSpPr txBox="1"/>
          <p:nvPr/>
        </p:nvSpPr>
        <p:spPr>
          <a:xfrm>
            <a:off x="749808" y="486460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HASH</a:t>
            </a:r>
            <a:endParaRPr lang="pt-BR" sz="950" dirty="0"/>
          </a:p>
        </p:txBody>
      </p:sp>
      <p:sp>
        <p:nvSpPr>
          <p:cNvPr id="39" name="Text 31"/>
          <p:cNvSpPr txBox="1"/>
          <p:nvPr/>
        </p:nvSpPr>
        <p:spPr>
          <a:xfrm>
            <a:off x="749808" y="508406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SHA-256</a:t>
            </a:r>
            <a:endParaRPr lang="pt-BR" sz="1500" dirty="0"/>
          </a:p>
        </p:txBody>
      </p:sp>
      <p:sp>
        <p:nvSpPr>
          <p:cNvPr id="40" name="Text 32"/>
          <p:cNvSpPr txBox="1"/>
          <p:nvPr/>
        </p:nvSpPr>
        <p:spPr>
          <a:xfrm>
            <a:off x="749808" y="554126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Liga documentos e estado aos blocos</a:t>
            </a:r>
            <a:endParaRPr lang="pt-BR" sz="1200" dirty="0"/>
          </a:p>
        </p:txBody>
      </p:sp>
      <p:sp>
        <p:nvSpPr>
          <p:cNvPr id="41" name="Shape 33"/>
          <p:cNvSpPr/>
          <p:nvPr/>
        </p:nvSpPr>
        <p:spPr>
          <a:xfrm>
            <a:off x="2813243" y="4023360"/>
            <a:ext cx="2036003" cy="2148840"/>
          </a:xfrm>
          <a:prstGeom prst="roundRect">
            <a:avLst>
              <a:gd name="adj" fmla="val 3593"/>
            </a:avLst>
          </a:prstGeom>
          <a:solidFill>
            <a:srgbClr val="F2F5F7"/>
          </a:solidFill>
          <a:ln w="9525">
            <a:solidFill>
              <a:srgbClr val="F2F5F7"/>
            </a:solidFill>
            <a:prstDash val="solid"/>
          </a:ln>
        </p:spPr>
      </p:sp>
      <p:sp>
        <p:nvSpPr>
          <p:cNvPr id="42" name="Shape 34"/>
          <p:cNvSpPr/>
          <p:nvPr/>
        </p:nvSpPr>
        <p:spPr>
          <a:xfrm>
            <a:off x="3014411" y="4224528"/>
            <a:ext cx="530352" cy="530352"/>
          </a:xfrm>
          <a:prstGeom prst="ellipse">
            <a:avLst/>
          </a:prstGeom>
          <a:solidFill>
            <a:srgbClr val="1E2328"/>
          </a:solidFill>
          <a:ln w="9525">
            <a:solidFill>
              <a:srgbClr val="1E2328"/>
            </a:solidFill>
            <a:prstDash val="solid"/>
          </a:ln>
        </p:spPr>
      </p:sp>
      <p:pic>
        <p:nvPicPr>
          <p:cNvPr id="43" name="Image 6" descr="preencoded.png">    </p:cNvPr>
          <p:cNvPicPr>
            <a:picLocks noChangeAspect="1"/>
          </p:cNvPicPr>
          <p:nvPr/>
        </p:nvPicPr>
        <p:blipFill>
          <a:blip r:embed="rId7"/>
          <a:stretch>
            <a:fillRect/>
          </a:stretch>
        </p:blipFill>
        <p:spPr>
          <a:xfrm>
            <a:off x="3133740" y="4343857"/>
            <a:ext cx="291694" cy="291694"/>
          </a:xfrm>
          <a:prstGeom prst="rect">
            <a:avLst/>
          </a:prstGeom>
        </p:spPr>
      </p:pic>
      <p:sp>
        <p:nvSpPr>
          <p:cNvPr id="44" name="Text 35"/>
          <p:cNvSpPr txBox="1"/>
          <p:nvPr/>
        </p:nvSpPr>
        <p:spPr>
          <a:xfrm>
            <a:off x="3014411" y="486460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PERSISTÊNCIA</a:t>
            </a:r>
            <a:endParaRPr lang="pt-BR" sz="950" dirty="0"/>
          </a:p>
        </p:txBody>
      </p:sp>
      <p:sp>
        <p:nvSpPr>
          <p:cNvPr id="45" name="Text 36"/>
          <p:cNvSpPr txBox="1"/>
          <p:nvPr/>
        </p:nvSpPr>
        <p:spPr>
          <a:xfrm>
            <a:off x="3014411" y="508406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Memória + log JSON</a:t>
            </a:r>
            <a:endParaRPr lang="pt-BR" sz="1500" dirty="0"/>
          </a:p>
        </p:txBody>
      </p:sp>
      <p:sp>
        <p:nvSpPr>
          <p:cNvPr id="46" name="Text 37"/>
          <p:cNvSpPr txBox="1"/>
          <p:nvPr/>
        </p:nvSpPr>
        <p:spPr>
          <a:xfrm>
            <a:off x="3014411" y="554126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Log reexecutado e verificado ao reiniciar</a:t>
            </a:r>
            <a:endParaRPr lang="pt-BR" sz="1200" dirty="0"/>
          </a:p>
        </p:txBody>
      </p:sp>
      <p:sp>
        <p:nvSpPr>
          <p:cNvPr id="47" name="Shape 38"/>
          <p:cNvSpPr/>
          <p:nvPr/>
        </p:nvSpPr>
        <p:spPr>
          <a:xfrm>
            <a:off x="5077846" y="4023360"/>
            <a:ext cx="2036003" cy="2148840"/>
          </a:xfrm>
          <a:prstGeom prst="roundRect">
            <a:avLst>
              <a:gd name="adj" fmla="val 3593"/>
            </a:avLst>
          </a:prstGeom>
          <a:solidFill>
            <a:srgbClr val="F2F5F7"/>
          </a:solidFill>
          <a:ln w="9525">
            <a:solidFill>
              <a:srgbClr val="F2F5F7"/>
            </a:solidFill>
            <a:prstDash val="solid"/>
          </a:ln>
        </p:spPr>
      </p:sp>
      <p:sp>
        <p:nvSpPr>
          <p:cNvPr id="48" name="Shape 39"/>
          <p:cNvSpPr/>
          <p:nvPr/>
        </p:nvSpPr>
        <p:spPr>
          <a:xfrm>
            <a:off x="5279014" y="4224528"/>
            <a:ext cx="530352" cy="530352"/>
          </a:xfrm>
          <a:prstGeom prst="ellipse">
            <a:avLst/>
          </a:prstGeom>
          <a:solidFill>
            <a:srgbClr val="1E2328"/>
          </a:solidFill>
          <a:ln w="9525">
            <a:solidFill>
              <a:srgbClr val="1E2328"/>
            </a:solidFill>
            <a:prstDash val="solid"/>
          </a:ln>
        </p:spPr>
      </p:sp>
      <p:pic>
        <p:nvPicPr>
          <p:cNvPr id="49" name="Image 7" descr="preencoded.png">    </p:cNvPr>
          <p:cNvPicPr>
            <a:picLocks noChangeAspect="1"/>
          </p:cNvPicPr>
          <p:nvPr/>
        </p:nvPicPr>
        <p:blipFill>
          <a:blip r:embed="rId8"/>
          <a:stretch>
            <a:fillRect/>
          </a:stretch>
        </p:blipFill>
        <p:spPr>
          <a:xfrm>
            <a:off x="5398343" y="4343857"/>
            <a:ext cx="291694" cy="291694"/>
          </a:xfrm>
          <a:prstGeom prst="rect">
            <a:avLst/>
          </a:prstGeom>
        </p:spPr>
      </p:pic>
      <p:sp>
        <p:nvSpPr>
          <p:cNvPr id="50" name="Text 40"/>
          <p:cNvSpPr txBox="1"/>
          <p:nvPr/>
        </p:nvSpPr>
        <p:spPr>
          <a:xfrm>
            <a:off x="5279014" y="486460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FRONT-END</a:t>
            </a:r>
            <a:endParaRPr lang="pt-BR" sz="950" dirty="0"/>
          </a:p>
        </p:txBody>
      </p:sp>
      <p:sp>
        <p:nvSpPr>
          <p:cNvPr id="51" name="Text 41"/>
          <p:cNvSpPr txBox="1"/>
          <p:nvPr/>
        </p:nvSpPr>
        <p:spPr>
          <a:xfrm>
            <a:off x="5279014" y="508406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HTML e JS estáticos</a:t>
            </a:r>
            <a:endParaRPr lang="pt-BR" sz="1500" dirty="0"/>
          </a:p>
        </p:txBody>
      </p:sp>
      <p:sp>
        <p:nvSpPr>
          <p:cNvPr id="52" name="Text 42"/>
          <p:cNvSpPr txBox="1"/>
          <p:nvPr/>
        </p:nvSpPr>
        <p:spPr>
          <a:xfrm>
            <a:off x="5279014" y="554126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Sem framework, sem etapa de build</a:t>
            </a:r>
            <a:endParaRPr lang="pt-BR" sz="1200" dirty="0"/>
          </a:p>
        </p:txBody>
      </p:sp>
      <p:sp>
        <p:nvSpPr>
          <p:cNvPr id="53" name="Shape 43"/>
          <p:cNvSpPr/>
          <p:nvPr/>
        </p:nvSpPr>
        <p:spPr>
          <a:xfrm>
            <a:off x="7342449" y="4023360"/>
            <a:ext cx="2036003" cy="2148840"/>
          </a:xfrm>
          <a:prstGeom prst="roundRect">
            <a:avLst>
              <a:gd name="adj" fmla="val 3593"/>
            </a:avLst>
          </a:prstGeom>
          <a:solidFill>
            <a:srgbClr val="F2F5F7"/>
          </a:solidFill>
          <a:ln w="9525">
            <a:solidFill>
              <a:srgbClr val="F2F5F7"/>
            </a:solidFill>
            <a:prstDash val="solid"/>
          </a:ln>
        </p:spPr>
      </p:sp>
      <p:sp>
        <p:nvSpPr>
          <p:cNvPr id="54" name="Shape 44"/>
          <p:cNvSpPr/>
          <p:nvPr/>
        </p:nvSpPr>
        <p:spPr>
          <a:xfrm>
            <a:off x="7543617" y="4224528"/>
            <a:ext cx="530352" cy="530352"/>
          </a:xfrm>
          <a:prstGeom prst="ellipse">
            <a:avLst/>
          </a:prstGeom>
          <a:solidFill>
            <a:srgbClr val="1E2328"/>
          </a:solidFill>
          <a:ln w="9525">
            <a:solidFill>
              <a:srgbClr val="1E2328"/>
            </a:solidFill>
            <a:prstDash val="solid"/>
          </a:ln>
        </p:spPr>
      </p:sp>
      <p:pic>
        <p:nvPicPr>
          <p:cNvPr id="55" name="Image 8" descr="preencoded.png">    </p:cNvPr>
          <p:cNvPicPr>
            <a:picLocks noChangeAspect="1"/>
          </p:cNvPicPr>
          <p:nvPr/>
        </p:nvPicPr>
        <p:blipFill>
          <a:blip r:embed="rId9"/>
          <a:stretch>
            <a:fillRect/>
          </a:stretch>
        </p:blipFill>
        <p:spPr>
          <a:xfrm>
            <a:off x="7662946" y="4343857"/>
            <a:ext cx="291694" cy="291694"/>
          </a:xfrm>
          <a:prstGeom prst="rect">
            <a:avLst/>
          </a:prstGeom>
        </p:spPr>
      </p:pic>
      <p:sp>
        <p:nvSpPr>
          <p:cNvPr id="56" name="Text 45"/>
          <p:cNvSpPr txBox="1"/>
          <p:nvPr/>
        </p:nvSpPr>
        <p:spPr>
          <a:xfrm>
            <a:off x="7543617" y="486460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OFF-CHAIN</a:t>
            </a:r>
            <a:endParaRPr lang="pt-BR" sz="950" dirty="0"/>
          </a:p>
        </p:txBody>
      </p:sp>
      <p:sp>
        <p:nvSpPr>
          <p:cNvPr id="57" name="Text 46"/>
          <p:cNvSpPr txBox="1"/>
          <p:nvPr/>
        </p:nvSpPr>
        <p:spPr>
          <a:xfrm>
            <a:off x="7543617" y="508406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JSON via HTTP</a:t>
            </a:r>
            <a:endParaRPr lang="pt-BR" sz="1500" dirty="0"/>
          </a:p>
        </p:txBody>
      </p:sp>
      <p:sp>
        <p:nvSpPr>
          <p:cNvPr id="58" name="Text 47"/>
          <p:cNvSpPr txBox="1"/>
          <p:nvPr/>
        </p:nvSpPr>
        <p:spPr>
          <a:xfrm>
            <a:off x="7543617" y="554126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Documentos aqui, hashes on-chain</a:t>
            </a:r>
            <a:endParaRPr lang="pt-BR" sz="1200" dirty="0"/>
          </a:p>
        </p:txBody>
      </p:sp>
      <p:sp>
        <p:nvSpPr>
          <p:cNvPr id="59" name="Shape 48"/>
          <p:cNvSpPr/>
          <p:nvPr/>
        </p:nvSpPr>
        <p:spPr>
          <a:xfrm>
            <a:off x="9607052" y="4023360"/>
            <a:ext cx="2036003" cy="2148840"/>
          </a:xfrm>
          <a:prstGeom prst="roundRect">
            <a:avLst>
              <a:gd name="adj" fmla="val 3593"/>
            </a:avLst>
          </a:prstGeom>
          <a:solidFill>
            <a:srgbClr val="F2F5F7"/>
          </a:solidFill>
          <a:ln w="9525">
            <a:solidFill>
              <a:srgbClr val="F2F5F7"/>
            </a:solidFill>
            <a:prstDash val="solid"/>
          </a:ln>
        </p:spPr>
      </p:sp>
      <p:sp>
        <p:nvSpPr>
          <p:cNvPr id="60" name="Shape 49"/>
          <p:cNvSpPr/>
          <p:nvPr/>
        </p:nvSpPr>
        <p:spPr>
          <a:xfrm>
            <a:off x="9808220" y="4224528"/>
            <a:ext cx="530352" cy="530352"/>
          </a:xfrm>
          <a:prstGeom prst="ellipse">
            <a:avLst/>
          </a:prstGeom>
          <a:solidFill>
            <a:srgbClr val="1E2328"/>
          </a:solidFill>
          <a:ln w="9525">
            <a:solidFill>
              <a:srgbClr val="1E2328"/>
            </a:solidFill>
            <a:prstDash val="solid"/>
          </a:ln>
        </p:spPr>
      </p:sp>
      <p:pic>
        <p:nvPicPr>
          <p:cNvPr id="61" name="Image 9" descr="preencoded.png">    </p:cNvPr>
          <p:cNvPicPr>
            <a:picLocks noChangeAspect="1"/>
          </p:cNvPicPr>
          <p:nvPr/>
        </p:nvPicPr>
        <p:blipFill>
          <a:blip r:embed="rId10"/>
          <a:stretch>
            <a:fillRect/>
          </a:stretch>
        </p:blipFill>
        <p:spPr>
          <a:xfrm>
            <a:off x="9927549" y="4343857"/>
            <a:ext cx="291694" cy="291694"/>
          </a:xfrm>
          <a:prstGeom prst="rect">
            <a:avLst/>
          </a:prstGeom>
        </p:spPr>
      </p:pic>
      <p:sp>
        <p:nvSpPr>
          <p:cNvPr id="62" name="Text 50"/>
          <p:cNvSpPr txBox="1"/>
          <p:nvPr/>
        </p:nvSpPr>
        <p:spPr>
          <a:xfrm>
            <a:off x="9808220" y="4864608"/>
            <a:ext cx="1633667" cy="219456"/>
          </a:xfrm>
          <a:prstGeom prst="rect">
            <a:avLst/>
          </a:prstGeom>
          <a:noFill/>
          <a:ln/>
        </p:spPr>
        <p:txBody>
          <a:bodyPr wrap="square" lIns="0" tIns="0" rIns="0" bIns="0" rtlCol="0" anchor="t"/>
          <a:lstStyle/>
          <a:p>
            <a:pPr indent="0" marL="0">
              <a:buNone/>
            </a:pPr>
            <a:r>
              <a:rPr lang="pt-BR" altLang="en-US" sz="950" b="1" spc="100" kern="0" dirty="0">
                <a:solidFill>
                  <a:srgbClr val="007D9C"/>
                </a:solidFill>
                <a:latin typeface="Arial" pitchFamily="34" charset="0"/>
                <a:ea typeface="Arial" pitchFamily="34" charset="-122"/>
                <a:cs typeface="Arial" pitchFamily="34" charset="-120"/>
              </a:rPr>
              <a:t>IMPLANTAÇÃO</a:t>
            </a:r>
            <a:endParaRPr lang="pt-BR" sz="950" dirty="0"/>
          </a:p>
        </p:txBody>
      </p:sp>
      <p:sp>
        <p:nvSpPr>
          <p:cNvPr id="63" name="Text 51"/>
          <p:cNvSpPr txBox="1"/>
          <p:nvPr/>
        </p:nvSpPr>
        <p:spPr>
          <a:xfrm>
            <a:off x="9808220" y="5084064"/>
            <a:ext cx="1670243" cy="457200"/>
          </a:xfrm>
          <a:prstGeom prst="rect">
            <a:avLst/>
          </a:prstGeom>
          <a:noFill/>
          <a:ln/>
        </p:spPr>
        <p:txBody>
          <a:bodyPr wrap="square" lIns="0" tIns="0" rIns="0" bIns="0" rtlCol="0" anchor="t"/>
          <a:lstStyle/>
          <a:p>
            <a:pPr indent="0" marL="0">
              <a:buNone/>
            </a:pPr>
            <a:r>
              <a:rPr lang="pt-BR" altLang="en-US" sz="1500" b="1" dirty="0">
                <a:solidFill>
                  <a:srgbClr val="1E2328"/>
                </a:solidFill>
                <a:latin typeface="Calibri" pitchFamily="34" charset="0"/>
                <a:ea typeface="Calibri" pitchFamily="34" charset="-122"/>
                <a:cs typeface="Calibri" pitchFamily="34" charset="-120"/>
              </a:rPr>
              <a:t>Docker Compose</a:t>
            </a:r>
            <a:endParaRPr lang="pt-BR" sz="1500" dirty="0"/>
          </a:p>
        </p:txBody>
      </p:sp>
      <p:sp>
        <p:nvSpPr>
          <p:cNvPr id="64" name="Text 52"/>
          <p:cNvSpPr txBox="1"/>
          <p:nvPr/>
        </p:nvSpPr>
        <p:spPr>
          <a:xfrm>
            <a:off x="9808220" y="5541264"/>
            <a:ext cx="1670243" cy="548640"/>
          </a:xfrm>
          <a:prstGeom prst="rect">
            <a:avLst/>
          </a:prstGeom>
          <a:noFill/>
          <a:ln/>
        </p:spPr>
        <p:txBody>
          <a:bodyPr wrap="square" lIns="0" tIns="0" rIns="0" bIns="0" rtlCol="0" anchor="t"/>
          <a:lstStyle/>
          <a:p>
            <a:pPr indent="0" marL="0">
              <a:buNone/>
            </a:pPr>
            <a:r>
              <a:rPr lang="pt-BR" altLang="en-US" sz="1200" dirty="0">
                <a:solidFill>
                  <a:srgbClr val="5F6B76"/>
                </a:solidFill>
                <a:latin typeface="Calibri" pitchFamily="34" charset="0"/>
                <a:ea typeface="Calibri" pitchFamily="34" charset="-122"/>
                <a:cs typeface="Calibri" pitchFamily="34" charset="-120"/>
              </a:rPr>
              <a:t>Serviços chain, seed, web e meta</a:t>
            </a:r>
            <a:endParaRPr lang="pt-BR"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04 · STACK TECNOLÓGICA</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Pequeno, autocontido, um comando para rodar</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16</a:t>
            </a:r>
            <a:endParaRPr lang="pt-BR" sz="1000" dirty="0"/>
          </a:p>
        </p:txBody>
      </p:sp>
      <p:sp>
        <p:nvSpPr>
          <p:cNvPr id="5" name="Shape 3"/>
          <p:cNvSpPr/>
          <p:nvPr/>
        </p:nvSpPr>
        <p:spPr>
          <a:xfrm>
            <a:off x="548640" y="1691640"/>
            <a:ext cx="2606040" cy="1874520"/>
          </a:xfrm>
          <a:prstGeom prst="roundRect">
            <a:avLst>
              <a:gd name="adj" fmla="val 3902"/>
            </a:avLst>
          </a:prstGeom>
          <a:solidFill>
            <a:srgbClr val="F2F5F7"/>
          </a:solidFill>
          <a:ln w="9525">
            <a:solidFill>
              <a:srgbClr val="F2F5F7"/>
            </a:solidFill>
            <a:prstDash val="solid"/>
          </a:ln>
        </p:spPr>
      </p:sp>
      <p:sp>
        <p:nvSpPr>
          <p:cNvPr id="6" name="Text 4"/>
          <p:cNvSpPr txBox="1"/>
          <p:nvPr/>
        </p:nvSpPr>
        <p:spPr>
          <a:xfrm>
            <a:off x="777240" y="1856232"/>
            <a:ext cx="2194560" cy="868680"/>
          </a:xfrm>
          <a:prstGeom prst="rect">
            <a:avLst/>
          </a:prstGeom>
          <a:noFill/>
          <a:ln/>
        </p:spPr>
        <p:txBody>
          <a:bodyPr wrap="square" lIns="0" tIns="0" rIns="0" bIns="0" rtlCol="0" anchor="t"/>
          <a:lstStyle/>
          <a:p>
            <a:pPr indent="0" marL="0">
              <a:buNone/>
            </a:pPr>
            <a:r>
              <a:rPr lang="pt-BR" altLang="en-US" sz="4600" b="1" dirty="0">
                <a:solidFill>
                  <a:srgbClr val="007D9C"/>
                </a:solidFill>
                <a:latin typeface="Arial" pitchFamily="34" charset="0"/>
                <a:ea typeface="Arial" pitchFamily="34" charset="-122"/>
                <a:cs typeface="Arial" pitchFamily="34" charset="-120"/>
              </a:rPr>
              <a:t>0</a:t>
            </a:r>
            <a:endParaRPr lang="pt-BR" sz="4600" dirty="0"/>
          </a:p>
        </p:txBody>
      </p:sp>
      <p:sp>
        <p:nvSpPr>
          <p:cNvPr id="7" name="Text 5"/>
          <p:cNvSpPr txBox="1"/>
          <p:nvPr/>
        </p:nvSpPr>
        <p:spPr>
          <a:xfrm>
            <a:off x="777240" y="2743200"/>
            <a:ext cx="2240280" cy="68580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dependências Go externas:</a:t>
            </a:r>
            <a:endParaRPr lang="pt-BR" sz="1300" dirty="0"/>
          </a:p>
          <a:p>
            <a:pPr indent="0" marL="0">
              <a:buNone/>
            </a:pPr>
            <a:r>
              <a:rPr lang="pt-BR" altLang="en-US" sz="1300" dirty="0">
                <a:solidFill>
                  <a:srgbClr val="5F6B76"/>
                </a:solidFill>
                <a:latin typeface="Calibri" pitchFamily="34" charset="0"/>
                <a:ea typeface="Calibri" pitchFamily="34" charset="-122"/>
                <a:cs typeface="Calibri" pitchFamily="34" charset="-120"/>
              </a:rPr>
              <a:t>só a biblioteca padrão</a:t>
            </a:r>
            <a:endParaRPr lang="pt-BR" sz="1300" dirty="0"/>
          </a:p>
        </p:txBody>
      </p:sp>
      <p:sp>
        <p:nvSpPr>
          <p:cNvPr id="8" name="Shape 6"/>
          <p:cNvSpPr/>
          <p:nvPr/>
        </p:nvSpPr>
        <p:spPr>
          <a:xfrm>
            <a:off x="3383280" y="1691640"/>
            <a:ext cx="2606040" cy="1874520"/>
          </a:xfrm>
          <a:prstGeom prst="roundRect">
            <a:avLst>
              <a:gd name="adj" fmla="val 3902"/>
            </a:avLst>
          </a:prstGeom>
          <a:solidFill>
            <a:srgbClr val="F2F5F7"/>
          </a:solidFill>
          <a:ln w="9525">
            <a:solidFill>
              <a:srgbClr val="F2F5F7"/>
            </a:solidFill>
            <a:prstDash val="solid"/>
          </a:ln>
        </p:spPr>
      </p:sp>
      <p:sp>
        <p:nvSpPr>
          <p:cNvPr id="9" name="Text 7"/>
          <p:cNvSpPr txBox="1"/>
          <p:nvPr/>
        </p:nvSpPr>
        <p:spPr>
          <a:xfrm>
            <a:off x="3611880" y="1856232"/>
            <a:ext cx="2194560" cy="868680"/>
          </a:xfrm>
          <a:prstGeom prst="rect">
            <a:avLst/>
          </a:prstGeom>
          <a:noFill/>
          <a:ln/>
        </p:spPr>
        <p:txBody>
          <a:bodyPr wrap="square" lIns="0" tIns="0" rIns="0" bIns="0" rtlCol="0" anchor="t"/>
          <a:lstStyle/>
          <a:p>
            <a:pPr indent="0" marL="0">
              <a:buNone/>
            </a:pPr>
            <a:r>
              <a:rPr lang="pt-BR" altLang="en-US" sz="4600" b="1" dirty="0">
                <a:solidFill>
                  <a:srgbClr val="007D9C"/>
                </a:solidFill>
                <a:latin typeface="Arial" pitchFamily="34" charset="0"/>
                <a:ea typeface="Arial" pitchFamily="34" charset="-122"/>
                <a:cs typeface="Arial" pitchFamily="34" charset="-120"/>
              </a:rPr>
              <a:t>1.431</a:t>
            </a:r>
            <a:endParaRPr lang="pt-BR" sz="4600" dirty="0"/>
          </a:p>
        </p:txBody>
      </p:sp>
      <p:sp>
        <p:nvSpPr>
          <p:cNvPr id="10" name="Text 8"/>
          <p:cNvSpPr txBox="1"/>
          <p:nvPr/>
        </p:nvSpPr>
        <p:spPr>
          <a:xfrm>
            <a:off x="3611880" y="2743200"/>
            <a:ext cx="2240280" cy="68580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linhas de Go,</a:t>
            </a:r>
            <a:endParaRPr lang="pt-BR" sz="1300" dirty="0"/>
          </a:p>
          <a:p>
            <a:pPr indent="0" marL="0">
              <a:buNone/>
            </a:pPr>
            <a:r>
              <a:rPr lang="pt-BR" altLang="en-US" sz="1300" dirty="0">
                <a:solidFill>
                  <a:srgbClr val="5F6B76"/>
                </a:solidFill>
                <a:latin typeface="Calibri" pitchFamily="34" charset="0"/>
                <a:ea typeface="Calibri" pitchFamily="34" charset="-122"/>
                <a:cs typeface="Calibri" pitchFamily="34" charset="-120"/>
              </a:rPr>
              <a:t>mais 567 linhas de testes</a:t>
            </a:r>
            <a:endParaRPr lang="pt-BR" sz="1300" dirty="0"/>
          </a:p>
        </p:txBody>
      </p:sp>
      <p:sp>
        <p:nvSpPr>
          <p:cNvPr id="11" name="Shape 9"/>
          <p:cNvSpPr/>
          <p:nvPr/>
        </p:nvSpPr>
        <p:spPr>
          <a:xfrm>
            <a:off x="548640" y="3794760"/>
            <a:ext cx="2606040" cy="1874520"/>
          </a:xfrm>
          <a:prstGeom prst="roundRect">
            <a:avLst>
              <a:gd name="adj" fmla="val 3902"/>
            </a:avLst>
          </a:prstGeom>
          <a:solidFill>
            <a:srgbClr val="F2F5F7"/>
          </a:solidFill>
          <a:ln w="9525">
            <a:solidFill>
              <a:srgbClr val="F2F5F7"/>
            </a:solidFill>
            <a:prstDash val="solid"/>
          </a:ln>
        </p:spPr>
      </p:sp>
      <p:sp>
        <p:nvSpPr>
          <p:cNvPr id="12" name="Text 10"/>
          <p:cNvSpPr txBox="1"/>
          <p:nvPr/>
        </p:nvSpPr>
        <p:spPr>
          <a:xfrm>
            <a:off x="777240" y="3959352"/>
            <a:ext cx="2194560" cy="868680"/>
          </a:xfrm>
          <a:prstGeom prst="rect">
            <a:avLst/>
          </a:prstGeom>
          <a:noFill/>
          <a:ln/>
        </p:spPr>
        <p:txBody>
          <a:bodyPr wrap="square" lIns="0" tIns="0" rIns="0" bIns="0" rtlCol="0" anchor="t"/>
          <a:lstStyle/>
          <a:p>
            <a:pPr indent="0" marL="0">
              <a:buNone/>
            </a:pPr>
            <a:r>
              <a:rPr lang="pt-BR" altLang="en-US" sz="4600" b="1" dirty="0">
                <a:solidFill>
                  <a:srgbClr val="007D9C"/>
                </a:solidFill>
                <a:latin typeface="Arial" pitchFamily="34" charset="0"/>
                <a:ea typeface="Arial" pitchFamily="34" charset="-122"/>
                <a:cs typeface="Arial" pitchFamily="34" charset="-120"/>
              </a:rPr>
              <a:t>42</a:t>
            </a:r>
            <a:endParaRPr lang="pt-BR" sz="4600" dirty="0"/>
          </a:p>
        </p:txBody>
      </p:sp>
      <p:sp>
        <p:nvSpPr>
          <p:cNvPr id="13" name="Text 11"/>
          <p:cNvSpPr txBox="1"/>
          <p:nvPr/>
        </p:nvSpPr>
        <p:spPr>
          <a:xfrm>
            <a:off x="777240" y="4846320"/>
            <a:ext cx="2240280" cy="68580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casos de teste passando,</a:t>
            </a:r>
            <a:endParaRPr lang="pt-BR" sz="1300" dirty="0"/>
          </a:p>
          <a:p>
            <a:pPr indent="0" marL="0">
              <a:buNone/>
            </a:pPr>
            <a:r>
              <a:rPr lang="pt-BR" altLang="en-US" sz="1300" dirty="0">
                <a:solidFill>
                  <a:srgbClr val="5F6B76"/>
                </a:solidFill>
                <a:latin typeface="Calibri" pitchFamily="34" charset="0"/>
                <a:ea typeface="Calibri" pitchFamily="34" charset="-122"/>
                <a:cs typeface="Calibri" pitchFamily="34" charset="-120"/>
              </a:rPr>
              <a:t>com o detector de corridas</a:t>
            </a:r>
            <a:endParaRPr lang="pt-BR" sz="1300" dirty="0"/>
          </a:p>
        </p:txBody>
      </p:sp>
      <p:sp>
        <p:nvSpPr>
          <p:cNvPr id="14" name="Shape 12"/>
          <p:cNvSpPr/>
          <p:nvPr/>
        </p:nvSpPr>
        <p:spPr>
          <a:xfrm>
            <a:off x="3383280" y="3794760"/>
            <a:ext cx="2606040" cy="1874520"/>
          </a:xfrm>
          <a:prstGeom prst="roundRect">
            <a:avLst>
              <a:gd name="adj" fmla="val 3902"/>
            </a:avLst>
          </a:prstGeom>
          <a:solidFill>
            <a:srgbClr val="F2F5F7"/>
          </a:solidFill>
          <a:ln w="9525">
            <a:solidFill>
              <a:srgbClr val="F2F5F7"/>
            </a:solidFill>
            <a:prstDash val="solid"/>
          </a:ln>
        </p:spPr>
      </p:sp>
      <p:sp>
        <p:nvSpPr>
          <p:cNvPr id="15" name="Text 13"/>
          <p:cNvSpPr txBox="1"/>
          <p:nvPr/>
        </p:nvSpPr>
        <p:spPr>
          <a:xfrm>
            <a:off x="3611880" y="3959352"/>
            <a:ext cx="2194560" cy="868680"/>
          </a:xfrm>
          <a:prstGeom prst="rect">
            <a:avLst/>
          </a:prstGeom>
          <a:noFill/>
          <a:ln/>
        </p:spPr>
        <p:txBody>
          <a:bodyPr wrap="square" lIns="0" tIns="0" rIns="0" bIns="0" rtlCol="0" anchor="t"/>
          <a:lstStyle/>
          <a:p>
            <a:pPr indent="0" marL="0">
              <a:buNone/>
            </a:pPr>
            <a:r>
              <a:rPr lang="pt-BR" altLang="en-US" sz="4600" b="1" dirty="0">
                <a:solidFill>
                  <a:srgbClr val="007D9C"/>
                </a:solidFill>
                <a:latin typeface="Arial" pitchFamily="34" charset="0"/>
                <a:ea typeface="Arial" pitchFamily="34" charset="-122"/>
                <a:cs typeface="Arial" pitchFamily="34" charset="-120"/>
              </a:rPr>
              <a:t>4</a:t>
            </a:r>
            <a:endParaRPr lang="pt-BR" sz="4600" dirty="0"/>
          </a:p>
        </p:txBody>
      </p:sp>
      <p:sp>
        <p:nvSpPr>
          <p:cNvPr id="16" name="Text 14"/>
          <p:cNvSpPr txBox="1"/>
          <p:nvPr/>
        </p:nvSpPr>
        <p:spPr>
          <a:xfrm>
            <a:off x="3611880" y="4846320"/>
            <a:ext cx="2240280" cy="68580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serviços no Docker Compose</a:t>
            </a:r>
            <a:endParaRPr lang="pt-BR" sz="1300" dirty="0"/>
          </a:p>
        </p:txBody>
      </p:sp>
      <p:sp>
        <p:nvSpPr>
          <p:cNvPr id="17" name="Shape 15"/>
          <p:cNvSpPr/>
          <p:nvPr/>
        </p:nvSpPr>
        <p:spPr>
          <a:xfrm>
            <a:off x="6400800" y="1691640"/>
            <a:ext cx="5242255" cy="3977640"/>
          </a:xfrm>
          <a:prstGeom prst="roundRect">
            <a:avLst>
              <a:gd name="adj" fmla="val 1839"/>
            </a:avLst>
          </a:prstGeom>
          <a:solidFill>
            <a:srgbClr val="1E2328"/>
          </a:solidFill>
          <a:ln w="9525">
            <a:solidFill>
              <a:srgbClr val="1E2328"/>
            </a:solidFill>
            <a:prstDash val="solid"/>
          </a:ln>
        </p:spPr>
      </p:sp>
      <p:sp>
        <p:nvSpPr>
          <p:cNvPr id="18" name="Text 16"/>
          <p:cNvSpPr txBox="1"/>
          <p:nvPr/>
        </p:nvSpPr>
        <p:spPr>
          <a:xfrm>
            <a:off x="6720840" y="1920240"/>
            <a:ext cx="4693615" cy="3566160"/>
          </a:xfrm>
          <a:prstGeom prst="rect">
            <a:avLst/>
          </a:prstGeom>
          <a:noFill/>
          <a:ln/>
        </p:spPr>
        <p:txBody>
          <a:bodyPr wrap="square" lIns="0" tIns="0" rIns="0" bIns="0" rtlCol="0" anchor="t"/>
          <a:lstStyle/>
          <a:p>
            <a:pPr indent="0" marL="0">
              <a:spcAft>
                <a:spcPts val="300"/>
              </a:spcAft>
              <a:buNone/>
            </a:pPr>
            <a:r>
              <a:rPr lang="pt-BR" altLang="en-US" sz="1300" b="1" dirty="0">
                <a:solidFill>
                  <a:srgbClr val="FFFFFF"/>
                </a:solidFill>
                <a:latin typeface="Courier New" pitchFamily="34" charset="0"/>
                <a:ea typeface="Courier New" pitchFamily="34" charset="-122"/>
                <a:cs typeface="Courier New" pitchFamily="34" charset="-120"/>
              </a:rPr>
              <a:t>$ docker compose up --build</a:t>
            </a:r>
            <a:endParaRPr lang="pt-BR" sz="1300" dirty="0"/>
          </a:p>
          <a:p>
            <a:pPr indent="0" marL="0">
              <a:spcAft>
                <a:spcPts val="300"/>
              </a:spcAft>
              <a:buNone/>
            </a:pPr>
            <a:r>
              <a:rPr lang="pt-BR" altLang="en-US" sz="1300" dirty="0">
                <a:solidFill>
                  <a:srgbClr val="1E2328"/>
                </a:solidFill>
                <a:latin typeface="Courier New" pitchFamily="34" charset="0"/>
                <a:ea typeface="Courier New" pitchFamily="34" charset="-122"/>
                <a:cs typeface="Courier New" pitchFamily="34" charset="-120"/>
              </a:rPr>
              <a:t> </a:t>
            </a:r>
            <a:endParaRPr lang="pt-BR" sz="1300" dirty="0"/>
          </a:p>
          <a:p>
            <a:pPr indent="0" marL="0">
              <a:spcAft>
                <a:spcPts val="300"/>
              </a:spcAft>
              <a:buNone/>
            </a:pPr>
            <a:r>
              <a:rPr lang="pt-BR" altLang="en-US" sz="1300" b="1" dirty="0">
                <a:solidFill>
                  <a:srgbClr val="00ADD8"/>
                </a:solidFill>
                <a:latin typeface="Courier New" pitchFamily="34" charset="0"/>
                <a:ea typeface="Courier New" pitchFamily="34" charset="-122"/>
                <a:cs typeface="Courier New" pitchFamily="34" charset="-120"/>
              </a:rPr>
              <a:t>chain  </a:t>
            </a:r>
            <a:pPr indent="0" marL="0">
              <a:spcAft>
                <a:spcPts val="300"/>
              </a:spcAft>
              <a:buNone/>
            </a:pPr>
            <a:r>
              <a:rPr lang="pt-BR" altLang="en-US" sz="1300" dirty="0">
                <a:solidFill>
                  <a:srgbClr val="F2A900"/>
                </a:solidFill>
                <a:latin typeface="Courier New" pitchFamily="34" charset="0"/>
                <a:ea typeface="Courier New" pitchFamily="34" charset="-122"/>
                <a:cs typeface="Courier New" pitchFamily="34" charset="-120"/>
              </a:rPr>
              <a:t>:8080  </a:t>
            </a:r>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nó Go, bloco gênese #0</a:t>
            </a:r>
            <a:endParaRPr lang="pt-BR" sz="1300" dirty="0"/>
          </a:p>
          <a:p>
            <a:pPr indent="0" marL="0">
              <a:spcAft>
                <a:spcPts val="300"/>
              </a:spcAft>
              <a:buNone/>
            </a:pPr>
            <a:r>
              <a:rPr lang="pt-BR" altLang="en-US" sz="1300" b="1" dirty="0">
                <a:solidFill>
                  <a:srgbClr val="00ADD8"/>
                </a:solidFill>
                <a:latin typeface="Courier New" pitchFamily="34" charset="0"/>
                <a:ea typeface="Courier New" pitchFamily="34" charset="-122"/>
                <a:cs typeface="Courier New" pitchFamily="34" charset="-120"/>
              </a:rPr>
              <a:t>seed   </a:t>
            </a:r>
            <a:pPr indent="0" marL="0">
              <a:spcAft>
                <a:spcPts val="300"/>
              </a:spcAft>
              <a:buNone/>
            </a:pPr>
            <a:r>
              <a:rPr lang="pt-BR" altLang="en-US" sz="1300" dirty="0">
                <a:solidFill>
                  <a:srgbClr val="F2A900"/>
                </a:solidFill>
                <a:latin typeface="Courier New" pitchFamily="34" charset="0"/>
                <a:ea typeface="Courier New" pitchFamily="34" charset="-122"/>
                <a:cs typeface="Courier New" pitchFamily="34" charset="-120"/>
              </a:rPr>
              <a:t>       </a:t>
            </a:r>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registra dados da demo e sai</a:t>
            </a:r>
            <a:endParaRPr lang="pt-BR" sz="1300" dirty="0"/>
          </a:p>
          <a:p>
            <a:pPr indent="0" marL="0">
              <a:spcAft>
                <a:spcPts val="300"/>
              </a:spcAft>
              <a:buNone/>
            </a:pPr>
            <a:r>
              <a:rPr lang="pt-BR" altLang="en-US" sz="1300" b="1" dirty="0">
                <a:solidFill>
                  <a:srgbClr val="00ADD8"/>
                </a:solidFill>
                <a:latin typeface="Courier New" pitchFamily="34" charset="0"/>
                <a:ea typeface="Courier New" pitchFamily="34" charset="-122"/>
                <a:cs typeface="Courier New" pitchFamily="34" charset="-120"/>
              </a:rPr>
              <a:t>web    </a:t>
            </a:r>
            <a:pPr indent="0" marL="0">
              <a:spcAft>
                <a:spcPts val="300"/>
              </a:spcAft>
              <a:buNone/>
            </a:pPr>
            <a:r>
              <a:rPr lang="pt-BR" altLang="en-US" sz="1300" dirty="0">
                <a:solidFill>
                  <a:srgbClr val="F2A900"/>
                </a:solidFill>
                <a:latin typeface="Courier New" pitchFamily="34" charset="0"/>
                <a:ea typeface="Courier New" pitchFamily="34" charset="-122"/>
                <a:cs typeface="Courier New" pitchFamily="34" charset="-120"/>
              </a:rPr>
              <a:t>:3000  </a:t>
            </a:r>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o app web</a:t>
            </a:r>
            <a:endParaRPr lang="pt-BR" sz="1300" dirty="0"/>
          </a:p>
          <a:p>
            <a:pPr indent="0" marL="0">
              <a:spcAft>
                <a:spcPts val="300"/>
              </a:spcAft>
              <a:buNone/>
            </a:pPr>
            <a:r>
              <a:rPr lang="pt-BR" altLang="en-US" sz="1300" b="1" dirty="0">
                <a:solidFill>
                  <a:srgbClr val="00ADD8"/>
                </a:solidFill>
                <a:latin typeface="Courier New" pitchFamily="34" charset="0"/>
                <a:ea typeface="Courier New" pitchFamily="34" charset="-122"/>
                <a:cs typeface="Courier New" pitchFamily="34" charset="-120"/>
              </a:rPr>
              <a:t>meta   </a:t>
            </a:r>
            <a:pPr indent="0" marL="0">
              <a:spcAft>
                <a:spcPts val="300"/>
              </a:spcAft>
              <a:buNone/>
            </a:pPr>
            <a:r>
              <a:rPr lang="pt-BR" altLang="en-US" sz="1300" dirty="0">
                <a:solidFill>
                  <a:srgbClr val="F2A900"/>
                </a:solidFill>
                <a:latin typeface="Courier New" pitchFamily="34" charset="0"/>
                <a:ea typeface="Courier New" pitchFamily="34" charset="-122"/>
                <a:cs typeface="Courier New" pitchFamily="34" charset="-120"/>
              </a:rPr>
              <a:t>:3001  </a:t>
            </a:r>
            <a:pPr indent="0" marL="0">
              <a:spcAft>
                <a:spcPts val="300"/>
              </a:spcAft>
              <a:buNone/>
            </a:pPr>
            <a:r>
              <a:rPr lang="pt-BR" altLang="en-US" sz="1300" dirty="0">
                <a:solidFill>
                  <a:srgbClr val="FFFFFF"/>
                </a:solidFill>
                <a:latin typeface="Courier New" pitchFamily="34" charset="0"/>
                <a:ea typeface="Courier New" pitchFamily="34" charset="-122"/>
                <a:cs typeface="Courier New" pitchFamily="34" charset="-120"/>
              </a:rPr>
              <a:t>documentos JSON off-chain</a:t>
            </a:r>
            <a:endParaRPr lang="pt-BR" sz="1300" dirty="0"/>
          </a:p>
          <a:p>
            <a:pPr indent="0" marL="0">
              <a:spcAft>
                <a:spcPts val="300"/>
              </a:spcAft>
              <a:buNone/>
            </a:pPr>
            <a:r>
              <a:rPr lang="pt-BR" altLang="en-US" sz="1300" dirty="0">
                <a:solidFill>
                  <a:srgbClr val="1E2328"/>
                </a:solidFill>
                <a:latin typeface="Courier New" pitchFamily="34" charset="0"/>
                <a:ea typeface="Courier New" pitchFamily="34" charset="-122"/>
                <a:cs typeface="Courier New" pitchFamily="34" charset="-120"/>
              </a:rPr>
              <a:t> </a:t>
            </a:r>
            <a:endParaRPr lang="pt-BR" sz="1300" dirty="0"/>
          </a:p>
          <a:p>
            <a:pPr indent="0" marL="0">
              <a:spcAft>
                <a:spcPts val="300"/>
              </a:spcAft>
              <a:buNone/>
            </a:pPr>
            <a:r>
              <a:rPr lang="pt-BR" altLang="en-US" sz="1300" b="1" dirty="0">
                <a:solidFill>
                  <a:srgbClr val="FFFFFF"/>
                </a:solidFill>
                <a:latin typeface="Courier New" pitchFamily="34" charset="0"/>
                <a:ea typeface="Courier New" pitchFamily="34" charset="-122"/>
                <a:cs typeface="Courier New" pitchFamily="34" charset="-120"/>
              </a:rPr>
              <a:t>$ docker compose down</a:t>
            </a:r>
            <a:endParaRPr lang="pt-BR" sz="1300" dirty="0"/>
          </a:p>
          <a:p>
            <a:pPr indent="0" marL="0">
              <a:spcAft>
                <a:spcPts val="300"/>
              </a:spcAft>
              <a:buNone/>
            </a:pPr>
            <a:r>
              <a:rPr lang="pt-BR" altLang="en-US" sz="1300" dirty="0">
                <a:solidFill>
                  <a:srgbClr val="8B96A1"/>
                </a:solidFill>
                <a:latin typeface="Courier New" pitchFamily="34" charset="0"/>
                <a:ea typeface="Courier New" pitchFamily="34" charset="-122"/>
                <a:cs typeface="Courier New" pitchFamily="34" charset="-120"/>
              </a:rPr>
              <a:t># o estado fica em memória:</a:t>
            </a:r>
            <a:endParaRPr lang="pt-BR" sz="1300" dirty="0"/>
          </a:p>
          <a:p>
            <a:pPr indent="0" marL="0">
              <a:spcAft>
                <a:spcPts val="300"/>
              </a:spcAft>
              <a:buNone/>
            </a:pPr>
            <a:r>
              <a:rPr lang="pt-BR" altLang="en-US" sz="1300" dirty="0">
                <a:solidFill>
                  <a:srgbClr val="8B96A1"/>
                </a:solidFill>
                <a:latin typeface="Courier New" pitchFamily="34" charset="0"/>
                <a:ea typeface="Courier New" pitchFamily="34" charset="-122"/>
                <a:cs typeface="Courier New" pitchFamily="34" charset="-120"/>
              </a:rPr>
              <a:t># o próximo início é uma cadeia nova</a:t>
            </a:r>
            <a:endParaRPr lang="pt-BR" sz="1300" dirty="0"/>
          </a:p>
        </p:txBody>
      </p:sp>
      <p:sp>
        <p:nvSpPr>
          <p:cNvPr id="19" name="Text 17"/>
          <p:cNvSpPr txBox="1"/>
          <p:nvPr/>
        </p:nvSpPr>
        <p:spPr>
          <a:xfrm>
            <a:off x="548640" y="5897880"/>
            <a:ext cx="11094415" cy="365760"/>
          </a:xfrm>
          <a:prstGeom prst="rect">
            <a:avLst/>
          </a:prstGeom>
          <a:noFill/>
          <a:ln/>
        </p:spPr>
        <p:txBody>
          <a:bodyPr wrap="square" lIns="0" tIns="0" rIns="0" bIns="0" rtlCol="0" anchor="t"/>
          <a:lstStyle/>
          <a:p>
            <a:pPr indent="0" marL="0">
              <a:buNone/>
            </a:pPr>
            <a:r>
              <a:rPr lang="pt-BR" altLang="en-US" sz="1350" i="1" dirty="0">
                <a:solidFill>
                  <a:srgbClr val="5F6B76"/>
                </a:solidFill>
                <a:latin typeface="Calibri" pitchFamily="34" charset="0"/>
                <a:ea typeface="Calibri" pitchFamily="34" charset="-122"/>
                <a:cs typeface="Calibri" pitchFamily="34" charset="-120"/>
              </a:rPr>
              <a:t>Sem Docker: go run ./cmd/node e depois go run ./cmd/seed. Use --datadir para manter os blocos em disco.</a:t>
            </a:r>
            <a:endParaRPr lang="pt-BR"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05 · POR QUE GO</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Por que Go</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17</a:t>
            </a:r>
            <a:endParaRPr lang="pt-BR" sz="1000" dirty="0"/>
          </a:p>
        </p:txBody>
      </p:sp>
      <p:sp>
        <p:nvSpPr>
          <p:cNvPr id="5" name="Shape 3"/>
          <p:cNvSpPr/>
          <p:nvPr/>
        </p:nvSpPr>
        <p:spPr>
          <a:xfrm>
            <a:off x="548640" y="1645920"/>
            <a:ext cx="3484778" cy="2103120"/>
          </a:xfrm>
          <a:prstGeom prst="roundRect">
            <a:avLst>
              <a:gd name="adj" fmla="val 3478"/>
            </a:avLst>
          </a:prstGeom>
          <a:solidFill>
            <a:srgbClr val="F2F5F7"/>
          </a:solidFill>
          <a:ln w="9525">
            <a:solidFill>
              <a:srgbClr val="F2F5F7"/>
            </a:solidFill>
            <a:prstDash val="solid"/>
          </a:ln>
        </p:spPr>
      </p:sp>
      <p:sp>
        <p:nvSpPr>
          <p:cNvPr id="6" name="Shape 4"/>
          <p:cNvSpPr/>
          <p:nvPr/>
        </p:nvSpPr>
        <p:spPr>
          <a:xfrm>
            <a:off x="804672" y="1901952"/>
            <a:ext cx="640080" cy="640080"/>
          </a:xfrm>
          <a:prstGeom prst="ellipse">
            <a:avLst/>
          </a:prstGeom>
          <a:solidFill>
            <a:srgbClr val="007D9C"/>
          </a:solidFill>
          <a:ln w="9525">
            <a:solidFill>
              <a:srgbClr val="007D9C"/>
            </a:solidFill>
            <a:prstDash val="solid"/>
          </a:ln>
        </p:spPr>
      </p:sp>
      <p:pic>
        <p:nvPicPr>
          <p:cNvPr id="7" name="Image 0" descr="preencoded.png">    </p:cNvPr>
          <p:cNvPicPr>
            <a:picLocks noChangeAspect="1"/>
          </p:cNvPicPr>
          <p:nvPr/>
        </p:nvPicPr>
        <p:blipFill>
          <a:blip r:embed="rId1"/>
          <a:stretch>
            <a:fillRect/>
          </a:stretch>
        </p:blipFill>
        <p:spPr>
          <a:xfrm>
            <a:off x="958291" y="2055571"/>
            <a:ext cx="332842" cy="332842"/>
          </a:xfrm>
          <a:prstGeom prst="rect">
            <a:avLst/>
          </a:prstGeom>
        </p:spPr>
      </p:pic>
      <p:sp>
        <p:nvSpPr>
          <p:cNvPr id="8" name="Text 5"/>
          <p:cNvSpPr txBox="1"/>
          <p:nvPr/>
        </p:nvSpPr>
        <p:spPr>
          <a:xfrm>
            <a:off x="1600200" y="1865376"/>
            <a:ext cx="2204618" cy="713232"/>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Uma linguagem, de ponta a ponta</a:t>
            </a:r>
            <a:endParaRPr lang="pt-BR" sz="1600" dirty="0"/>
          </a:p>
        </p:txBody>
      </p:sp>
      <p:sp>
        <p:nvSpPr>
          <p:cNvPr id="9" name="Text 6"/>
          <p:cNvSpPr txBox="1"/>
          <p:nvPr/>
        </p:nvSpPr>
        <p:spPr>
          <a:xfrm>
            <a:off x="804672" y="2670048"/>
            <a:ext cx="2972714" cy="10058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Cadeia, contrato, API, seed e ferramentas CLI dividem uma base de código. Sem Solidity, sem semântica de VM.</a:t>
            </a:r>
            <a:endParaRPr lang="pt-BR" sz="1350" dirty="0"/>
          </a:p>
        </p:txBody>
      </p:sp>
      <p:sp>
        <p:nvSpPr>
          <p:cNvPr id="10" name="Shape 7"/>
          <p:cNvSpPr/>
          <p:nvPr/>
        </p:nvSpPr>
        <p:spPr>
          <a:xfrm>
            <a:off x="4353458" y="1645920"/>
            <a:ext cx="3484778" cy="2103120"/>
          </a:xfrm>
          <a:prstGeom prst="roundRect">
            <a:avLst>
              <a:gd name="adj" fmla="val 3478"/>
            </a:avLst>
          </a:prstGeom>
          <a:solidFill>
            <a:srgbClr val="F2F5F7"/>
          </a:solidFill>
          <a:ln w="9525">
            <a:solidFill>
              <a:srgbClr val="F2F5F7"/>
            </a:solidFill>
            <a:prstDash val="solid"/>
          </a:ln>
        </p:spPr>
      </p:sp>
      <p:sp>
        <p:nvSpPr>
          <p:cNvPr id="11" name="Shape 8"/>
          <p:cNvSpPr/>
          <p:nvPr/>
        </p:nvSpPr>
        <p:spPr>
          <a:xfrm>
            <a:off x="4609490" y="1901952"/>
            <a:ext cx="640080" cy="640080"/>
          </a:xfrm>
          <a:prstGeom prst="ellipse">
            <a:avLst/>
          </a:prstGeom>
          <a:solidFill>
            <a:srgbClr val="007D9C"/>
          </a:solidFill>
          <a:ln w="9525">
            <a:solidFill>
              <a:srgbClr val="007D9C"/>
            </a:solidFill>
            <a:prstDash val="solid"/>
          </a:ln>
        </p:spPr>
      </p:sp>
      <p:pic>
        <p:nvPicPr>
          <p:cNvPr id="12" name="Image 1" descr="preencoded.png">    </p:cNvPr>
          <p:cNvPicPr>
            <a:picLocks noChangeAspect="1"/>
          </p:cNvPicPr>
          <p:nvPr/>
        </p:nvPicPr>
        <p:blipFill>
          <a:blip r:embed="rId2"/>
          <a:stretch>
            <a:fillRect/>
          </a:stretch>
        </p:blipFill>
        <p:spPr>
          <a:xfrm>
            <a:off x="4763110" y="2055571"/>
            <a:ext cx="332842" cy="332842"/>
          </a:xfrm>
          <a:prstGeom prst="rect">
            <a:avLst/>
          </a:prstGeom>
        </p:spPr>
      </p:pic>
      <p:sp>
        <p:nvSpPr>
          <p:cNvPr id="13" name="Text 9"/>
          <p:cNvSpPr txBox="1"/>
          <p:nvPr/>
        </p:nvSpPr>
        <p:spPr>
          <a:xfrm>
            <a:off x="5405018" y="1865376"/>
            <a:ext cx="2204618" cy="713232"/>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A biblioteca padrão basta</a:t>
            </a:r>
            <a:endParaRPr lang="pt-BR" sz="1600" dirty="0"/>
          </a:p>
        </p:txBody>
      </p:sp>
      <p:sp>
        <p:nvSpPr>
          <p:cNvPr id="14" name="Text 10"/>
          <p:cNvSpPr txBox="1"/>
          <p:nvPr/>
        </p:nvSpPr>
        <p:spPr>
          <a:xfrm>
            <a:off x="4609490" y="2670048"/>
            <a:ext cx="2972714" cy="10058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net/http, crypto/ed25519, crypto/sha256 e encoding/json dão conta: zero dependências externas.</a:t>
            </a:r>
            <a:endParaRPr lang="pt-BR" sz="1350" dirty="0"/>
          </a:p>
        </p:txBody>
      </p:sp>
      <p:sp>
        <p:nvSpPr>
          <p:cNvPr id="15" name="Shape 11"/>
          <p:cNvSpPr/>
          <p:nvPr/>
        </p:nvSpPr>
        <p:spPr>
          <a:xfrm>
            <a:off x="8158277" y="1645920"/>
            <a:ext cx="3484778" cy="2103120"/>
          </a:xfrm>
          <a:prstGeom prst="roundRect">
            <a:avLst>
              <a:gd name="adj" fmla="val 3478"/>
            </a:avLst>
          </a:prstGeom>
          <a:solidFill>
            <a:srgbClr val="F2F5F7"/>
          </a:solidFill>
          <a:ln w="9525">
            <a:solidFill>
              <a:srgbClr val="F2F5F7"/>
            </a:solidFill>
            <a:prstDash val="solid"/>
          </a:ln>
        </p:spPr>
      </p:sp>
      <p:sp>
        <p:nvSpPr>
          <p:cNvPr id="16" name="Shape 12"/>
          <p:cNvSpPr/>
          <p:nvPr/>
        </p:nvSpPr>
        <p:spPr>
          <a:xfrm>
            <a:off x="8414309" y="1901952"/>
            <a:ext cx="640080" cy="640080"/>
          </a:xfrm>
          <a:prstGeom prst="ellipse">
            <a:avLst/>
          </a:prstGeom>
          <a:solidFill>
            <a:srgbClr val="007D9C"/>
          </a:solidFill>
          <a:ln w="9525">
            <a:solidFill>
              <a:srgbClr val="007D9C"/>
            </a:solidFill>
            <a:prstDash val="solid"/>
          </a:ln>
        </p:spPr>
      </p:sp>
      <p:pic>
        <p:nvPicPr>
          <p:cNvPr id="17" name="Image 2" descr="preencoded.png">    </p:cNvPr>
          <p:cNvPicPr>
            <a:picLocks noChangeAspect="1"/>
          </p:cNvPicPr>
          <p:nvPr/>
        </p:nvPicPr>
        <p:blipFill>
          <a:blip r:embed="rId3"/>
          <a:stretch>
            <a:fillRect/>
          </a:stretch>
        </p:blipFill>
        <p:spPr>
          <a:xfrm>
            <a:off x="8567928" y="2055571"/>
            <a:ext cx="332842" cy="332842"/>
          </a:xfrm>
          <a:prstGeom prst="rect">
            <a:avLst/>
          </a:prstGeom>
        </p:spPr>
      </p:pic>
      <p:sp>
        <p:nvSpPr>
          <p:cNvPr id="18" name="Text 13"/>
          <p:cNvSpPr txBox="1"/>
          <p:nvPr/>
        </p:nvSpPr>
        <p:spPr>
          <a:xfrm>
            <a:off x="9209837" y="1865376"/>
            <a:ext cx="2204618" cy="713232"/>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Um único binário estático</a:t>
            </a:r>
            <a:endParaRPr lang="pt-BR" sz="1600" dirty="0"/>
          </a:p>
        </p:txBody>
      </p:sp>
      <p:sp>
        <p:nvSpPr>
          <p:cNvPr id="19" name="Text 14"/>
          <p:cNvSpPr txBox="1"/>
          <p:nvPr/>
        </p:nvSpPr>
        <p:spPr>
          <a:xfrm>
            <a:off x="8414309" y="2670048"/>
            <a:ext cx="2972714" cy="10058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go build gera o nó. A imagem Docker é Alpine mais dois binários.</a:t>
            </a:r>
            <a:endParaRPr lang="pt-BR" sz="1350" dirty="0"/>
          </a:p>
        </p:txBody>
      </p:sp>
      <p:sp>
        <p:nvSpPr>
          <p:cNvPr id="20" name="Shape 15"/>
          <p:cNvSpPr/>
          <p:nvPr/>
        </p:nvSpPr>
        <p:spPr>
          <a:xfrm>
            <a:off x="548640" y="4023360"/>
            <a:ext cx="3484778" cy="2103120"/>
          </a:xfrm>
          <a:prstGeom prst="roundRect">
            <a:avLst>
              <a:gd name="adj" fmla="val 3478"/>
            </a:avLst>
          </a:prstGeom>
          <a:solidFill>
            <a:srgbClr val="F2F5F7"/>
          </a:solidFill>
          <a:ln w="9525">
            <a:solidFill>
              <a:srgbClr val="F2F5F7"/>
            </a:solidFill>
            <a:prstDash val="solid"/>
          </a:ln>
        </p:spPr>
      </p:sp>
      <p:sp>
        <p:nvSpPr>
          <p:cNvPr id="21" name="Shape 16"/>
          <p:cNvSpPr/>
          <p:nvPr/>
        </p:nvSpPr>
        <p:spPr>
          <a:xfrm>
            <a:off x="804672" y="4279392"/>
            <a:ext cx="640080" cy="640080"/>
          </a:xfrm>
          <a:prstGeom prst="ellipse">
            <a:avLst/>
          </a:prstGeom>
          <a:solidFill>
            <a:srgbClr val="007D9C"/>
          </a:solidFill>
          <a:ln w="9525">
            <a:solidFill>
              <a:srgbClr val="007D9C"/>
            </a:solidFill>
            <a:prstDash val="solid"/>
          </a:ln>
        </p:spPr>
      </p:sp>
      <p:pic>
        <p:nvPicPr>
          <p:cNvPr id="22" name="Image 3" descr="preencoded.png">    </p:cNvPr>
          <p:cNvPicPr>
            <a:picLocks noChangeAspect="1"/>
          </p:cNvPicPr>
          <p:nvPr/>
        </p:nvPicPr>
        <p:blipFill>
          <a:blip r:embed="rId4"/>
          <a:stretch>
            <a:fillRect/>
          </a:stretch>
        </p:blipFill>
        <p:spPr>
          <a:xfrm>
            <a:off x="958291" y="4433011"/>
            <a:ext cx="332842" cy="332842"/>
          </a:xfrm>
          <a:prstGeom prst="rect">
            <a:avLst/>
          </a:prstGeom>
        </p:spPr>
      </p:pic>
      <p:sp>
        <p:nvSpPr>
          <p:cNvPr id="23" name="Text 17"/>
          <p:cNvSpPr txBox="1"/>
          <p:nvPr/>
        </p:nvSpPr>
        <p:spPr>
          <a:xfrm>
            <a:off x="1600200" y="4242816"/>
            <a:ext cx="2204618" cy="713232"/>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Concorrência segura</a:t>
            </a:r>
            <a:endParaRPr lang="pt-BR" sz="1600" dirty="0"/>
          </a:p>
        </p:txBody>
      </p:sp>
      <p:sp>
        <p:nvSpPr>
          <p:cNvPr id="24" name="Text 18"/>
          <p:cNvSpPr txBox="1"/>
          <p:nvPr/>
        </p:nvSpPr>
        <p:spPr>
          <a:xfrm>
            <a:off x="804672" y="5047488"/>
            <a:ext cx="2972714" cy="10058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Uma goroutine por requisição HTTP, um RWMutex protegendo a cadeia e o detector de corridas nos testes.</a:t>
            </a:r>
            <a:endParaRPr lang="pt-BR" sz="1350" dirty="0"/>
          </a:p>
        </p:txBody>
      </p:sp>
      <p:sp>
        <p:nvSpPr>
          <p:cNvPr id="25" name="Shape 19"/>
          <p:cNvSpPr/>
          <p:nvPr/>
        </p:nvSpPr>
        <p:spPr>
          <a:xfrm>
            <a:off x="4353458" y="4023360"/>
            <a:ext cx="3484778" cy="2103120"/>
          </a:xfrm>
          <a:prstGeom prst="roundRect">
            <a:avLst>
              <a:gd name="adj" fmla="val 3478"/>
            </a:avLst>
          </a:prstGeom>
          <a:solidFill>
            <a:srgbClr val="F2F5F7"/>
          </a:solidFill>
          <a:ln w="9525">
            <a:solidFill>
              <a:srgbClr val="F2F5F7"/>
            </a:solidFill>
            <a:prstDash val="solid"/>
          </a:ln>
        </p:spPr>
      </p:sp>
      <p:sp>
        <p:nvSpPr>
          <p:cNvPr id="26" name="Shape 20"/>
          <p:cNvSpPr/>
          <p:nvPr/>
        </p:nvSpPr>
        <p:spPr>
          <a:xfrm>
            <a:off x="4609490" y="4279392"/>
            <a:ext cx="640080" cy="640080"/>
          </a:xfrm>
          <a:prstGeom prst="ellipse">
            <a:avLst/>
          </a:prstGeom>
          <a:solidFill>
            <a:srgbClr val="007D9C"/>
          </a:solidFill>
          <a:ln w="9525">
            <a:solidFill>
              <a:srgbClr val="007D9C"/>
            </a:solidFill>
            <a:prstDash val="solid"/>
          </a:ln>
        </p:spPr>
      </p:sp>
      <p:pic>
        <p:nvPicPr>
          <p:cNvPr id="27" name="Image 4" descr="preencoded.png">    </p:cNvPr>
          <p:cNvPicPr>
            <a:picLocks noChangeAspect="1"/>
          </p:cNvPicPr>
          <p:nvPr/>
        </p:nvPicPr>
        <p:blipFill>
          <a:blip r:embed="rId5"/>
          <a:stretch>
            <a:fillRect/>
          </a:stretch>
        </p:blipFill>
        <p:spPr>
          <a:xfrm>
            <a:off x="4763110" y="4433011"/>
            <a:ext cx="332842" cy="332842"/>
          </a:xfrm>
          <a:prstGeom prst="rect">
            <a:avLst/>
          </a:prstGeom>
        </p:spPr>
      </p:pic>
      <p:sp>
        <p:nvSpPr>
          <p:cNvPr id="28" name="Text 21"/>
          <p:cNvSpPr txBox="1"/>
          <p:nvPr/>
        </p:nvSpPr>
        <p:spPr>
          <a:xfrm>
            <a:off x="5405018" y="4242816"/>
            <a:ext cx="2204618" cy="713232"/>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Testes embutidos</a:t>
            </a:r>
            <a:endParaRPr lang="pt-BR" sz="1600" dirty="0"/>
          </a:p>
        </p:txBody>
      </p:sp>
      <p:sp>
        <p:nvSpPr>
          <p:cNvPr id="29" name="Text 22"/>
          <p:cNvSpPr txBox="1"/>
          <p:nvPr/>
        </p:nvSpPr>
        <p:spPr>
          <a:xfrm>
            <a:off x="4609490" y="5047488"/>
            <a:ext cx="2972714" cy="10058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go test cobre o contrato, a cadeia e a API: 42 casos de teste, todos rodando com ‑race.</a:t>
            </a:r>
            <a:endParaRPr lang="pt-BR" sz="1350" dirty="0"/>
          </a:p>
        </p:txBody>
      </p:sp>
      <p:sp>
        <p:nvSpPr>
          <p:cNvPr id="30" name="Shape 23"/>
          <p:cNvSpPr/>
          <p:nvPr/>
        </p:nvSpPr>
        <p:spPr>
          <a:xfrm>
            <a:off x="8158277" y="4023360"/>
            <a:ext cx="3484778" cy="2103120"/>
          </a:xfrm>
          <a:prstGeom prst="roundRect">
            <a:avLst>
              <a:gd name="adj" fmla="val 3478"/>
            </a:avLst>
          </a:prstGeom>
          <a:solidFill>
            <a:srgbClr val="F2F5F7"/>
          </a:solidFill>
          <a:ln w="9525">
            <a:solidFill>
              <a:srgbClr val="F2F5F7"/>
            </a:solidFill>
            <a:prstDash val="solid"/>
          </a:ln>
        </p:spPr>
      </p:sp>
      <p:sp>
        <p:nvSpPr>
          <p:cNvPr id="31" name="Shape 24"/>
          <p:cNvSpPr/>
          <p:nvPr/>
        </p:nvSpPr>
        <p:spPr>
          <a:xfrm>
            <a:off x="8414309" y="4279392"/>
            <a:ext cx="640080" cy="640080"/>
          </a:xfrm>
          <a:prstGeom prst="ellipse">
            <a:avLst/>
          </a:prstGeom>
          <a:solidFill>
            <a:srgbClr val="007D9C"/>
          </a:solidFill>
          <a:ln w="9525">
            <a:solidFill>
              <a:srgbClr val="007D9C"/>
            </a:solidFill>
            <a:prstDash val="solid"/>
          </a:ln>
        </p:spPr>
      </p:sp>
      <p:pic>
        <p:nvPicPr>
          <p:cNvPr id="32" name="Image 5" descr="preencoded.png">    </p:cNvPr>
          <p:cNvPicPr>
            <a:picLocks noChangeAspect="1"/>
          </p:cNvPicPr>
          <p:nvPr/>
        </p:nvPicPr>
        <p:blipFill>
          <a:blip r:embed="rId6"/>
          <a:stretch>
            <a:fillRect/>
          </a:stretch>
        </p:blipFill>
        <p:spPr>
          <a:xfrm>
            <a:off x="8567928" y="4433011"/>
            <a:ext cx="332842" cy="332842"/>
          </a:xfrm>
          <a:prstGeom prst="rect">
            <a:avLst/>
          </a:prstGeom>
        </p:spPr>
      </p:pic>
      <p:sp>
        <p:nvSpPr>
          <p:cNvPr id="33" name="Text 25"/>
          <p:cNvSpPr txBox="1"/>
          <p:nvPr/>
        </p:nvSpPr>
        <p:spPr>
          <a:xfrm>
            <a:off x="9209837" y="4242816"/>
            <a:ext cx="2204618" cy="713232"/>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Onde blockchains são feitas</a:t>
            </a:r>
            <a:endParaRPr lang="pt-BR" sz="1600" dirty="0"/>
          </a:p>
        </p:txBody>
      </p:sp>
      <p:sp>
        <p:nvSpPr>
          <p:cNvPr id="34" name="Text 26"/>
          <p:cNvSpPr txBox="1"/>
          <p:nvPr/>
        </p:nvSpPr>
        <p:spPr>
          <a:xfrm>
            <a:off x="8414309" y="5047488"/>
            <a:ext cx="2972714" cy="1005840"/>
          </a:xfrm>
          <a:prstGeom prst="rect">
            <a:avLst/>
          </a:prstGeom>
          <a:noFill/>
          <a:ln/>
        </p:spPr>
        <p:txBody>
          <a:bodyPr wrap="square" lIns="0" tIns="0" rIns="0" bIns="0" rtlCol="0" anchor="t"/>
          <a:lstStyle/>
          <a:p>
            <a:pPr indent="0" marL="0">
              <a:buNone/>
            </a:pPr>
            <a:r>
              <a:rPr lang="pt-BR" altLang="en-US" sz="1350" dirty="0">
                <a:solidFill>
                  <a:srgbClr val="5F6B76"/>
                </a:solidFill>
                <a:latin typeface="Calibri" pitchFamily="34" charset="0"/>
                <a:ea typeface="Calibri" pitchFamily="34" charset="-122"/>
                <a:cs typeface="Calibri" pitchFamily="34" charset="-120"/>
              </a:rPr>
              <a:t>Hyperledger Fabric, go-ethereum, Cosmos SDK e CometBFT são escritos em Go. O Fabric roda chaincode em Go.</a:t>
            </a:r>
            <a:endParaRPr lang="pt-BR"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05 · POR QUE GO</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O que o Go exigiu: determinismo</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18</a:t>
            </a:r>
            <a:endParaRPr lang="pt-BR" sz="1000" dirty="0"/>
          </a:p>
        </p:txBody>
      </p:sp>
      <p:sp>
        <p:nvSpPr>
          <p:cNvPr id="5" name="Text 3"/>
          <p:cNvSpPr txBox="1"/>
          <p:nvPr/>
        </p:nvSpPr>
        <p:spPr>
          <a:xfrm>
            <a:off x="548640" y="1554480"/>
            <a:ext cx="6263640" cy="594360"/>
          </a:xfrm>
          <a:prstGeom prst="rect">
            <a:avLst/>
          </a:prstGeom>
          <a:noFill/>
          <a:ln/>
        </p:spPr>
        <p:txBody>
          <a:bodyPr wrap="square" lIns="0" tIns="0" rIns="0" bIns="0" rtlCol="0" anchor="t"/>
          <a:lstStyle/>
          <a:p>
            <a:pPr indent="0" marL="0">
              <a:buNone/>
            </a:pPr>
            <a:r>
              <a:rPr lang="pt-BR" altLang="en-US" sz="1500" dirty="0">
                <a:solidFill>
                  <a:srgbClr val="5F6B76"/>
                </a:solidFill>
                <a:latin typeface="Calibri" pitchFamily="34" charset="0"/>
                <a:ea typeface="Calibri" pitchFamily="34" charset="-122"/>
                <a:cs typeface="Calibri" pitchFamily="34" charset="-120"/>
              </a:rPr>
              <a:t>Todo nó precisa calcular exatamente o mesmo estado a partir das mesmas transações. O Go tem algumas armadilhas:</a:t>
            </a:r>
            <a:endParaRPr lang="pt-BR" sz="1500" dirty="0"/>
          </a:p>
        </p:txBody>
      </p:sp>
      <p:sp>
        <p:nvSpPr>
          <p:cNvPr id="6" name="Shape 4"/>
          <p:cNvSpPr/>
          <p:nvPr/>
        </p:nvSpPr>
        <p:spPr>
          <a:xfrm>
            <a:off x="548640" y="2286000"/>
            <a:ext cx="566928" cy="566928"/>
          </a:xfrm>
          <a:prstGeom prst="ellipse">
            <a:avLst/>
          </a:prstGeom>
          <a:solidFill>
            <a:srgbClr val="3A434C"/>
          </a:solidFill>
          <a:ln w="9525">
            <a:solidFill>
              <a:srgbClr val="3A434C"/>
            </a:solidFill>
            <a:prstDash val="solid"/>
          </a:ln>
        </p:spPr>
      </p:sp>
      <p:pic>
        <p:nvPicPr>
          <p:cNvPr id="7" name="Image 0" descr="preencoded.png">    </p:cNvPr>
          <p:cNvPicPr>
            <a:picLocks noChangeAspect="1"/>
          </p:cNvPicPr>
          <p:nvPr/>
        </p:nvPicPr>
        <p:blipFill>
          <a:blip r:embed="rId1"/>
          <a:stretch>
            <a:fillRect/>
          </a:stretch>
        </p:blipFill>
        <p:spPr>
          <a:xfrm>
            <a:off x="684703" y="2422063"/>
            <a:ext cx="294803" cy="294803"/>
          </a:xfrm>
          <a:prstGeom prst="rect">
            <a:avLst/>
          </a:prstGeom>
        </p:spPr>
      </p:pic>
      <p:sp>
        <p:nvSpPr>
          <p:cNvPr id="8" name="Text 5"/>
          <p:cNvSpPr txBox="1"/>
          <p:nvPr/>
        </p:nvSpPr>
        <p:spPr>
          <a:xfrm>
            <a:off x="1325880" y="2249424"/>
            <a:ext cx="5532120" cy="329184"/>
          </a:xfrm>
          <a:prstGeom prst="rect">
            <a:avLst/>
          </a:prstGeom>
          <a:noFill/>
          <a:ln/>
        </p:spPr>
        <p:txBody>
          <a:bodyPr wrap="square" lIns="0" tIns="0" rIns="0" bIns="0" rtlCol="0" anchor="t"/>
          <a:lstStyle/>
          <a:p>
            <a:pPr indent="0" marL="0">
              <a:buNone/>
            </a:pPr>
            <a:r>
              <a:rPr lang="pt-BR" altLang="en-US" sz="1550" b="1" dirty="0">
                <a:solidFill>
                  <a:srgbClr val="1E2328"/>
                </a:solidFill>
                <a:latin typeface="Calibri" pitchFamily="34" charset="0"/>
                <a:ea typeface="Calibri" pitchFamily="34" charset="-122"/>
                <a:cs typeface="Calibri" pitchFamily="34" charset="-120"/>
              </a:rPr>
              <a:t>A ordem de iteração de maps é aleatória</a:t>
            </a:r>
            <a:endParaRPr lang="pt-BR" sz="1550" dirty="0"/>
          </a:p>
        </p:txBody>
      </p:sp>
      <p:sp>
        <p:nvSpPr>
          <p:cNvPr id="9" name="Text 6"/>
          <p:cNvSpPr txBox="1"/>
          <p:nvPr/>
        </p:nvSpPr>
        <p:spPr>
          <a:xfrm>
            <a:off x="1325880" y="2587752"/>
            <a:ext cx="5532120" cy="365760"/>
          </a:xfrm>
          <a:prstGeom prst="rect">
            <a:avLst/>
          </a:prstGeom>
          <a:noFill/>
          <a:ln/>
        </p:spPr>
        <p:txBody>
          <a:bodyPr wrap="square" lIns="0" tIns="0" rIns="0" bIns="0" rtlCol="0" anchor="t"/>
          <a:lstStyle/>
          <a:p>
            <a:pPr indent="0" marL="0">
              <a:buNone/>
            </a:pPr>
            <a:r>
              <a:rPr lang="pt-BR" altLang="en-US" sz="1400" dirty="0">
                <a:solidFill>
                  <a:srgbClr val="007D9C"/>
                </a:solidFill>
                <a:latin typeface="Calibri" pitchFamily="34" charset="0"/>
                <a:ea typeface="Calibri" pitchFamily="34" charset="-122"/>
                <a:cs typeface="Calibri" pitchFamily="34" charset="-120"/>
              </a:rPr>
              <a:t>A execução da garantia segue a slice na ordem de penhor, nunca um map.</a:t>
            </a:r>
            <a:endParaRPr lang="pt-BR" sz="1400" dirty="0"/>
          </a:p>
        </p:txBody>
      </p:sp>
      <p:sp>
        <p:nvSpPr>
          <p:cNvPr id="10" name="Shape 7"/>
          <p:cNvSpPr/>
          <p:nvPr/>
        </p:nvSpPr>
        <p:spPr>
          <a:xfrm>
            <a:off x="548640" y="3264408"/>
            <a:ext cx="566928" cy="566928"/>
          </a:xfrm>
          <a:prstGeom prst="ellipse">
            <a:avLst/>
          </a:prstGeom>
          <a:solidFill>
            <a:srgbClr val="3A434C"/>
          </a:solidFill>
          <a:ln w="9525">
            <a:solidFill>
              <a:srgbClr val="3A434C"/>
            </a:solidFill>
            <a:prstDash val="solid"/>
          </a:ln>
        </p:spPr>
      </p:sp>
      <p:pic>
        <p:nvPicPr>
          <p:cNvPr id="11" name="Image 1" descr="preencoded.png">    </p:cNvPr>
          <p:cNvPicPr>
            <a:picLocks noChangeAspect="1"/>
          </p:cNvPicPr>
          <p:nvPr/>
        </p:nvPicPr>
        <p:blipFill>
          <a:blip r:embed="rId2"/>
          <a:stretch>
            <a:fillRect/>
          </a:stretch>
        </p:blipFill>
        <p:spPr>
          <a:xfrm>
            <a:off x="684703" y="3400471"/>
            <a:ext cx="294803" cy="294803"/>
          </a:xfrm>
          <a:prstGeom prst="rect">
            <a:avLst/>
          </a:prstGeom>
        </p:spPr>
      </p:pic>
      <p:sp>
        <p:nvSpPr>
          <p:cNvPr id="12" name="Text 8"/>
          <p:cNvSpPr txBox="1"/>
          <p:nvPr/>
        </p:nvSpPr>
        <p:spPr>
          <a:xfrm>
            <a:off x="1325880" y="3227832"/>
            <a:ext cx="5532120" cy="329184"/>
          </a:xfrm>
          <a:prstGeom prst="rect">
            <a:avLst/>
          </a:prstGeom>
          <a:noFill/>
          <a:ln/>
        </p:spPr>
        <p:txBody>
          <a:bodyPr wrap="square" lIns="0" tIns="0" rIns="0" bIns="0" rtlCol="0" anchor="t"/>
          <a:lstStyle/>
          <a:p>
            <a:pPr indent="0" marL="0">
              <a:buNone/>
            </a:pPr>
            <a:r>
              <a:rPr lang="pt-BR" altLang="en-US" sz="1550" b="1" dirty="0">
                <a:solidFill>
                  <a:srgbClr val="1E2328"/>
                </a:solidFill>
                <a:latin typeface="Calibri" pitchFamily="34" charset="0"/>
                <a:ea typeface="Calibri" pitchFamily="34" charset="-122"/>
                <a:cs typeface="Calibri" pitchFamily="34" charset="-120"/>
              </a:rPr>
              <a:t>time.Now() difere em cada nó</a:t>
            </a:r>
            <a:endParaRPr lang="pt-BR" sz="1550" dirty="0"/>
          </a:p>
        </p:txBody>
      </p:sp>
      <p:sp>
        <p:nvSpPr>
          <p:cNvPr id="13" name="Text 9"/>
          <p:cNvSpPr txBox="1"/>
          <p:nvPr/>
        </p:nvSpPr>
        <p:spPr>
          <a:xfrm>
            <a:off x="1325880" y="3566160"/>
            <a:ext cx="5532120" cy="365760"/>
          </a:xfrm>
          <a:prstGeom prst="rect">
            <a:avLst/>
          </a:prstGeom>
          <a:noFill/>
          <a:ln/>
        </p:spPr>
        <p:txBody>
          <a:bodyPr wrap="square" lIns="0" tIns="0" rIns="0" bIns="0" rtlCol="0" anchor="t"/>
          <a:lstStyle/>
          <a:p>
            <a:pPr indent="0" marL="0">
              <a:buNone/>
            </a:pPr>
            <a:r>
              <a:rPr lang="pt-BR" altLang="en-US" sz="1400" dirty="0">
                <a:solidFill>
                  <a:srgbClr val="007D9C"/>
                </a:solidFill>
                <a:latin typeface="Calibri" pitchFamily="34" charset="0"/>
                <a:ea typeface="Calibri" pitchFamily="34" charset="-122"/>
                <a:cs typeface="Calibri" pitchFamily="34" charset="-120"/>
              </a:rPr>
              <a:t>O Dispatch recebe o timestamp do bloco no lugar.</a:t>
            </a:r>
            <a:endParaRPr lang="pt-BR" sz="1400" dirty="0"/>
          </a:p>
        </p:txBody>
      </p:sp>
      <p:sp>
        <p:nvSpPr>
          <p:cNvPr id="14" name="Shape 10"/>
          <p:cNvSpPr/>
          <p:nvPr/>
        </p:nvSpPr>
        <p:spPr>
          <a:xfrm>
            <a:off x="548640" y="4242816"/>
            <a:ext cx="566928" cy="566928"/>
          </a:xfrm>
          <a:prstGeom prst="ellipse">
            <a:avLst/>
          </a:prstGeom>
          <a:solidFill>
            <a:srgbClr val="3A434C"/>
          </a:solidFill>
          <a:ln w="9525">
            <a:solidFill>
              <a:srgbClr val="3A434C"/>
            </a:solidFill>
            <a:prstDash val="solid"/>
          </a:ln>
        </p:spPr>
      </p:sp>
      <p:pic>
        <p:nvPicPr>
          <p:cNvPr id="15" name="Image 2" descr="preencoded.png">    </p:cNvPr>
          <p:cNvPicPr>
            <a:picLocks noChangeAspect="1"/>
          </p:cNvPicPr>
          <p:nvPr/>
        </p:nvPicPr>
        <p:blipFill>
          <a:blip r:embed="rId3"/>
          <a:stretch>
            <a:fillRect/>
          </a:stretch>
        </p:blipFill>
        <p:spPr>
          <a:xfrm>
            <a:off x="684703" y="4378879"/>
            <a:ext cx="294803" cy="294803"/>
          </a:xfrm>
          <a:prstGeom prst="rect">
            <a:avLst/>
          </a:prstGeom>
        </p:spPr>
      </p:pic>
      <p:sp>
        <p:nvSpPr>
          <p:cNvPr id="16" name="Text 11"/>
          <p:cNvSpPr txBox="1"/>
          <p:nvPr/>
        </p:nvSpPr>
        <p:spPr>
          <a:xfrm>
            <a:off x="1325880" y="4206240"/>
            <a:ext cx="5532120" cy="329184"/>
          </a:xfrm>
          <a:prstGeom prst="rect">
            <a:avLst/>
          </a:prstGeom>
          <a:noFill/>
          <a:ln/>
        </p:spPr>
        <p:txBody>
          <a:bodyPr wrap="square" lIns="0" tIns="0" rIns="0" bIns="0" rtlCol="0" anchor="t"/>
          <a:lstStyle/>
          <a:p>
            <a:pPr indent="0" marL="0">
              <a:buNone/>
            </a:pPr>
            <a:r>
              <a:rPr lang="pt-BR" altLang="en-US" sz="1550" b="1" dirty="0">
                <a:solidFill>
                  <a:srgbClr val="1E2328"/>
                </a:solidFill>
                <a:latin typeface="Calibri" pitchFamily="34" charset="0"/>
                <a:ea typeface="Calibri" pitchFamily="34" charset="-122"/>
                <a:cs typeface="Calibri" pitchFamily="34" charset="-120"/>
              </a:rPr>
              <a:t>Mensagens de erro do encoding/json mudam</a:t>
            </a:r>
            <a:endParaRPr lang="pt-BR" sz="1550" dirty="0"/>
          </a:p>
        </p:txBody>
      </p:sp>
      <p:sp>
        <p:nvSpPr>
          <p:cNvPr id="17" name="Text 12"/>
          <p:cNvSpPr txBox="1"/>
          <p:nvPr/>
        </p:nvSpPr>
        <p:spPr>
          <a:xfrm>
            <a:off x="1325880" y="4544568"/>
            <a:ext cx="5532120" cy="365760"/>
          </a:xfrm>
          <a:prstGeom prst="rect">
            <a:avLst/>
          </a:prstGeom>
          <a:noFill/>
          <a:ln/>
        </p:spPr>
        <p:txBody>
          <a:bodyPr wrap="square" lIns="0" tIns="0" rIns="0" bIns="0" rtlCol="0" anchor="t"/>
          <a:lstStyle/>
          <a:p>
            <a:pPr indent="0" marL="0">
              <a:buNone/>
            </a:pPr>
            <a:r>
              <a:rPr lang="pt-BR" altLang="en-US" sz="1400" dirty="0">
                <a:solidFill>
                  <a:srgbClr val="007D9C"/>
                </a:solidFill>
                <a:latin typeface="Calibri" pitchFamily="34" charset="0"/>
                <a:ea typeface="Calibri" pitchFamily="34" charset="-122"/>
                <a:cs typeface="Calibri" pitchFamily="34" charset="-120"/>
              </a:rPr>
              <a:t>Recibos usam mensagens de erro fixas, pois entram no hash.</a:t>
            </a:r>
            <a:endParaRPr lang="pt-BR" sz="1400" dirty="0"/>
          </a:p>
        </p:txBody>
      </p:sp>
      <p:sp>
        <p:nvSpPr>
          <p:cNvPr id="18" name="Shape 13"/>
          <p:cNvSpPr/>
          <p:nvPr/>
        </p:nvSpPr>
        <p:spPr>
          <a:xfrm>
            <a:off x="548640" y="5221224"/>
            <a:ext cx="566928" cy="566928"/>
          </a:xfrm>
          <a:prstGeom prst="ellipse">
            <a:avLst/>
          </a:prstGeom>
          <a:solidFill>
            <a:srgbClr val="3A434C"/>
          </a:solidFill>
          <a:ln w="9525">
            <a:solidFill>
              <a:srgbClr val="3A434C"/>
            </a:solidFill>
            <a:prstDash val="solid"/>
          </a:ln>
        </p:spPr>
      </p:sp>
      <p:pic>
        <p:nvPicPr>
          <p:cNvPr id="19" name="Image 3" descr="preencoded.png">    </p:cNvPr>
          <p:cNvPicPr>
            <a:picLocks noChangeAspect="1"/>
          </p:cNvPicPr>
          <p:nvPr/>
        </p:nvPicPr>
        <p:blipFill>
          <a:blip r:embed="rId4"/>
          <a:stretch>
            <a:fillRect/>
          </a:stretch>
        </p:blipFill>
        <p:spPr>
          <a:xfrm>
            <a:off x="684703" y="5357287"/>
            <a:ext cx="294803" cy="294803"/>
          </a:xfrm>
          <a:prstGeom prst="rect">
            <a:avLst/>
          </a:prstGeom>
        </p:spPr>
      </p:pic>
      <p:sp>
        <p:nvSpPr>
          <p:cNvPr id="20" name="Text 14"/>
          <p:cNvSpPr txBox="1"/>
          <p:nvPr/>
        </p:nvSpPr>
        <p:spPr>
          <a:xfrm>
            <a:off x="1325880" y="5184648"/>
            <a:ext cx="5532120" cy="329184"/>
          </a:xfrm>
          <a:prstGeom prst="rect">
            <a:avLst/>
          </a:prstGeom>
          <a:noFill/>
          <a:ln/>
        </p:spPr>
        <p:txBody>
          <a:bodyPr wrap="square" lIns="0" tIns="0" rIns="0" bIns="0" rtlCol="0" anchor="t"/>
          <a:lstStyle/>
          <a:p>
            <a:pPr indent="0" marL="0">
              <a:buNone/>
            </a:pPr>
            <a:r>
              <a:rPr lang="pt-BR" altLang="en-US" sz="1550" b="1" dirty="0">
                <a:solidFill>
                  <a:srgbClr val="1E2328"/>
                </a:solidFill>
                <a:latin typeface="Calibri" pitchFamily="34" charset="0"/>
                <a:ea typeface="Calibri" pitchFamily="34" charset="-122"/>
                <a:cs typeface="Calibri" pitchFamily="34" charset="-120"/>
              </a:rPr>
              <a:t>Uma tx aplicada pela metade divergiria</a:t>
            </a:r>
            <a:endParaRPr lang="pt-BR" sz="1550" dirty="0"/>
          </a:p>
        </p:txBody>
      </p:sp>
      <p:sp>
        <p:nvSpPr>
          <p:cNvPr id="21" name="Text 15"/>
          <p:cNvSpPr txBox="1"/>
          <p:nvPr/>
        </p:nvSpPr>
        <p:spPr>
          <a:xfrm>
            <a:off x="1325880" y="5522976"/>
            <a:ext cx="5532120" cy="365760"/>
          </a:xfrm>
          <a:prstGeom prst="rect">
            <a:avLst/>
          </a:prstGeom>
          <a:noFill/>
          <a:ln/>
        </p:spPr>
        <p:txBody>
          <a:bodyPr wrap="square" lIns="0" tIns="0" rIns="0" bIns="0" rtlCol="0" anchor="t"/>
          <a:lstStyle/>
          <a:p>
            <a:pPr indent="0" marL="0">
              <a:buNone/>
            </a:pPr>
            <a:r>
              <a:rPr lang="pt-BR" altLang="en-US" sz="1400" dirty="0">
                <a:solidFill>
                  <a:srgbClr val="007D9C"/>
                </a:solidFill>
                <a:latin typeface="Calibri" pitchFamily="34" charset="0"/>
                <a:ea typeface="Calibri" pitchFamily="34" charset="-122"/>
                <a:cs typeface="Calibri" pitchFamily="34" charset="-120"/>
              </a:rPr>
              <a:t>Cada tx roda numa cópia do estado, mantida só se for aceita.</a:t>
            </a:r>
            <a:endParaRPr lang="pt-BR" sz="1400" dirty="0"/>
          </a:p>
        </p:txBody>
      </p:sp>
      <p:sp>
        <p:nvSpPr>
          <p:cNvPr id="22" name="Shape 16"/>
          <p:cNvSpPr/>
          <p:nvPr/>
        </p:nvSpPr>
        <p:spPr>
          <a:xfrm>
            <a:off x="7178040" y="1645920"/>
            <a:ext cx="4465015" cy="3063240"/>
          </a:xfrm>
          <a:prstGeom prst="roundRect">
            <a:avLst>
              <a:gd name="adj" fmla="val 2388"/>
            </a:avLst>
          </a:prstGeom>
          <a:solidFill>
            <a:srgbClr val="1E2328"/>
          </a:solidFill>
          <a:ln w="9525">
            <a:solidFill>
              <a:srgbClr val="1E2328"/>
            </a:solidFill>
            <a:prstDash val="solid"/>
          </a:ln>
        </p:spPr>
      </p:sp>
      <p:sp>
        <p:nvSpPr>
          <p:cNvPr id="23" name="Text 17"/>
          <p:cNvSpPr txBox="1"/>
          <p:nvPr/>
        </p:nvSpPr>
        <p:spPr>
          <a:xfrm>
            <a:off x="7452360" y="1828800"/>
            <a:ext cx="4007815" cy="2743200"/>
          </a:xfrm>
          <a:prstGeom prst="rect">
            <a:avLst/>
          </a:prstGeom>
          <a:noFill/>
          <a:ln/>
        </p:spPr>
        <p:txBody>
          <a:bodyPr wrap="square" lIns="0" tIns="0" rIns="0" bIns="0" rtlCol="0" anchor="t"/>
          <a:lstStyle/>
          <a:p>
            <a:pPr indent="0" marL="0">
              <a:buNone/>
            </a:pPr>
            <a:r>
              <a:rPr lang="pt-BR" altLang="en-US" sz="1200" dirty="0">
                <a:solidFill>
                  <a:srgbClr val="8B96A1"/>
                </a:solidFill>
                <a:latin typeface="Courier New" pitchFamily="34" charset="0"/>
                <a:ea typeface="Courier New" pitchFamily="34" charset="-122"/>
                <a:cs typeface="Courier New" pitchFamily="34" charset="-120"/>
              </a:rPr>
              <a:t>// liquidação, simplificada</a:t>
            </a:r>
            <a:endParaRPr lang="pt-BR" sz="1200" dirty="0"/>
          </a:p>
          <a:p>
            <a:pPr indent="0" marL="0">
              <a:buNone/>
            </a:pPr>
            <a:r>
              <a:rPr lang="pt-BR" altLang="en-US" sz="1200" dirty="0">
                <a:solidFill>
                  <a:srgbClr val="00ADD8"/>
                </a:solidFill>
                <a:latin typeface="Courier New" pitchFamily="34" charset="0"/>
                <a:ea typeface="Courier New" pitchFamily="34" charset="-122"/>
                <a:cs typeface="Courier New" pitchFamily="34" charset="-120"/>
              </a:rPr>
              <a:t>for</a:t>
            </a:r>
            <a:pPr indent="0" marL="0">
              <a:buNone/>
            </a:pPr>
            <a:r>
              <a:rPr lang="pt-BR" altLang="en-US" sz="1200" dirty="0">
                <a:solidFill>
                  <a:srgbClr val="FFFFFF"/>
                </a:solidFill>
                <a:latin typeface="Courier New" pitchFamily="34" charset="0"/>
                <a:ea typeface="Courier New" pitchFamily="34" charset="-122"/>
                <a:cs typeface="Courier New" pitchFamily="34" charset="-120"/>
              </a:rPr>
              <a:t> _, id := </a:t>
            </a:r>
            <a:pPr indent="0" marL="0">
              <a:buNone/>
            </a:pPr>
            <a:r>
              <a:rPr lang="pt-BR" altLang="en-US" sz="1200" dirty="0">
                <a:solidFill>
                  <a:srgbClr val="00ADD8"/>
                </a:solidFill>
                <a:latin typeface="Courier New" pitchFamily="34" charset="0"/>
                <a:ea typeface="Courier New" pitchFamily="34" charset="-122"/>
                <a:cs typeface="Courier New" pitchFamily="34" charset="-120"/>
              </a:rPr>
              <a:t>range</a:t>
            </a:r>
            <a:pPr indent="0" marL="0">
              <a:buNone/>
            </a:pPr>
            <a:r>
              <a:rPr lang="pt-BR" altLang="en-US" sz="1200" dirty="0">
                <a:solidFill>
                  <a:srgbClr val="FFFFFF"/>
                </a:solidFill>
                <a:latin typeface="Courier New" pitchFamily="34" charset="0"/>
                <a:ea typeface="Courier New" pitchFamily="34" charset="-122"/>
                <a:cs typeface="Courier New" pitchFamily="34" charset="-120"/>
              </a:rPr>
              <a:t> r.Items {</a:t>
            </a:r>
            <a:endParaRPr lang="pt-BR" sz="1200" dirty="0"/>
          </a:p>
          <a:p>
            <a:pPr indent="0" marL="0">
              <a:buNone/>
            </a:pPr>
            <a:r>
              <a:rPr lang="pt-BR" altLang="en-US" sz="1200" dirty="0">
                <a:solidFill>
                  <a:srgbClr val="8B96A1"/>
                </a:solidFill>
                <a:latin typeface="Courier New" pitchFamily="34" charset="0"/>
                <a:ea typeface="Courier New" pitchFamily="34" charset="-122"/>
                <a:cs typeface="Courier New" pitchFamily="34" charset="-120"/>
              </a:rPr>
              <a:t>  // ordem de penhor, nunca a do map</a:t>
            </a:r>
            <a:endParaRPr lang="pt-BR" sz="1200" dirty="0"/>
          </a:p>
          <a:p>
            <a:pPr indent="0" marL="0">
              <a:buNone/>
            </a:pPr>
            <a:r>
              <a:rPr lang="pt-BR" altLang="en-US" sz="1200" dirty="0">
                <a:solidFill>
                  <a:srgbClr val="00ADD8"/>
                </a:solidFill>
                <a:latin typeface="Courier New" pitchFamily="34" charset="0"/>
                <a:ea typeface="Courier New" pitchFamily="34" charset="-122"/>
                <a:cs typeface="Courier New" pitchFamily="34" charset="-120"/>
              </a:rPr>
              <a:t>  if</a:t>
            </a:r>
            <a:pPr indent="0" marL="0">
              <a:buNone/>
            </a:pPr>
            <a:r>
              <a:rPr lang="pt-BR" altLang="en-US" sz="1200" dirty="0">
                <a:solidFill>
                  <a:srgbClr val="FFFFFF"/>
                </a:solidFill>
                <a:latin typeface="Courier New" pitchFamily="34" charset="0"/>
                <a:ea typeface="Courier New" pitchFamily="34" charset="-122"/>
                <a:cs typeface="Courier New" pitchFamily="34" charset="-120"/>
              </a:rPr>
              <a:t> shortfall == 0 {</a:t>
            </a:r>
            <a:endParaRPr lang="pt-BR" sz="1200" dirty="0"/>
          </a:p>
          <a:p>
            <a:pPr indent="0" marL="0">
              <a:buNone/>
            </a:pPr>
            <a:r>
              <a:rPr lang="pt-BR" altLang="en-US" sz="1200" dirty="0">
                <a:solidFill>
                  <a:srgbClr val="FFFFFF"/>
                </a:solidFill>
                <a:latin typeface="Courier New" pitchFamily="34" charset="0"/>
                <a:ea typeface="Courier New" pitchFamily="34" charset="-122"/>
                <a:cs typeface="Courier New" pitchFamily="34" charset="-120"/>
              </a:rPr>
              <a:t>    returned = append(returned, id)</a:t>
            </a:r>
            <a:endParaRPr lang="pt-BR" sz="1200" dirty="0"/>
          </a:p>
          <a:p>
            <a:pPr indent="0" marL="0">
              <a:buNone/>
            </a:pPr>
            <a:r>
              <a:rPr lang="pt-BR" altLang="en-US" sz="1200" dirty="0">
                <a:solidFill>
                  <a:srgbClr val="00ADD8"/>
                </a:solidFill>
                <a:latin typeface="Courier New" pitchFamily="34" charset="0"/>
                <a:ea typeface="Courier New" pitchFamily="34" charset="-122"/>
                <a:cs typeface="Courier New" pitchFamily="34" charset="-120"/>
              </a:rPr>
              <a:t>    continue</a:t>
            </a:r>
            <a:endParaRPr lang="pt-BR" sz="1200" dirty="0"/>
          </a:p>
          <a:p>
            <a:pPr indent="0" marL="0">
              <a:buNone/>
            </a:pPr>
            <a:r>
              <a:rPr lang="pt-BR" altLang="en-US" sz="1200" dirty="0">
                <a:solidFill>
                  <a:srgbClr val="FFFFFF"/>
                </a:solidFill>
                <a:latin typeface="Courier New" pitchFamily="34" charset="0"/>
                <a:ea typeface="Courier New" pitchFamily="34" charset="-122"/>
                <a:cs typeface="Courier New" pitchFamily="34" charset="-120"/>
              </a:rPr>
              <a:t>  }</a:t>
            </a:r>
            <a:endParaRPr lang="pt-BR" sz="1200" dirty="0"/>
          </a:p>
          <a:p>
            <a:pPr indent="0" marL="0">
              <a:buNone/>
            </a:pPr>
            <a:r>
              <a:rPr lang="pt-BR" altLang="en-US" sz="1200" dirty="0">
                <a:solidFill>
                  <a:srgbClr val="FFFFFF"/>
                </a:solidFill>
                <a:latin typeface="Courier New" pitchFamily="34" charset="0"/>
                <a:ea typeface="Courier New" pitchFamily="34" charset="-122"/>
                <a:cs typeface="Courier New" pitchFamily="34" charset="-120"/>
              </a:rPr>
              <a:t>  seized = append(seized, id)</a:t>
            </a:r>
            <a:endParaRPr lang="pt-BR" sz="1200" dirty="0"/>
          </a:p>
          <a:p>
            <a:pPr indent="0" marL="0">
              <a:buNone/>
            </a:pPr>
            <a:r>
              <a:rPr lang="pt-BR" altLang="en-US" sz="1200" dirty="0">
                <a:solidFill>
                  <a:srgbClr val="FFFFFF"/>
                </a:solidFill>
                <a:latin typeface="Courier New" pitchFamily="34" charset="0"/>
                <a:ea typeface="Courier New" pitchFamily="34" charset="-122"/>
                <a:cs typeface="Courier New" pitchFamily="34" charset="-120"/>
              </a:rPr>
              <a:t>  shortfall -= min(shortfall, value(id))</a:t>
            </a:r>
            <a:endParaRPr lang="pt-BR" sz="1200" dirty="0"/>
          </a:p>
          <a:p>
            <a:pPr indent="0" marL="0">
              <a:buNone/>
            </a:pPr>
            <a:r>
              <a:rPr lang="pt-BR" altLang="en-US" sz="1200" dirty="0">
                <a:solidFill>
                  <a:srgbClr val="FFFFFF"/>
                </a:solidFill>
                <a:latin typeface="Courier New" pitchFamily="34" charset="0"/>
                <a:ea typeface="Courier New" pitchFamily="34" charset="-122"/>
                <a:cs typeface="Courier New" pitchFamily="34" charset="-120"/>
              </a:rPr>
              <a:t>}</a:t>
            </a:r>
            <a:endParaRPr lang="pt-BR" sz="1200" dirty="0"/>
          </a:p>
        </p:txBody>
      </p:sp>
      <p:sp>
        <p:nvSpPr>
          <p:cNvPr id="24" name="Shape 18"/>
          <p:cNvSpPr/>
          <p:nvPr/>
        </p:nvSpPr>
        <p:spPr>
          <a:xfrm>
            <a:off x="7178040" y="4937760"/>
            <a:ext cx="4465015" cy="1188720"/>
          </a:xfrm>
          <a:prstGeom prst="roundRect">
            <a:avLst>
              <a:gd name="adj" fmla="val 6154"/>
            </a:avLst>
          </a:prstGeom>
          <a:solidFill>
            <a:srgbClr val="E3F6FB"/>
          </a:solidFill>
          <a:ln w="9525">
            <a:solidFill>
              <a:srgbClr val="E3F6FB"/>
            </a:solidFill>
            <a:prstDash val="solid"/>
          </a:ln>
        </p:spPr>
      </p:sp>
      <p:sp>
        <p:nvSpPr>
          <p:cNvPr id="25" name="Text 19"/>
          <p:cNvSpPr txBox="1"/>
          <p:nvPr/>
        </p:nvSpPr>
        <p:spPr>
          <a:xfrm>
            <a:off x="7406640" y="5047488"/>
            <a:ext cx="4007815" cy="1005840"/>
          </a:xfrm>
          <a:prstGeom prst="rect">
            <a:avLst/>
          </a:prstGeom>
          <a:noFill/>
          <a:ln/>
        </p:spPr>
        <p:txBody>
          <a:bodyPr wrap="square" lIns="0" tIns="0" rIns="0" bIns="0" rtlCol="0" anchor="t"/>
          <a:lstStyle/>
          <a:p>
            <a:pPr indent="0" marL="0">
              <a:buNone/>
            </a:pPr>
            <a:r>
              <a:rPr lang="pt-BR" altLang="en-US" sz="1400" b="1" dirty="0">
                <a:solidFill>
                  <a:srgbClr val="1E2328"/>
                </a:solidFill>
                <a:latin typeface="Calibri" pitchFamily="34" charset="0"/>
                <a:ea typeface="Calibri" pitchFamily="34" charset="-122"/>
                <a:cs typeface="Calibri" pitchFamily="34" charset="-120"/>
              </a:rPr>
              <a:t>Verificado, não suposto: </a:t>
            </a:r>
            <a:pPr indent="0" marL="0">
              <a:buNone/>
            </a:pPr>
            <a:r>
              <a:rPr lang="pt-BR" altLang="en-US" sz="1400" dirty="0">
                <a:solidFill>
                  <a:srgbClr val="1E2328"/>
                </a:solidFill>
                <a:latin typeface="Calibri" pitchFamily="34" charset="0"/>
                <a:ea typeface="Calibri" pitchFamily="34" charset="-122"/>
                <a:cs typeface="Calibri" pitchFamily="34" charset="-120"/>
              </a:rPr>
              <a:t>cada bloco registra um hash do estado, e um nó reiniciado precisa reproduzir cada um, ou se recusa a iniciar.</a:t>
            </a:r>
            <a:endParaRPr lang="pt-B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06 · COMPLEMENTOS</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O que fica on-chain e o que fica fora</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19</a:t>
            </a:r>
            <a:endParaRPr lang="pt-BR" sz="1000" dirty="0"/>
          </a:p>
        </p:txBody>
      </p:sp>
      <p:sp>
        <p:nvSpPr>
          <p:cNvPr id="5" name="Shape 3"/>
          <p:cNvSpPr/>
          <p:nvPr/>
        </p:nvSpPr>
        <p:spPr>
          <a:xfrm>
            <a:off x="548640" y="1645920"/>
            <a:ext cx="5350612" cy="3657600"/>
          </a:xfrm>
          <a:prstGeom prst="roundRect">
            <a:avLst>
              <a:gd name="adj" fmla="val 2000"/>
            </a:avLst>
          </a:prstGeom>
          <a:solidFill>
            <a:srgbClr val="E3F6FB"/>
          </a:solidFill>
          <a:ln w="9525">
            <a:solidFill>
              <a:srgbClr val="E3F6FB"/>
            </a:solidFill>
            <a:prstDash val="solid"/>
          </a:ln>
        </p:spPr>
      </p:sp>
      <p:sp>
        <p:nvSpPr>
          <p:cNvPr id="6" name="Shape 4"/>
          <p:cNvSpPr/>
          <p:nvPr/>
        </p:nvSpPr>
        <p:spPr>
          <a:xfrm>
            <a:off x="822960" y="1847088"/>
            <a:ext cx="621792" cy="621792"/>
          </a:xfrm>
          <a:prstGeom prst="ellipse">
            <a:avLst/>
          </a:prstGeom>
          <a:solidFill>
            <a:srgbClr val="007D9C"/>
          </a:solidFill>
          <a:ln w="9525">
            <a:solidFill>
              <a:srgbClr val="007D9C"/>
            </a:solidFill>
            <a:prstDash val="solid"/>
          </a:ln>
        </p:spPr>
      </p:sp>
      <p:pic>
        <p:nvPicPr>
          <p:cNvPr id="7" name="Image 0" descr="preencoded.png">    </p:cNvPr>
          <p:cNvPicPr>
            <a:picLocks noChangeAspect="1"/>
          </p:cNvPicPr>
          <p:nvPr/>
        </p:nvPicPr>
        <p:blipFill>
          <a:blip r:embed="rId1"/>
          <a:stretch>
            <a:fillRect/>
          </a:stretch>
        </p:blipFill>
        <p:spPr>
          <a:xfrm>
            <a:off x="972190" y="1996318"/>
            <a:ext cx="323332" cy="323332"/>
          </a:xfrm>
          <a:prstGeom prst="rect">
            <a:avLst/>
          </a:prstGeom>
        </p:spPr>
      </p:pic>
      <p:sp>
        <p:nvSpPr>
          <p:cNvPr id="8" name="Text 5"/>
          <p:cNvSpPr txBox="1"/>
          <p:nvPr/>
        </p:nvSpPr>
        <p:spPr>
          <a:xfrm>
            <a:off x="1600200" y="1810512"/>
            <a:ext cx="4070452" cy="365760"/>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On-chain</a:t>
            </a:r>
            <a:endParaRPr lang="pt-BR" sz="1900" dirty="0"/>
          </a:p>
        </p:txBody>
      </p:sp>
      <p:sp>
        <p:nvSpPr>
          <p:cNvPr id="9" name="Text 6"/>
          <p:cNvSpPr txBox="1"/>
          <p:nvPr/>
        </p:nvSpPr>
        <p:spPr>
          <a:xfrm>
            <a:off x="1600200" y="2176272"/>
            <a:ext cx="4070452" cy="292608"/>
          </a:xfrm>
          <a:prstGeom prst="rect">
            <a:avLst/>
          </a:prstGeom>
          <a:noFill/>
          <a:ln/>
        </p:spPr>
        <p:txBody>
          <a:bodyPr wrap="square" lIns="0" tIns="0" rIns="0" bIns="0" rtlCol="0" anchor="t"/>
          <a:lstStyle/>
          <a:p>
            <a:pPr indent="0" marL="0">
              <a:buNone/>
            </a:pPr>
            <a:r>
              <a:rPr lang="pt-BR" altLang="en-US" sz="1300" i="1" dirty="0">
                <a:solidFill>
                  <a:srgbClr val="5F6B76"/>
                </a:solidFill>
                <a:latin typeface="Calibri" pitchFamily="34" charset="0"/>
                <a:ea typeface="Calibri" pitchFamily="34" charset="-122"/>
                <a:cs typeface="Calibri" pitchFamily="34" charset="-120"/>
              </a:rPr>
              <a:t>o que várias partes precisam acordar</a:t>
            </a:r>
            <a:endParaRPr lang="pt-BR" sz="1300" dirty="0"/>
          </a:p>
        </p:txBody>
      </p:sp>
      <p:sp>
        <p:nvSpPr>
          <p:cNvPr id="10" name="Text 7"/>
          <p:cNvSpPr txBox="1"/>
          <p:nvPr/>
        </p:nvSpPr>
        <p:spPr>
          <a:xfrm>
            <a:off x="822960" y="2697480"/>
            <a:ext cx="4801972" cy="2514600"/>
          </a:xfrm>
          <a:prstGeom prst="rect">
            <a:avLst/>
          </a:prstGeom>
          <a:noFill/>
          <a:ln/>
        </p:spPr>
        <p:txBody>
          <a:bodyPr wrap="square" lIns="0" tIns="0" rIns="0" bIns="0" rtlCol="0" anchor="t"/>
          <a:lstStyle/>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Saldos: quem detém cada carro, item e unidade de depósito</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Registro de ativos: tipo, diária, garantia ou valor, alugado, dono</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Locações: locatário, datas, depósito bloqueado, itens, status</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Eventos de liquidação: valores pagos, multa, danos, confiscos</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Hashes dos laudos de retirada e devolução</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Atribuição de papéis: registrador e vistoriador</a:t>
            </a:r>
            <a:endParaRPr lang="pt-BR" sz="1350" dirty="0"/>
          </a:p>
        </p:txBody>
      </p:sp>
      <p:sp>
        <p:nvSpPr>
          <p:cNvPr id="11" name="Shape 8"/>
          <p:cNvSpPr/>
          <p:nvPr/>
        </p:nvSpPr>
        <p:spPr>
          <a:xfrm>
            <a:off x="6292444" y="1645920"/>
            <a:ext cx="5350612" cy="3657600"/>
          </a:xfrm>
          <a:prstGeom prst="roundRect">
            <a:avLst>
              <a:gd name="adj" fmla="val 2000"/>
            </a:avLst>
          </a:prstGeom>
          <a:solidFill>
            <a:srgbClr val="F2F5F7"/>
          </a:solidFill>
          <a:ln w="9525">
            <a:solidFill>
              <a:srgbClr val="F2F5F7"/>
            </a:solidFill>
            <a:prstDash val="solid"/>
          </a:ln>
        </p:spPr>
      </p:sp>
      <p:sp>
        <p:nvSpPr>
          <p:cNvPr id="12" name="Shape 9"/>
          <p:cNvSpPr/>
          <p:nvPr/>
        </p:nvSpPr>
        <p:spPr>
          <a:xfrm>
            <a:off x="6566764" y="1847088"/>
            <a:ext cx="621792" cy="621792"/>
          </a:xfrm>
          <a:prstGeom prst="ellipse">
            <a:avLst/>
          </a:prstGeom>
          <a:solidFill>
            <a:srgbClr val="3A434C"/>
          </a:solidFill>
          <a:ln w="9525">
            <a:solidFill>
              <a:srgbClr val="3A434C"/>
            </a:solidFill>
            <a:prstDash val="solid"/>
          </a:ln>
        </p:spPr>
      </p:sp>
      <p:pic>
        <p:nvPicPr>
          <p:cNvPr id="13" name="Image 1" descr="preencoded.png">    </p:cNvPr>
          <p:cNvPicPr>
            <a:picLocks noChangeAspect="1"/>
          </p:cNvPicPr>
          <p:nvPr/>
        </p:nvPicPr>
        <p:blipFill>
          <a:blip r:embed="rId2"/>
          <a:stretch>
            <a:fillRect/>
          </a:stretch>
        </p:blipFill>
        <p:spPr>
          <a:xfrm>
            <a:off x="6715994" y="1996318"/>
            <a:ext cx="323332" cy="323332"/>
          </a:xfrm>
          <a:prstGeom prst="rect">
            <a:avLst/>
          </a:prstGeom>
        </p:spPr>
      </p:pic>
      <p:sp>
        <p:nvSpPr>
          <p:cNvPr id="14" name="Text 10"/>
          <p:cNvSpPr txBox="1"/>
          <p:nvPr/>
        </p:nvSpPr>
        <p:spPr>
          <a:xfrm>
            <a:off x="7344004" y="1810512"/>
            <a:ext cx="4070452" cy="365760"/>
          </a:xfrm>
          <a:prstGeom prst="rect">
            <a:avLst/>
          </a:prstGeom>
          <a:noFill/>
          <a:ln/>
        </p:spPr>
        <p:txBody>
          <a:bodyPr wrap="square" lIns="0" tIns="0" rIns="0" bIns="0" rtlCol="0" anchor="t"/>
          <a:lstStyle/>
          <a:p>
            <a:pPr indent="0" marL="0">
              <a:buNone/>
            </a:pPr>
            <a:r>
              <a:rPr lang="pt-BR" altLang="en-US" sz="1900" b="1" dirty="0">
                <a:solidFill>
                  <a:srgbClr val="1E2328"/>
                </a:solidFill>
                <a:latin typeface="Arial" pitchFamily="34" charset="0"/>
                <a:ea typeface="Arial" pitchFamily="34" charset="-122"/>
                <a:cs typeface="Arial" pitchFamily="34" charset="-120"/>
              </a:rPr>
              <a:t>Off-chain</a:t>
            </a:r>
            <a:endParaRPr lang="pt-BR" sz="1900" dirty="0"/>
          </a:p>
        </p:txBody>
      </p:sp>
      <p:sp>
        <p:nvSpPr>
          <p:cNvPr id="15" name="Text 11"/>
          <p:cNvSpPr txBox="1"/>
          <p:nvPr/>
        </p:nvSpPr>
        <p:spPr>
          <a:xfrm>
            <a:off x="7344004" y="2176272"/>
            <a:ext cx="4070452" cy="292608"/>
          </a:xfrm>
          <a:prstGeom prst="rect">
            <a:avLst/>
          </a:prstGeom>
          <a:noFill/>
          <a:ln/>
        </p:spPr>
        <p:txBody>
          <a:bodyPr wrap="square" lIns="0" tIns="0" rIns="0" bIns="0" rtlCol="0" anchor="t"/>
          <a:lstStyle/>
          <a:p>
            <a:pPr indent="0" marL="0">
              <a:buNone/>
            </a:pPr>
            <a:r>
              <a:rPr lang="pt-BR" altLang="en-US" sz="1300" i="1" dirty="0">
                <a:solidFill>
                  <a:srgbClr val="5F6B76"/>
                </a:solidFill>
                <a:latin typeface="Calibri" pitchFamily="34" charset="0"/>
                <a:ea typeface="Calibri" pitchFamily="34" charset="-122"/>
                <a:cs typeface="Calibri" pitchFamily="34" charset="-120"/>
              </a:rPr>
              <a:t>dados grandes, privados ou mutáveis</a:t>
            </a:r>
            <a:endParaRPr lang="pt-BR" sz="1300" dirty="0"/>
          </a:p>
        </p:txBody>
      </p:sp>
      <p:sp>
        <p:nvSpPr>
          <p:cNvPr id="16" name="Text 12"/>
          <p:cNvSpPr txBox="1"/>
          <p:nvPr/>
        </p:nvSpPr>
        <p:spPr>
          <a:xfrm>
            <a:off x="6566764" y="2697480"/>
            <a:ext cx="4801972" cy="2514600"/>
          </a:xfrm>
          <a:prstGeom prst="rect">
            <a:avLst/>
          </a:prstGeom>
          <a:noFill/>
          <a:ln/>
        </p:spPr>
        <p:txBody>
          <a:bodyPr wrap="square" lIns="0" tIns="0" rIns="0" bIns="0" rtlCol="0" anchor="t"/>
          <a:lstStyle/>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Dados pessoais: nome, documento, CNH (exclusão pela LGPD)</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Documentos do carro: chassi, placa, CRLV, seguro (hash on-chain)</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Fotos e laudos de vistoria (hash on-chain)</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Laudos de avaliação das garantias (hash on-chain)</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GPS e telemetria: muito volume, não servem à liquidação</a:t>
            </a:r>
            <a:endParaRPr lang="pt-BR" sz="1350" dirty="0"/>
          </a:p>
          <a:p>
            <a:pPr marL="342900" indent="-342900">
              <a:spcAft>
                <a:spcPts val="500"/>
              </a:spcAft>
              <a:buSzPct val="100000"/>
              <a:buChar char="•"/>
            </a:pPr>
            <a:r>
              <a:rPr lang="pt-BR" altLang="en-US" sz="1350" dirty="0">
                <a:solidFill>
                  <a:srgbClr val="1E2328"/>
                </a:solidFill>
                <a:latin typeface="Calibri" pitchFamily="34" charset="0"/>
                <a:ea typeface="Calibri" pitchFamily="34" charset="-122"/>
                <a:cs typeface="Calibri" pitchFamily="34" charset="-120"/>
              </a:rPr>
              <a:t>Pagamentos e transferências: só o equivalente em tokens vai on-chain</a:t>
            </a:r>
            <a:endParaRPr lang="pt-BR" sz="1350" dirty="0"/>
          </a:p>
        </p:txBody>
      </p:sp>
      <p:sp>
        <p:nvSpPr>
          <p:cNvPr id="17" name="Shape 13"/>
          <p:cNvSpPr/>
          <p:nvPr/>
        </p:nvSpPr>
        <p:spPr>
          <a:xfrm>
            <a:off x="548640" y="5486400"/>
            <a:ext cx="11094415" cy="685800"/>
          </a:xfrm>
          <a:prstGeom prst="roundRect">
            <a:avLst>
              <a:gd name="adj" fmla="val 10667"/>
            </a:avLst>
          </a:prstGeom>
          <a:solidFill>
            <a:srgbClr val="1E2328"/>
          </a:solidFill>
          <a:ln w="9525">
            <a:solidFill>
              <a:srgbClr val="1E2328"/>
            </a:solidFill>
            <a:prstDash val="solid"/>
          </a:ln>
        </p:spPr>
      </p:sp>
      <p:sp>
        <p:nvSpPr>
          <p:cNvPr id="18" name="Text 14"/>
          <p:cNvSpPr txBox="1"/>
          <p:nvPr/>
        </p:nvSpPr>
        <p:spPr>
          <a:xfrm>
            <a:off x="822960" y="5486400"/>
            <a:ext cx="10545775" cy="685800"/>
          </a:xfrm>
          <a:prstGeom prst="rect">
            <a:avLst/>
          </a:prstGeom>
          <a:noFill/>
          <a:ln/>
        </p:spPr>
        <p:txBody>
          <a:bodyPr wrap="square" lIns="0" tIns="0" rIns="0" bIns="0" rtlCol="0" anchor="ctr"/>
          <a:lstStyle/>
          <a:p>
            <a:pPr indent="0" marL="0">
              <a:buNone/>
            </a:pPr>
            <a:r>
              <a:rPr lang="pt-BR" altLang="en-US" sz="1400" b="1" dirty="0">
                <a:solidFill>
                  <a:srgbClr val="FFFFFF"/>
                </a:solidFill>
                <a:latin typeface="Calibri" pitchFamily="34" charset="0"/>
                <a:ea typeface="Calibri" pitchFamily="34" charset="-122"/>
                <a:cs typeface="Calibri" pitchFamily="34" charset="-120"/>
              </a:rPr>
              <a:t>Um hash prova que o documento não mudou, não que ele é verdadeiro. </a:t>
            </a:r>
            <a:pPr indent="0" marL="0">
              <a:buNone/>
            </a:pPr>
            <a:r>
              <a:rPr lang="pt-BR" altLang="en-US" sz="1400" dirty="0">
                <a:solidFill>
                  <a:srgbClr val="C9D1D9"/>
                </a:solidFill>
                <a:latin typeface="Calibri" pitchFamily="34" charset="0"/>
                <a:ea typeface="Calibri" pitchFamily="34" charset="-122"/>
                <a:cs typeface="Calibri" pitchFamily="34" charset="-120"/>
              </a:rPr>
              <a:t>Por isso existem registrador e vistoriador. Use salt no hash de dados pessoais.</a:t>
            </a:r>
            <a:endParaRPr lang="pt-B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06 · COMPLEMENTOS</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O app web: quatro abas</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20</a:t>
            </a:r>
            <a:endParaRPr lang="pt-BR" sz="1000" dirty="0"/>
          </a:p>
        </p:txBody>
      </p:sp>
      <p:sp>
        <p:nvSpPr>
          <p:cNvPr id="5" name="Shape 3"/>
          <p:cNvSpPr/>
          <p:nvPr/>
        </p:nvSpPr>
        <p:spPr>
          <a:xfrm>
            <a:off x="548640" y="1645920"/>
            <a:ext cx="566928" cy="566928"/>
          </a:xfrm>
          <a:prstGeom prst="ellipse">
            <a:avLst/>
          </a:prstGeom>
          <a:solidFill>
            <a:srgbClr val="007D9C"/>
          </a:solidFill>
          <a:ln w="9525">
            <a:solidFill>
              <a:srgbClr val="007D9C"/>
            </a:solidFill>
            <a:prstDash val="solid"/>
          </a:ln>
        </p:spPr>
      </p:sp>
      <p:pic>
        <p:nvPicPr>
          <p:cNvPr id="6" name="Image 0" descr="preencoded.png">    </p:cNvPr>
          <p:cNvPicPr>
            <a:picLocks noChangeAspect="1"/>
          </p:cNvPicPr>
          <p:nvPr/>
        </p:nvPicPr>
        <p:blipFill>
          <a:blip r:embed="rId1"/>
          <a:stretch>
            <a:fillRect/>
          </a:stretch>
        </p:blipFill>
        <p:spPr>
          <a:xfrm>
            <a:off x="684703" y="1781983"/>
            <a:ext cx="294803" cy="294803"/>
          </a:xfrm>
          <a:prstGeom prst="rect">
            <a:avLst/>
          </a:prstGeom>
        </p:spPr>
      </p:pic>
      <p:sp>
        <p:nvSpPr>
          <p:cNvPr id="7" name="Text 4"/>
          <p:cNvSpPr txBox="1"/>
          <p:nvPr/>
        </p:nvSpPr>
        <p:spPr>
          <a:xfrm>
            <a:off x="1325880" y="1609344"/>
            <a:ext cx="4023360" cy="329184"/>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Register (cadastro)</a:t>
            </a:r>
            <a:endParaRPr lang="pt-BR" sz="1600" dirty="0"/>
          </a:p>
        </p:txBody>
      </p:sp>
      <p:sp>
        <p:nvSpPr>
          <p:cNvPr id="8" name="Text 5"/>
          <p:cNvSpPr txBox="1"/>
          <p:nvPr/>
        </p:nvSpPr>
        <p:spPr>
          <a:xfrm>
            <a:off x="1325880" y="1938528"/>
            <a:ext cx="4023360" cy="676656"/>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Cadastra carros e itens avaliados; emite tokens de depósito. Desabilitada sem o papel, com uma dica que o nomeia.</a:t>
            </a:r>
            <a:endParaRPr lang="pt-BR" sz="1300" dirty="0"/>
          </a:p>
        </p:txBody>
      </p:sp>
      <p:sp>
        <p:nvSpPr>
          <p:cNvPr id="9" name="Shape 6"/>
          <p:cNvSpPr/>
          <p:nvPr/>
        </p:nvSpPr>
        <p:spPr>
          <a:xfrm>
            <a:off x="548640" y="2670048"/>
            <a:ext cx="566928" cy="566928"/>
          </a:xfrm>
          <a:prstGeom prst="ellipse">
            <a:avLst/>
          </a:prstGeom>
          <a:solidFill>
            <a:srgbClr val="007D9C"/>
          </a:solidFill>
          <a:ln w="9525">
            <a:solidFill>
              <a:srgbClr val="007D9C"/>
            </a:solidFill>
            <a:prstDash val="solid"/>
          </a:ln>
        </p:spPr>
      </p:sp>
      <p:pic>
        <p:nvPicPr>
          <p:cNvPr id="10" name="Image 1" descr="preencoded.png">    </p:cNvPr>
          <p:cNvPicPr>
            <a:picLocks noChangeAspect="1"/>
          </p:cNvPicPr>
          <p:nvPr/>
        </p:nvPicPr>
        <p:blipFill>
          <a:blip r:embed="rId2"/>
          <a:stretch>
            <a:fillRect/>
          </a:stretch>
        </p:blipFill>
        <p:spPr>
          <a:xfrm>
            <a:off x="684703" y="2806111"/>
            <a:ext cx="294803" cy="294803"/>
          </a:xfrm>
          <a:prstGeom prst="rect">
            <a:avLst/>
          </a:prstGeom>
        </p:spPr>
      </p:pic>
      <p:sp>
        <p:nvSpPr>
          <p:cNvPr id="11" name="Text 7"/>
          <p:cNvSpPr txBox="1"/>
          <p:nvPr/>
        </p:nvSpPr>
        <p:spPr>
          <a:xfrm>
            <a:off x="1325880" y="2633472"/>
            <a:ext cx="4023360" cy="329184"/>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Fleet (frota)</a:t>
            </a:r>
            <a:endParaRPr lang="pt-BR" sz="1600" dirty="0"/>
          </a:p>
        </p:txBody>
      </p:sp>
      <p:sp>
        <p:nvSpPr>
          <p:cNvPr id="12" name="Text 8"/>
          <p:cNvSpPr txBox="1"/>
          <p:nvPr/>
        </p:nvSpPr>
        <p:spPr>
          <a:xfrm>
            <a:off x="1325880" y="2962656"/>
            <a:ext cx="4023360" cy="676656"/>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Carros, detentores e saldos. Cada documento é rehasheado e conferido com a cadeia.</a:t>
            </a:r>
            <a:endParaRPr lang="pt-BR" sz="1300" dirty="0"/>
          </a:p>
        </p:txBody>
      </p:sp>
      <p:sp>
        <p:nvSpPr>
          <p:cNvPr id="13" name="Shape 9"/>
          <p:cNvSpPr/>
          <p:nvPr/>
        </p:nvSpPr>
        <p:spPr>
          <a:xfrm>
            <a:off x="548640" y="3694176"/>
            <a:ext cx="566928" cy="566928"/>
          </a:xfrm>
          <a:prstGeom prst="ellipse">
            <a:avLst/>
          </a:prstGeom>
          <a:solidFill>
            <a:srgbClr val="007D9C"/>
          </a:solidFill>
          <a:ln w="9525">
            <a:solidFill>
              <a:srgbClr val="007D9C"/>
            </a:solidFill>
            <a:prstDash val="solid"/>
          </a:ln>
        </p:spPr>
      </p:sp>
      <p:pic>
        <p:nvPicPr>
          <p:cNvPr id="14" name="Image 2" descr="preencoded.png">    </p:cNvPr>
          <p:cNvPicPr>
            <a:picLocks noChangeAspect="1"/>
          </p:cNvPicPr>
          <p:nvPr/>
        </p:nvPicPr>
        <p:blipFill>
          <a:blip r:embed="rId3"/>
          <a:stretch>
            <a:fillRect/>
          </a:stretch>
        </p:blipFill>
        <p:spPr>
          <a:xfrm>
            <a:off x="684703" y="3830239"/>
            <a:ext cx="294803" cy="294803"/>
          </a:xfrm>
          <a:prstGeom prst="rect">
            <a:avLst/>
          </a:prstGeom>
        </p:spPr>
      </p:pic>
      <p:sp>
        <p:nvSpPr>
          <p:cNvPr id="15" name="Text 10"/>
          <p:cNvSpPr txBox="1"/>
          <p:nvPr/>
        </p:nvSpPr>
        <p:spPr>
          <a:xfrm>
            <a:off x="1325880" y="3657600"/>
            <a:ext cx="4023360" cy="329184"/>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Rent (locação)</a:t>
            </a:r>
            <a:endParaRPr lang="pt-BR" sz="1600" dirty="0"/>
          </a:p>
        </p:txBody>
      </p:sp>
      <p:sp>
        <p:nvSpPr>
          <p:cNvPr id="16" name="Text 11"/>
          <p:cNvSpPr txBox="1"/>
          <p:nvPr/>
        </p:nvSpPr>
        <p:spPr>
          <a:xfrm>
            <a:off x="1325880" y="3986784"/>
            <a:ext cx="4023360" cy="676656"/>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Inicia uma locação com checagem de cobertura ao vivo. O vistoriador liquida as devoluções.</a:t>
            </a:r>
            <a:endParaRPr lang="pt-BR" sz="1300" dirty="0"/>
          </a:p>
        </p:txBody>
      </p:sp>
      <p:sp>
        <p:nvSpPr>
          <p:cNvPr id="17" name="Shape 12"/>
          <p:cNvSpPr/>
          <p:nvPr/>
        </p:nvSpPr>
        <p:spPr>
          <a:xfrm>
            <a:off x="548640" y="4718304"/>
            <a:ext cx="566928" cy="566928"/>
          </a:xfrm>
          <a:prstGeom prst="ellipse">
            <a:avLst/>
          </a:prstGeom>
          <a:solidFill>
            <a:srgbClr val="007D9C"/>
          </a:solidFill>
          <a:ln w="9525">
            <a:solidFill>
              <a:srgbClr val="007D9C"/>
            </a:solidFill>
            <a:prstDash val="solid"/>
          </a:ln>
        </p:spPr>
      </p:sp>
      <p:pic>
        <p:nvPicPr>
          <p:cNvPr id="18" name="Image 3" descr="preencoded.png">    </p:cNvPr>
          <p:cNvPicPr>
            <a:picLocks noChangeAspect="1"/>
          </p:cNvPicPr>
          <p:nvPr/>
        </p:nvPicPr>
        <p:blipFill>
          <a:blip r:embed="rId4"/>
          <a:stretch>
            <a:fillRect/>
          </a:stretch>
        </p:blipFill>
        <p:spPr>
          <a:xfrm>
            <a:off x="684703" y="4854367"/>
            <a:ext cx="294803" cy="294803"/>
          </a:xfrm>
          <a:prstGeom prst="rect">
            <a:avLst/>
          </a:prstGeom>
        </p:spPr>
      </p:pic>
      <p:sp>
        <p:nvSpPr>
          <p:cNvPr id="19" name="Text 13"/>
          <p:cNvSpPr txBox="1"/>
          <p:nvPr/>
        </p:nvSpPr>
        <p:spPr>
          <a:xfrm>
            <a:off x="1325880" y="4681728"/>
            <a:ext cx="4023360" cy="329184"/>
          </a:xfrm>
          <a:prstGeom prst="rect">
            <a:avLst/>
          </a:prstGeom>
          <a:noFill/>
          <a:ln/>
        </p:spPr>
        <p:txBody>
          <a:bodyPr wrap="square" lIns="0" tIns="0" rIns="0" bIns="0" rtlCol="0" anchor="t"/>
          <a:lstStyle/>
          <a:p>
            <a:pPr indent="0" marL="0">
              <a:buNone/>
            </a:pPr>
            <a:r>
              <a:rPr lang="pt-BR" altLang="en-US" sz="1600" b="1" dirty="0">
                <a:solidFill>
                  <a:srgbClr val="1E2328"/>
                </a:solidFill>
                <a:latin typeface="Arial" pitchFamily="34" charset="0"/>
                <a:ea typeface="Arial" pitchFamily="34" charset="-122"/>
                <a:cs typeface="Arial" pitchFamily="34" charset="-120"/>
              </a:rPr>
              <a:t>Chain Explorer</a:t>
            </a:r>
            <a:endParaRPr lang="pt-BR" sz="1600" dirty="0"/>
          </a:p>
        </p:txBody>
      </p:sp>
      <p:sp>
        <p:nvSpPr>
          <p:cNvPr id="20" name="Text 14"/>
          <p:cNvSpPr txBox="1"/>
          <p:nvPr/>
        </p:nvSpPr>
        <p:spPr>
          <a:xfrm>
            <a:off x="1325880" y="5010912"/>
            <a:ext cx="4023360" cy="676656"/>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Blocos mais recentes com eventos decodificados. Transações rejeitadas aparecem em vermelho.</a:t>
            </a:r>
            <a:endParaRPr lang="pt-BR" sz="1300" dirty="0"/>
          </a:p>
        </p:txBody>
      </p:sp>
      <p:sp>
        <p:nvSpPr>
          <p:cNvPr id="21" name="Text 15"/>
          <p:cNvSpPr txBox="1"/>
          <p:nvPr/>
        </p:nvSpPr>
        <p:spPr>
          <a:xfrm>
            <a:off x="548640" y="5806440"/>
            <a:ext cx="4800600" cy="502920"/>
          </a:xfrm>
          <a:prstGeom prst="rect">
            <a:avLst/>
          </a:prstGeom>
          <a:noFill/>
          <a:ln/>
        </p:spPr>
        <p:txBody>
          <a:bodyPr wrap="square" lIns="0" tIns="0" rIns="0" bIns="0" rtlCol="0" anchor="t"/>
          <a:lstStyle/>
          <a:p>
            <a:pPr indent="0" marL="0">
              <a:buNone/>
            </a:pPr>
            <a:r>
              <a:rPr lang="pt-BR" altLang="en-US" sz="1300" i="1" dirty="0">
                <a:solidFill>
                  <a:srgbClr val="5F6B76"/>
                </a:solidFill>
                <a:latin typeface="Calibri" pitchFamily="34" charset="0"/>
                <a:ea typeface="Calibri" pitchFamily="34" charset="-122"/>
                <a:cs typeface="Calibri" pitchFamily="34" charset="-120"/>
              </a:rPr>
              <a:t>O seletor de contas guarda pares de chaves Ed25519; o próprio navegador assina cada transação.</a:t>
            </a:r>
            <a:endParaRPr lang="pt-BR" sz="1300" dirty="0"/>
          </a:p>
        </p:txBody>
      </p:sp>
      <p:sp>
        <p:nvSpPr>
          <p:cNvPr id="22" name="Shape 16"/>
          <p:cNvSpPr/>
          <p:nvPr/>
        </p:nvSpPr>
        <p:spPr>
          <a:xfrm>
            <a:off x="5550408" y="1618488"/>
            <a:ext cx="6120079" cy="1557983"/>
          </a:xfrm>
          <a:prstGeom prst="rect">
            <a:avLst/>
          </a:prstGeom>
          <a:solidFill>
            <a:srgbClr val="D5DBE1"/>
          </a:solidFill>
          <a:ln w="9525">
            <a:solidFill>
              <a:srgbClr val="D5DBE1"/>
            </a:solidFill>
            <a:prstDash val="solid"/>
          </a:ln>
        </p:spPr>
      </p:sp>
      <p:pic>
        <p:nvPicPr>
          <p:cNvPr id="23" name="Image 4" descr="preencoded.png">    </p:cNvPr>
          <p:cNvPicPr>
            <a:picLocks noChangeAspect="1"/>
          </p:cNvPicPr>
          <p:nvPr/>
        </p:nvPicPr>
        <p:blipFill>
          <a:blip r:embed="rId5"/>
          <a:stretch>
            <a:fillRect/>
          </a:stretch>
        </p:blipFill>
        <p:spPr>
          <a:xfrm>
            <a:off x="5577840" y="1645920"/>
            <a:ext cx="6065215" cy="1503119"/>
          </a:xfrm>
          <a:prstGeom prst="rect">
            <a:avLst/>
          </a:prstGeom>
        </p:spPr>
      </p:pic>
      <p:sp>
        <p:nvSpPr>
          <p:cNvPr id="24" name="Text 17"/>
          <p:cNvSpPr txBox="1"/>
          <p:nvPr/>
        </p:nvSpPr>
        <p:spPr>
          <a:xfrm>
            <a:off x="5577840" y="3240479"/>
            <a:ext cx="6065215" cy="274320"/>
          </a:xfrm>
          <a:prstGeom prst="rect">
            <a:avLst/>
          </a:prstGeom>
          <a:noFill/>
          <a:ln/>
        </p:spPr>
        <p:txBody>
          <a:bodyPr wrap="square" lIns="0" tIns="0" rIns="0" bIns="0" rtlCol="0" anchor="t"/>
          <a:lstStyle/>
          <a:p>
            <a:pPr indent="0" marL="0">
              <a:buNone/>
            </a:pPr>
            <a:r>
              <a:rPr lang="pt-BR" altLang="en-US" sz="1200" i="1" dirty="0">
                <a:solidFill>
                  <a:srgbClr val="5F6B76"/>
                </a:solidFill>
                <a:latin typeface="Calibri" pitchFamily="34" charset="0"/>
                <a:ea typeface="Calibri" pitchFamily="34" charset="-122"/>
                <a:cs typeface="Calibri" pitchFamily="34" charset="-120"/>
              </a:rPr>
              <a:t>Chain Explorer: o bloco #6 contém uma transação rejeitada.</a:t>
            </a:r>
            <a:endParaRPr lang="pt-BR" sz="1200" dirty="0"/>
          </a:p>
        </p:txBody>
      </p:sp>
      <p:sp>
        <p:nvSpPr>
          <p:cNvPr id="25" name="Shape 18"/>
          <p:cNvSpPr/>
          <p:nvPr/>
        </p:nvSpPr>
        <p:spPr>
          <a:xfrm>
            <a:off x="5550408" y="3670247"/>
            <a:ext cx="6120079" cy="1951914"/>
          </a:xfrm>
          <a:prstGeom prst="rect">
            <a:avLst/>
          </a:prstGeom>
          <a:solidFill>
            <a:srgbClr val="D5DBE1"/>
          </a:solidFill>
          <a:ln w="9525">
            <a:solidFill>
              <a:srgbClr val="D5DBE1"/>
            </a:solidFill>
            <a:prstDash val="solid"/>
          </a:ln>
        </p:spPr>
      </p:sp>
      <p:pic>
        <p:nvPicPr>
          <p:cNvPr id="26" name="Image 5" descr="preencoded.png">    </p:cNvPr>
          <p:cNvPicPr>
            <a:picLocks noChangeAspect="1"/>
          </p:cNvPicPr>
          <p:nvPr/>
        </p:nvPicPr>
        <p:blipFill>
          <a:blip r:embed="rId6"/>
          <a:stretch>
            <a:fillRect/>
          </a:stretch>
        </p:blipFill>
        <p:spPr>
          <a:xfrm>
            <a:off x="5577840" y="3697679"/>
            <a:ext cx="6065215" cy="1897050"/>
          </a:xfrm>
          <a:prstGeom prst="rect">
            <a:avLst/>
          </a:prstGeom>
        </p:spPr>
      </p:pic>
      <p:sp>
        <p:nvSpPr>
          <p:cNvPr id="27" name="Text 19"/>
          <p:cNvSpPr txBox="1"/>
          <p:nvPr/>
        </p:nvSpPr>
        <p:spPr>
          <a:xfrm>
            <a:off x="5577840" y="5686168"/>
            <a:ext cx="6065215" cy="274320"/>
          </a:xfrm>
          <a:prstGeom prst="rect">
            <a:avLst/>
          </a:prstGeom>
          <a:noFill/>
          <a:ln/>
        </p:spPr>
        <p:txBody>
          <a:bodyPr wrap="square" lIns="0" tIns="0" rIns="0" bIns="0" rtlCol="0" anchor="t"/>
          <a:lstStyle/>
          <a:p>
            <a:pPr indent="0" marL="0">
              <a:buNone/>
            </a:pPr>
            <a:r>
              <a:rPr lang="pt-BR" altLang="en-US" sz="1200" i="1" dirty="0">
                <a:solidFill>
                  <a:srgbClr val="5F6B76"/>
                </a:solidFill>
                <a:latin typeface="Calibri" pitchFamily="34" charset="0"/>
                <a:ea typeface="Calibri" pitchFamily="34" charset="-122"/>
                <a:cs typeface="Calibri" pitchFamily="34" charset="-120"/>
              </a:rPr>
              <a:t>Fleet: o documento do item #2 foi editado após o registro.</a:t>
            </a:r>
            <a:endParaRPr lang="pt-BR"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06 · COMPLEMENTOS</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Roteiro da demo</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21</a:t>
            </a:r>
            <a:endParaRPr lang="pt-BR" sz="1000" dirty="0"/>
          </a:p>
        </p:txBody>
      </p:sp>
      <p:sp>
        <p:nvSpPr>
          <p:cNvPr id="5" name="Shape 3"/>
          <p:cNvSpPr/>
          <p:nvPr/>
        </p:nvSpPr>
        <p:spPr>
          <a:xfrm>
            <a:off x="548640" y="1645920"/>
            <a:ext cx="502920" cy="502920"/>
          </a:xfrm>
          <a:prstGeom prst="ellipse">
            <a:avLst/>
          </a:prstGeom>
          <a:solidFill>
            <a:srgbClr val="007D9C"/>
          </a:solidFill>
          <a:ln w="9525">
            <a:solidFill>
              <a:srgbClr val="007D9C"/>
            </a:solidFill>
            <a:prstDash val="solid"/>
          </a:ln>
        </p:spPr>
      </p:sp>
      <p:sp>
        <p:nvSpPr>
          <p:cNvPr id="6" name="Text 4"/>
          <p:cNvSpPr txBox="1"/>
          <p:nvPr/>
        </p:nvSpPr>
        <p:spPr>
          <a:xfrm>
            <a:off x="548640" y="1645920"/>
            <a:ext cx="502920" cy="502920"/>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Arial" pitchFamily="34" charset="0"/>
                <a:ea typeface="Arial" pitchFamily="34" charset="-122"/>
                <a:cs typeface="Arial" pitchFamily="34" charset="-120"/>
              </a:rPr>
              <a:t>1</a:t>
            </a:r>
            <a:endParaRPr lang="pt-BR" sz="1500" dirty="0"/>
          </a:p>
        </p:txBody>
      </p:sp>
      <p:sp>
        <p:nvSpPr>
          <p:cNvPr id="7" name="Text 5"/>
          <p:cNvSpPr txBox="1"/>
          <p:nvPr/>
        </p:nvSpPr>
        <p:spPr>
          <a:xfrm>
            <a:off x="1280160" y="1618488"/>
            <a:ext cx="5029200" cy="310896"/>
          </a:xfrm>
          <a:prstGeom prst="rect">
            <a:avLst/>
          </a:prstGeom>
          <a:noFill/>
          <a:ln/>
        </p:spPr>
        <p:txBody>
          <a:bodyPr wrap="square" lIns="0" tIns="0" rIns="0" bIns="0" rtlCol="0" anchor="t"/>
          <a:lstStyle/>
          <a:p>
            <a:pPr indent="0" marL="0">
              <a:buNone/>
            </a:pPr>
            <a:r>
              <a:rPr lang="pt-BR" altLang="en-US" sz="1500" b="1" dirty="0">
                <a:solidFill>
                  <a:srgbClr val="1E2328"/>
                </a:solidFill>
                <a:latin typeface="Arial" pitchFamily="34" charset="0"/>
                <a:ea typeface="Arial" pitchFamily="34" charset="-122"/>
                <a:cs typeface="Arial" pitchFamily="34" charset="-120"/>
              </a:rPr>
              <a:t>Subir a cadeia</a:t>
            </a:r>
            <a:endParaRPr lang="pt-BR" sz="1500" dirty="0"/>
          </a:p>
        </p:txBody>
      </p:sp>
      <p:sp>
        <p:nvSpPr>
          <p:cNvPr id="8" name="Text 6"/>
          <p:cNvSpPr txBox="1"/>
          <p:nvPr/>
        </p:nvSpPr>
        <p:spPr>
          <a:xfrm>
            <a:off x="1280160" y="1938528"/>
            <a:ext cx="5029200" cy="54864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docker compose up --build: bloco gênese #0, e o seed gera os blocos 1 a 4.</a:t>
            </a:r>
            <a:endParaRPr lang="pt-BR" sz="1300" dirty="0"/>
          </a:p>
        </p:txBody>
      </p:sp>
      <p:sp>
        <p:nvSpPr>
          <p:cNvPr id="9" name="Shape 7"/>
          <p:cNvSpPr/>
          <p:nvPr/>
        </p:nvSpPr>
        <p:spPr>
          <a:xfrm>
            <a:off x="548640" y="2560320"/>
            <a:ext cx="502920" cy="502920"/>
          </a:xfrm>
          <a:prstGeom prst="ellipse">
            <a:avLst/>
          </a:prstGeom>
          <a:solidFill>
            <a:srgbClr val="007D9C"/>
          </a:solidFill>
          <a:ln w="9525">
            <a:solidFill>
              <a:srgbClr val="007D9C"/>
            </a:solidFill>
            <a:prstDash val="solid"/>
          </a:ln>
        </p:spPr>
      </p:sp>
      <p:sp>
        <p:nvSpPr>
          <p:cNvPr id="10" name="Text 8"/>
          <p:cNvSpPr txBox="1"/>
          <p:nvPr/>
        </p:nvSpPr>
        <p:spPr>
          <a:xfrm>
            <a:off x="548640" y="2560320"/>
            <a:ext cx="502920" cy="502920"/>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Arial" pitchFamily="34" charset="0"/>
                <a:ea typeface="Arial" pitchFamily="34" charset="-122"/>
                <a:cs typeface="Arial" pitchFamily="34" charset="-120"/>
              </a:rPr>
              <a:t>2</a:t>
            </a:r>
            <a:endParaRPr lang="pt-BR" sz="1500" dirty="0"/>
          </a:p>
        </p:txBody>
      </p:sp>
      <p:sp>
        <p:nvSpPr>
          <p:cNvPr id="11" name="Text 9"/>
          <p:cNvSpPr txBox="1"/>
          <p:nvPr/>
        </p:nvSpPr>
        <p:spPr>
          <a:xfrm>
            <a:off x="1280160" y="2532888"/>
            <a:ext cx="5029200" cy="310896"/>
          </a:xfrm>
          <a:prstGeom prst="rect">
            <a:avLst/>
          </a:prstGeom>
          <a:noFill/>
          <a:ln/>
        </p:spPr>
        <p:txBody>
          <a:bodyPr wrap="square" lIns="0" tIns="0" rIns="0" bIns="0" rtlCol="0" anchor="t"/>
          <a:lstStyle/>
          <a:p>
            <a:pPr indent="0" marL="0">
              <a:buNone/>
            </a:pPr>
            <a:r>
              <a:rPr lang="pt-BR" altLang="en-US" sz="1500" b="1" dirty="0">
                <a:solidFill>
                  <a:srgbClr val="1E2328"/>
                </a:solidFill>
                <a:latin typeface="Arial" pitchFamily="34" charset="0"/>
                <a:ea typeface="Arial" pitchFamily="34" charset="-122"/>
                <a:cs typeface="Arial" pitchFamily="34" charset="-120"/>
              </a:rPr>
              <a:t>Alugar como bob</a:t>
            </a:r>
            <a:endParaRPr lang="pt-BR" sz="1500" dirty="0"/>
          </a:p>
        </p:txBody>
      </p:sp>
      <p:sp>
        <p:nvSpPr>
          <p:cNvPr id="12" name="Text 10"/>
          <p:cNvSpPr txBox="1"/>
          <p:nvPr/>
        </p:nvSpPr>
        <p:spPr>
          <a:xfrm>
            <a:off x="1280160" y="2852928"/>
            <a:ext cx="5029200" cy="54864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Carro #1, 3 dias, 500 de depósito + relógio #2. O aviso mostra "Confirmed in block 5".</a:t>
            </a:r>
            <a:endParaRPr lang="pt-BR" sz="1300" dirty="0"/>
          </a:p>
        </p:txBody>
      </p:sp>
      <p:sp>
        <p:nvSpPr>
          <p:cNvPr id="13" name="Shape 11"/>
          <p:cNvSpPr/>
          <p:nvPr/>
        </p:nvSpPr>
        <p:spPr>
          <a:xfrm>
            <a:off x="548640" y="3474720"/>
            <a:ext cx="502920" cy="502920"/>
          </a:xfrm>
          <a:prstGeom prst="ellipse">
            <a:avLst/>
          </a:prstGeom>
          <a:solidFill>
            <a:srgbClr val="007D9C"/>
          </a:solidFill>
          <a:ln w="9525">
            <a:solidFill>
              <a:srgbClr val="007D9C"/>
            </a:solidFill>
            <a:prstDash val="solid"/>
          </a:ln>
        </p:spPr>
      </p:sp>
      <p:sp>
        <p:nvSpPr>
          <p:cNvPr id="14" name="Text 12"/>
          <p:cNvSpPr txBox="1"/>
          <p:nvPr/>
        </p:nvSpPr>
        <p:spPr>
          <a:xfrm>
            <a:off x="548640" y="3474720"/>
            <a:ext cx="502920" cy="502920"/>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Arial" pitchFamily="34" charset="0"/>
                <a:ea typeface="Arial" pitchFamily="34" charset="-122"/>
                <a:cs typeface="Arial" pitchFamily="34" charset="-120"/>
              </a:rPr>
              <a:t>3</a:t>
            </a:r>
            <a:endParaRPr lang="pt-BR" sz="1500" dirty="0"/>
          </a:p>
        </p:txBody>
      </p:sp>
      <p:sp>
        <p:nvSpPr>
          <p:cNvPr id="15" name="Text 13"/>
          <p:cNvSpPr txBox="1"/>
          <p:nvPr/>
        </p:nvSpPr>
        <p:spPr>
          <a:xfrm>
            <a:off x="1280160" y="3447288"/>
            <a:ext cx="5029200" cy="310896"/>
          </a:xfrm>
          <a:prstGeom prst="rect">
            <a:avLst/>
          </a:prstGeom>
          <a:noFill/>
          <a:ln/>
        </p:spPr>
        <p:txBody>
          <a:bodyPr wrap="square" lIns="0" tIns="0" rIns="0" bIns="0" rtlCol="0" anchor="t"/>
          <a:lstStyle/>
          <a:p>
            <a:pPr indent="0" marL="0">
              <a:buNone/>
            </a:pPr>
            <a:r>
              <a:rPr lang="pt-BR" altLang="en-US" sz="1500" b="1" dirty="0">
                <a:solidFill>
                  <a:srgbClr val="1E2328"/>
                </a:solidFill>
                <a:latin typeface="Arial" pitchFamily="34" charset="0"/>
                <a:ea typeface="Arial" pitchFamily="34" charset="-122"/>
                <a:cs typeface="Arial" pitchFamily="34" charset="-120"/>
              </a:rPr>
              <a:t>Mostrar a mudança de estado</a:t>
            </a:r>
            <a:endParaRPr lang="pt-BR" sz="1500" dirty="0"/>
          </a:p>
        </p:txBody>
      </p:sp>
      <p:sp>
        <p:nvSpPr>
          <p:cNvPr id="16" name="Text 14"/>
          <p:cNvSpPr txBox="1"/>
          <p:nvPr/>
        </p:nvSpPr>
        <p:spPr>
          <a:xfrm>
            <a:off x="1280160" y="3767328"/>
            <a:ext cx="5029200" cy="54864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Carro #1 com rented = true · bob 1000 → 500 · o escrow guarda 500.</a:t>
            </a:r>
            <a:endParaRPr lang="pt-BR" sz="1300" dirty="0"/>
          </a:p>
        </p:txBody>
      </p:sp>
      <p:sp>
        <p:nvSpPr>
          <p:cNvPr id="17" name="Shape 15"/>
          <p:cNvSpPr/>
          <p:nvPr/>
        </p:nvSpPr>
        <p:spPr>
          <a:xfrm>
            <a:off x="548640" y="4389120"/>
            <a:ext cx="502920" cy="502920"/>
          </a:xfrm>
          <a:prstGeom prst="ellipse">
            <a:avLst/>
          </a:prstGeom>
          <a:solidFill>
            <a:srgbClr val="007D9C"/>
          </a:solidFill>
          <a:ln w="9525">
            <a:solidFill>
              <a:srgbClr val="007D9C"/>
            </a:solidFill>
            <a:prstDash val="solid"/>
          </a:ln>
        </p:spPr>
      </p:sp>
      <p:sp>
        <p:nvSpPr>
          <p:cNvPr id="18" name="Text 16"/>
          <p:cNvSpPr txBox="1"/>
          <p:nvPr/>
        </p:nvSpPr>
        <p:spPr>
          <a:xfrm>
            <a:off x="548640" y="4389120"/>
            <a:ext cx="502920" cy="502920"/>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Arial" pitchFamily="34" charset="0"/>
                <a:ea typeface="Arial" pitchFamily="34" charset="-122"/>
                <a:cs typeface="Arial" pitchFamily="34" charset="-120"/>
              </a:rPr>
              <a:t>4</a:t>
            </a:r>
            <a:endParaRPr lang="pt-BR" sz="1500" dirty="0"/>
          </a:p>
        </p:txBody>
      </p:sp>
      <p:sp>
        <p:nvSpPr>
          <p:cNvPr id="19" name="Text 17"/>
          <p:cNvSpPr txBox="1"/>
          <p:nvPr/>
        </p:nvSpPr>
        <p:spPr>
          <a:xfrm>
            <a:off x="1280160" y="4361688"/>
            <a:ext cx="5029200" cy="310896"/>
          </a:xfrm>
          <a:prstGeom prst="rect">
            <a:avLst/>
          </a:prstGeom>
          <a:noFill/>
          <a:ln/>
        </p:spPr>
        <p:txBody>
          <a:bodyPr wrap="square" lIns="0" tIns="0" rIns="0" bIns="0" rtlCol="0" anchor="t"/>
          <a:lstStyle/>
          <a:p>
            <a:pPr indent="0" marL="0">
              <a:buNone/>
            </a:pPr>
            <a:r>
              <a:rPr lang="pt-BR" altLang="en-US" sz="1500" b="1" dirty="0">
                <a:solidFill>
                  <a:srgbClr val="1E2328"/>
                </a:solidFill>
                <a:latin typeface="Arial" pitchFamily="34" charset="0"/>
                <a:ea typeface="Arial" pitchFamily="34" charset="-122"/>
                <a:cs typeface="Arial" pitchFamily="34" charset="-120"/>
              </a:rPr>
              <a:t>Operação inválida</a:t>
            </a:r>
            <a:endParaRPr lang="pt-BR" sz="1500" dirty="0"/>
          </a:p>
        </p:txBody>
      </p:sp>
      <p:sp>
        <p:nvSpPr>
          <p:cNvPr id="20" name="Text 18"/>
          <p:cNvSpPr txBox="1"/>
          <p:nvPr/>
        </p:nvSpPr>
        <p:spPr>
          <a:xfrm>
            <a:off x="1280160" y="4681728"/>
            <a:ext cx="5029200" cy="54864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Realugar o carro #1, ou o carro #3 com 50 tokens: entra no bloco com erro, estado inalterado.</a:t>
            </a:r>
            <a:endParaRPr lang="pt-BR" sz="1300" dirty="0"/>
          </a:p>
        </p:txBody>
      </p:sp>
      <p:sp>
        <p:nvSpPr>
          <p:cNvPr id="21" name="Shape 19"/>
          <p:cNvSpPr/>
          <p:nvPr/>
        </p:nvSpPr>
        <p:spPr>
          <a:xfrm>
            <a:off x="548640" y="5303520"/>
            <a:ext cx="502920" cy="502920"/>
          </a:xfrm>
          <a:prstGeom prst="ellipse">
            <a:avLst/>
          </a:prstGeom>
          <a:solidFill>
            <a:srgbClr val="007D9C"/>
          </a:solidFill>
          <a:ln w="9525">
            <a:solidFill>
              <a:srgbClr val="007D9C"/>
            </a:solidFill>
            <a:prstDash val="solid"/>
          </a:ln>
        </p:spPr>
      </p:sp>
      <p:sp>
        <p:nvSpPr>
          <p:cNvPr id="22" name="Text 20"/>
          <p:cNvSpPr txBox="1"/>
          <p:nvPr/>
        </p:nvSpPr>
        <p:spPr>
          <a:xfrm>
            <a:off x="548640" y="5303520"/>
            <a:ext cx="502920" cy="502920"/>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Arial" pitchFamily="34" charset="0"/>
                <a:ea typeface="Arial" pitchFamily="34" charset="-122"/>
                <a:cs typeface="Arial" pitchFamily="34" charset="-120"/>
              </a:rPr>
              <a:t>5</a:t>
            </a:r>
            <a:endParaRPr lang="pt-BR" sz="1500" dirty="0"/>
          </a:p>
        </p:txBody>
      </p:sp>
      <p:sp>
        <p:nvSpPr>
          <p:cNvPr id="23" name="Text 21"/>
          <p:cNvSpPr txBox="1"/>
          <p:nvPr/>
        </p:nvSpPr>
        <p:spPr>
          <a:xfrm>
            <a:off x="1280160" y="5276088"/>
            <a:ext cx="5029200" cy="310896"/>
          </a:xfrm>
          <a:prstGeom prst="rect">
            <a:avLst/>
          </a:prstGeom>
          <a:noFill/>
          <a:ln/>
        </p:spPr>
        <p:txBody>
          <a:bodyPr wrap="square" lIns="0" tIns="0" rIns="0" bIns="0" rtlCol="0" anchor="t"/>
          <a:lstStyle/>
          <a:p>
            <a:pPr indent="0" marL="0">
              <a:buNone/>
            </a:pPr>
            <a:r>
              <a:rPr lang="pt-BR" altLang="en-US" sz="1500" b="1" dirty="0">
                <a:solidFill>
                  <a:srgbClr val="1E2328"/>
                </a:solidFill>
                <a:latin typeface="Arial" pitchFamily="34" charset="0"/>
                <a:ea typeface="Arial" pitchFamily="34" charset="-122"/>
                <a:cs typeface="Arial" pitchFamily="34" charset="-120"/>
              </a:rPr>
              <a:t>Operação sem permissão</a:t>
            </a:r>
            <a:endParaRPr lang="pt-BR" sz="1500" dirty="0"/>
          </a:p>
        </p:txBody>
      </p:sp>
      <p:sp>
        <p:nvSpPr>
          <p:cNvPr id="24" name="Text 22"/>
          <p:cNvSpPr txBox="1"/>
          <p:nvPr/>
        </p:nvSpPr>
        <p:spPr>
          <a:xfrm>
            <a:off x="1280160" y="5596128"/>
            <a:ext cx="5029200" cy="548640"/>
          </a:xfrm>
          <a:prstGeom prst="rect">
            <a:avLst/>
          </a:prstGeom>
          <a:noFill/>
          <a:ln/>
        </p:spPr>
        <p:txBody>
          <a:bodyPr wrap="square" lIns="0" tIns="0" rIns="0" bIns="0" rtlCol="0" anchor="t"/>
          <a:lstStyle/>
          <a:p>
            <a:pPr indent="0" marL="0">
              <a:buNone/>
            </a:pPr>
            <a:r>
              <a:rPr lang="pt-BR" altLang="en-US" sz="1300" dirty="0">
                <a:solidFill>
                  <a:srgbClr val="5F6B76"/>
                </a:solidFill>
                <a:latin typeface="Calibri" pitchFamily="34" charset="0"/>
                <a:ea typeface="Calibri" pitchFamily="34" charset="-122"/>
                <a:cs typeface="Calibri" pitchFamily="34" charset="-120"/>
              </a:rPr>
              <a:t>Assinatura inválida → HTTP 400, nunca entra. RegisterCar do bob → entra, com "missing role".</a:t>
            </a:r>
            <a:endParaRPr lang="pt-BR" sz="1300" dirty="0"/>
          </a:p>
        </p:txBody>
      </p:sp>
      <p:sp>
        <p:nvSpPr>
          <p:cNvPr id="25" name="Shape 23"/>
          <p:cNvSpPr/>
          <p:nvPr/>
        </p:nvSpPr>
        <p:spPr>
          <a:xfrm>
            <a:off x="6556248" y="1618488"/>
            <a:ext cx="5114239" cy="4226349"/>
          </a:xfrm>
          <a:prstGeom prst="rect">
            <a:avLst/>
          </a:prstGeom>
          <a:solidFill>
            <a:srgbClr val="D5DBE1"/>
          </a:solidFill>
          <a:ln w="9525">
            <a:solidFill>
              <a:srgbClr val="D5DBE1"/>
            </a:solidFill>
            <a:prstDash val="solid"/>
          </a:ln>
        </p:spPr>
      </p:sp>
      <p:pic>
        <p:nvPicPr>
          <p:cNvPr id="26" name="Image 0" descr="preencoded.png">    </p:cNvPr>
          <p:cNvPicPr>
            <a:picLocks noChangeAspect="1"/>
          </p:cNvPicPr>
          <p:nvPr/>
        </p:nvPicPr>
        <p:blipFill>
          <a:blip r:embed="rId1"/>
          <a:stretch>
            <a:fillRect/>
          </a:stretch>
        </p:blipFill>
        <p:spPr>
          <a:xfrm>
            <a:off x="6583680" y="1645920"/>
            <a:ext cx="5059375" cy="4171485"/>
          </a:xfrm>
          <a:prstGeom prst="rect">
            <a:avLst/>
          </a:prstGeom>
        </p:spPr>
      </p:pic>
      <p:sp>
        <p:nvSpPr>
          <p:cNvPr id="27" name="Text 24"/>
          <p:cNvSpPr txBox="1"/>
          <p:nvPr/>
        </p:nvSpPr>
        <p:spPr>
          <a:xfrm>
            <a:off x="6583680" y="5908845"/>
            <a:ext cx="5059375" cy="320040"/>
          </a:xfrm>
          <a:prstGeom prst="rect">
            <a:avLst/>
          </a:prstGeom>
          <a:noFill/>
          <a:ln/>
        </p:spPr>
        <p:txBody>
          <a:bodyPr wrap="square" lIns="0" tIns="0" rIns="0" bIns="0" rtlCol="0" anchor="t"/>
          <a:lstStyle/>
          <a:p>
            <a:pPr indent="0" marL="0">
              <a:buNone/>
            </a:pPr>
            <a:r>
              <a:rPr lang="pt-BR" altLang="en-US" sz="1200" i="1" dirty="0">
                <a:solidFill>
                  <a:srgbClr val="5F6B76"/>
                </a:solidFill>
                <a:latin typeface="Calibri" pitchFamily="34" charset="0"/>
                <a:ea typeface="Calibri" pitchFamily="34" charset="-122"/>
                <a:cs typeface="Calibri" pitchFamily="34" charset="-120"/>
              </a:rPr>
              <a:t>Aba Rent como bob: carro #1 bloqueado e aviso antes de assinar.</a:t>
            </a:r>
            <a:endParaRPr lang="pt-BR"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06 · COMPLEMENTOS</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Como sabemos que funciona</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22</a:t>
            </a:r>
            <a:endParaRPr lang="pt-BR" sz="1000" dirty="0"/>
          </a:p>
        </p:txBody>
      </p:sp>
      <p:sp>
        <p:nvSpPr>
          <p:cNvPr id="5" name="Shape 3"/>
          <p:cNvSpPr/>
          <p:nvPr/>
        </p:nvSpPr>
        <p:spPr>
          <a:xfrm>
            <a:off x="548640" y="1645920"/>
            <a:ext cx="3484778" cy="1325880"/>
          </a:xfrm>
          <a:prstGeom prst="roundRect">
            <a:avLst>
              <a:gd name="adj" fmla="val 5517"/>
            </a:avLst>
          </a:prstGeom>
          <a:solidFill>
            <a:srgbClr val="1E2328"/>
          </a:solidFill>
          <a:ln w="9525">
            <a:solidFill>
              <a:srgbClr val="1E2328"/>
            </a:solidFill>
            <a:prstDash val="solid"/>
          </a:ln>
        </p:spPr>
      </p:sp>
      <p:sp>
        <p:nvSpPr>
          <p:cNvPr id="6" name="Text 4"/>
          <p:cNvSpPr txBox="1"/>
          <p:nvPr/>
        </p:nvSpPr>
        <p:spPr>
          <a:xfrm>
            <a:off x="822960" y="1737360"/>
            <a:ext cx="1234440" cy="1143000"/>
          </a:xfrm>
          <a:prstGeom prst="rect">
            <a:avLst/>
          </a:prstGeom>
          <a:noFill/>
          <a:ln/>
        </p:spPr>
        <p:txBody>
          <a:bodyPr wrap="square" lIns="0" tIns="0" rIns="0" bIns="0" rtlCol="0" anchor="ctr"/>
          <a:lstStyle/>
          <a:p>
            <a:pPr indent="0" marL="0">
              <a:buNone/>
            </a:pPr>
            <a:r>
              <a:rPr lang="pt-BR" altLang="en-US" sz="4400" b="1" dirty="0">
                <a:solidFill>
                  <a:srgbClr val="00ADD8"/>
                </a:solidFill>
                <a:latin typeface="Arial" pitchFamily="34" charset="0"/>
                <a:ea typeface="Arial" pitchFamily="34" charset="-122"/>
                <a:cs typeface="Arial" pitchFamily="34" charset="-120"/>
              </a:rPr>
              <a:t>42</a:t>
            </a:r>
            <a:endParaRPr lang="pt-BR" sz="4400" dirty="0"/>
          </a:p>
        </p:txBody>
      </p:sp>
      <p:sp>
        <p:nvSpPr>
          <p:cNvPr id="7" name="Text 5"/>
          <p:cNvSpPr txBox="1"/>
          <p:nvPr/>
        </p:nvSpPr>
        <p:spPr>
          <a:xfrm>
            <a:off x="2011680" y="1737360"/>
            <a:ext cx="1793138" cy="1143000"/>
          </a:xfrm>
          <a:prstGeom prst="rect">
            <a:avLst/>
          </a:prstGeom>
          <a:noFill/>
          <a:ln/>
        </p:spPr>
        <p:txBody>
          <a:bodyPr wrap="square" lIns="0" tIns="0" rIns="0" bIns="0" rtlCol="0" anchor="ctr"/>
          <a:lstStyle/>
          <a:p>
            <a:pPr indent="0" marL="0">
              <a:buNone/>
            </a:pPr>
            <a:r>
              <a:rPr lang="pt-BR" altLang="en-US" sz="1400" dirty="0">
                <a:solidFill>
                  <a:srgbClr val="FFFFFF"/>
                </a:solidFill>
                <a:latin typeface="Calibri" pitchFamily="34" charset="0"/>
                <a:ea typeface="Calibri" pitchFamily="34" charset="-122"/>
                <a:cs typeface="Calibri" pitchFamily="34" charset="-120"/>
              </a:rPr>
              <a:t>casos de teste passam, inclusive com o detector de corridas</a:t>
            </a:r>
            <a:endParaRPr lang="pt-BR" sz="1400" dirty="0"/>
          </a:p>
        </p:txBody>
      </p:sp>
      <p:sp>
        <p:nvSpPr>
          <p:cNvPr id="8" name="Shape 6"/>
          <p:cNvSpPr/>
          <p:nvPr/>
        </p:nvSpPr>
        <p:spPr>
          <a:xfrm>
            <a:off x="4353458" y="1645920"/>
            <a:ext cx="3484778" cy="1325880"/>
          </a:xfrm>
          <a:prstGeom prst="roundRect">
            <a:avLst>
              <a:gd name="adj" fmla="val 5517"/>
            </a:avLst>
          </a:prstGeom>
          <a:solidFill>
            <a:srgbClr val="1E2328"/>
          </a:solidFill>
          <a:ln w="9525">
            <a:solidFill>
              <a:srgbClr val="1E2328"/>
            </a:solidFill>
            <a:prstDash val="solid"/>
          </a:ln>
        </p:spPr>
      </p:sp>
      <p:sp>
        <p:nvSpPr>
          <p:cNvPr id="9" name="Text 7"/>
          <p:cNvSpPr txBox="1"/>
          <p:nvPr/>
        </p:nvSpPr>
        <p:spPr>
          <a:xfrm>
            <a:off x="4627778" y="1737360"/>
            <a:ext cx="1234440" cy="1143000"/>
          </a:xfrm>
          <a:prstGeom prst="rect">
            <a:avLst/>
          </a:prstGeom>
          <a:noFill/>
          <a:ln/>
        </p:spPr>
        <p:txBody>
          <a:bodyPr wrap="square" lIns="0" tIns="0" rIns="0" bIns="0" rtlCol="0" anchor="ctr"/>
          <a:lstStyle/>
          <a:p>
            <a:pPr indent="0" marL="0">
              <a:buNone/>
            </a:pPr>
            <a:r>
              <a:rPr lang="pt-BR" altLang="en-US" sz="4400" b="1" dirty="0">
                <a:solidFill>
                  <a:srgbClr val="00ADD8"/>
                </a:solidFill>
                <a:latin typeface="Arial" pitchFamily="34" charset="0"/>
                <a:ea typeface="Arial" pitchFamily="34" charset="-122"/>
                <a:cs typeface="Arial" pitchFamily="34" charset="-120"/>
              </a:rPr>
              <a:t>18</a:t>
            </a:r>
            <a:endParaRPr lang="pt-BR" sz="4400" dirty="0"/>
          </a:p>
        </p:txBody>
      </p:sp>
      <p:sp>
        <p:nvSpPr>
          <p:cNvPr id="10" name="Text 8"/>
          <p:cNvSpPr txBox="1"/>
          <p:nvPr/>
        </p:nvSpPr>
        <p:spPr>
          <a:xfrm>
            <a:off x="5816498" y="1737360"/>
            <a:ext cx="1793138" cy="1143000"/>
          </a:xfrm>
          <a:prstGeom prst="rect">
            <a:avLst/>
          </a:prstGeom>
          <a:noFill/>
          <a:ln/>
        </p:spPr>
        <p:txBody>
          <a:bodyPr wrap="square" lIns="0" tIns="0" rIns="0" bIns="0" rtlCol="0" anchor="ctr"/>
          <a:lstStyle/>
          <a:p>
            <a:pPr indent="0" marL="0">
              <a:buNone/>
            </a:pPr>
            <a:r>
              <a:rPr lang="pt-BR" altLang="en-US" sz="1400" dirty="0">
                <a:solidFill>
                  <a:srgbClr val="FFFFFF"/>
                </a:solidFill>
                <a:latin typeface="Calibri" pitchFamily="34" charset="0"/>
                <a:ea typeface="Calibri" pitchFamily="34" charset="-122"/>
                <a:cs typeface="Calibri" pitchFamily="34" charset="-120"/>
              </a:rPr>
              <a:t>caminhos de rejeição, todos sem alterar o hash do estado</a:t>
            </a:r>
            <a:endParaRPr lang="pt-BR" sz="1400" dirty="0"/>
          </a:p>
        </p:txBody>
      </p:sp>
      <p:sp>
        <p:nvSpPr>
          <p:cNvPr id="11" name="Shape 9"/>
          <p:cNvSpPr/>
          <p:nvPr/>
        </p:nvSpPr>
        <p:spPr>
          <a:xfrm>
            <a:off x="8158277" y="1645920"/>
            <a:ext cx="3484778" cy="1325880"/>
          </a:xfrm>
          <a:prstGeom prst="roundRect">
            <a:avLst>
              <a:gd name="adj" fmla="val 5517"/>
            </a:avLst>
          </a:prstGeom>
          <a:solidFill>
            <a:srgbClr val="1E2328"/>
          </a:solidFill>
          <a:ln w="9525">
            <a:solidFill>
              <a:srgbClr val="1E2328"/>
            </a:solidFill>
            <a:prstDash val="solid"/>
          </a:ln>
        </p:spPr>
      </p:sp>
      <p:sp>
        <p:nvSpPr>
          <p:cNvPr id="12" name="Text 10"/>
          <p:cNvSpPr txBox="1"/>
          <p:nvPr/>
        </p:nvSpPr>
        <p:spPr>
          <a:xfrm>
            <a:off x="8432597" y="1737360"/>
            <a:ext cx="1234440" cy="1143000"/>
          </a:xfrm>
          <a:prstGeom prst="rect">
            <a:avLst/>
          </a:prstGeom>
          <a:noFill/>
          <a:ln/>
        </p:spPr>
        <p:txBody>
          <a:bodyPr wrap="square" lIns="0" tIns="0" rIns="0" bIns="0" rtlCol="0" anchor="ctr"/>
          <a:lstStyle/>
          <a:p>
            <a:pPr indent="0" marL="0">
              <a:buNone/>
            </a:pPr>
            <a:r>
              <a:rPr lang="pt-BR" altLang="en-US" sz="4400" b="1" dirty="0">
                <a:solidFill>
                  <a:srgbClr val="00ADD8"/>
                </a:solidFill>
                <a:latin typeface="Arial" pitchFamily="34" charset="0"/>
                <a:ea typeface="Arial" pitchFamily="34" charset="-122"/>
                <a:cs typeface="Arial" pitchFamily="34" charset="-120"/>
              </a:rPr>
              <a:t>3</a:t>
            </a:r>
            <a:endParaRPr lang="pt-BR" sz="4400" dirty="0"/>
          </a:p>
        </p:txBody>
      </p:sp>
      <p:sp>
        <p:nvSpPr>
          <p:cNvPr id="13" name="Text 11"/>
          <p:cNvSpPr txBox="1"/>
          <p:nvPr/>
        </p:nvSpPr>
        <p:spPr>
          <a:xfrm>
            <a:off x="9621317" y="1737360"/>
            <a:ext cx="1793138" cy="1143000"/>
          </a:xfrm>
          <a:prstGeom prst="rect">
            <a:avLst/>
          </a:prstGeom>
          <a:noFill/>
          <a:ln/>
        </p:spPr>
        <p:txBody>
          <a:bodyPr wrap="square" lIns="0" tIns="0" rIns="0" bIns="0" rtlCol="0" anchor="ctr"/>
          <a:lstStyle/>
          <a:p>
            <a:pPr indent="0" marL="0">
              <a:buNone/>
            </a:pPr>
            <a:r>
              <a:rPr lang="pt-BR" altLang="en-US" sz="1400" dirty="0">
                <a:solidFill>
                  <a:srgbClr val="FFFFFF"/>
                </a:solidFill>
                <a:latin typeface="Calibri" pitchFamily="34" charset="0"/>
                <a:ea typeface="Calibri" pitchFamily="34" charset="-122"/>
                <a:cs typeface="Calibri" pitchFamily="34" charset="-120"/>
              </a:rPr>
              <a:t>logs de blocos adulterados recusados ao reiniciar</a:t>
            </a:r>
            <a:endParaRPr lang="pt-BR" sz="1400" dirty="0"/>
          </a:p>
        </p:txBody>
      </p:sp>
      <p:sp>
        <p:nvSpPr>
          <p:cNvPr id="14" name="Shape 12"/>
          <p:cNvSpPr/>
          <p:nvPr/>
        </p:nvSpPr>
        <p:spPr>
          <a:xfrm>
            <a:off x="548640" y="3246120"/>
            <a:ext cx="2567864" cy="2880360"/>
          </a:xfrm>
          <a:prstGeom prst="roundRect">
            <a:avLst>
              <a:gd name="adj" fmla="val 2849"/>
            </a:avLst>
          </a:prstGeom>
          <a:solidFill>
            <a:srgbClr val="F2F5F7"/>
          </a:solidFill>
          <a:ln w="9525">
            <a:solidFill>
              <a:srgbClr val="F2F5F7"/>
            </a:solidFill>
            <a:prstDash val="solid"/>
          </a:ln>
        </p:spPr>
      </p:sp>
      <p:sp>
        <p:nvSpPr>
          <p:cNvPr id="15" name="Shape 13"/>
          <p:cNvSpPr/>
          <p:nvPr/>
        </p:nvSpPr>
        <p:spPr>
          <a:xfrm>
            <a:off x="777240" y="3456432"/>
            <a:ext cx="411480" cy="411480"/>
          </a:xfrm>
          <a:prstGeom prst="ellipse">
            <a:avLst/>
          </a:prstGeom>
          <a:solidFill>
            <a:srgbClr val="2E8B57"/>
          </a:solidFill>
          <a:ln w="9525">
            <a:solidFill>
              <a:srgbClr val="2E8B57"/>
            </a:solidFill>
            <a:prstDash val="solid"/>
          </a:ln>
        </p:spPr>
      </p:sp>
      <p:pic>
        <p:nvPicPr>
          <p:cNvPr id="16" name="Image 0" descr="preencoded.png">    </p:cNvPr>
          <p:cNvPicPr>
            <a:picLocks noChangeAspect="1"/>
          </p:cNvPicPr>
          <p:nvPr/>
        </p:nvPicPr>
        <p:blipFill>
          <a:blip r:embed="rId1"/>
          <a:stretch>
            <a:fillRect/>
          </a:stretch>
        </p:blipFill>
        <p:spPr>
          <a:xfrm>
            <a:off x="880110" y="3559302"/>
            <a:ext cx="205740" cy="205740"/>
          </a:xfrm>
          <a:prstGeom prst="rect">
            <a:avLst/>
          </a:prstGeom>
        </p:spPr>
      </p:pic>
      <p:sp>
        <p:nvSpPr>
          <p:cNvPr id="17" name="Text 14"/>
          <p:cNvSpPr txBox="1"/>
          <p:nvPr/>
        </p:nvSpPr>
        <p:spPr>
          <a:xfrm>
            <a:off x="1325880" y="3456432"/>
            <a:ext cx="1653464" cy="411480"/>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Contrato</a:t>
            </a:r>
            <a:endParaRPr lang="pt-BR" sz="1600" dirty="0"/>
          </a:p>
        </p:txBody>
      </p:sp>
      <p:sp>
        <p:nvSpPr>
          <p:cNvPr id="18" name="Text 15"/>
          <p:cNvSpPr txBox="1"/>
          <p:nvPr/>
        </p:nvSpPr>
        <p:spPr>
          <a:xfrm>
            <a:off x="777240" y="4069080"/>
            <a:ext cx="2156384" cy="1965960"/>
          </a:xfrm>
          <a:prstGeom prst="rect">
            <a:avLst/>
          </a:prstGeom>
          <a:noFill/>
          <a:ln/>
        </p:spPr>
        <p:txBody>
          <a:bodyPr wrap="square" lIns="0" tIns="0" rIns="0" bIns="0" rtlCol="0" anchor="t"/>
          <a:lstStyle/>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Tabela do exemplo e devoluções atrasadas</a:t>
            </a:r>
            <a:endParaRPr lang="pt-BR" sz="1300" dirty="0"/>
          </a:p>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Penhor duplo, overflow, saldo insuficiente</a:t>
            </a:r>
            <a:endParaRPr lang="pt-BR" sz="1300" dirty="0"/>
          </a:p>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Estado inalterado após cada rejeição</a:t>
            </a:r>
            <a:endParaRPr lang="pt-BR" sz="1300" dirty="0"/>
          </a:p>
        </p:txBody>
      </p:sp>
      <p:sp>
        <p:nvSpPr>
          <p:cNvPr id="19" name="Shape 16"/>
          <p:cNvSpPr/>
          <p:nvPr/>
        </p:nvSpPr>
        <p:spPr>
          <a:xfrm>
            <a:off x="3390824" y="3246120"/>
            <a:ext cx="2567864" cy="2880360"/>
          </a:xfrm>
          <a:prstGeom prst="roundRect">
            <a:avLst>
              <a:gd name="adj" fmla="val 2849"/>
            </a:avLst>
          </a:prstGeom>
          <a:solidFill>
            <a:srgbClr val="F2F5F7"/>
          </a:solidFill>
          <a:ln w="9525">
            <a:solidFill>
              <a:srgbClr val="F2F5F7"/>
            </a:solidFill>
            <a:prstDash val="solid"/>
          </a:ln>
        </p:spPr>
      </p:sp>
      <p:sp>
        <p:nvSpPr>
          <p:cNvPr id="20" name="Shape 17"/>
          <p:cNvSpPr/>
          <p:nvPr/>
        </p:nvSpPr>
        <p:spPr>
          <a:xfrm>
            <a:off x="3619424" y="3456432"/>
            <a:ext cx="411480" cy="411480"/>
          </a:xfrm>
          <a:prstGeom prst="ellipse">
            <a:avLst/>
          </a:prstGeom>
          <a:solidFill>
            <a:srgbClr val="2E8B57"/>
          </a:solidFill>
          <a:ln w="9525">
            <a:solidFill>
              <a:srgbClr val="2E8B57"/>
            </a:solidFill>
            <a:prstDash val="solid"/>
          </a:ln>
        </p:spPr>
      </p:sp>
      <p:pic>
        <p:nvPicPr>
          <p:cNvPr id="21" name="Image 1" descr="preencoded.png">    </p:cNvPr>
          <p:cNvPicPr>
            <a:picLocks noChangeAspect="1"/>
          </p:cNvPicPr>
          <p:nvPr/>
        </p:nvPicPr>
        <p:blipFill>
          <a:blip r:embed="rId2"/>
          <a:stretch>
            <a:fillRect/>
          </a:stretch>
        </p:blipFill>
        <p:spPr>
          <a:xfrm>
            <a:off x="3722294" y="3559302"/>
            <a:ext cx="205740" cy="205740"/>
          </a:xfrm>
          <a:prstGeom prst="rect">
            <a:avLst/>
          </a:prstGeom>
        </p:spPr>
      </p:pic>
      <p:sp>
        <p:nvSpPr>
          <p:cNvPr id="22" name="Text 18"/>
          <p:cNvSpPr txBox="1"/>
          <p:nvPr/>
        </p:nvSpPr>
        <p:spPr>
          <a:xfrm>
            <a:off x="4168064" y="3456432"/>
            <a:ext cx="1653464" cy="411480"/>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Cadeia</a:t>
            </a:r>
            <a:endParaRPr lang="pt-BR" sz="1600" dirty="0"/>
          </a:p>
        </p:txBody>
      </p:sp>
      <p:sp>
        <p:nvSpPr>
          <p:cNvPr id="23" name="Text 19"/>
          <p:cNvSpPr txBox="1"/>
          <p:nvPr/>
        </p:nvSpPr>
        <p:spPr>
          <a:xfrm>
            <a:off x="3619424" y="4069080"/>
            <a:ext cx="2156384" cy="1965960"/>
          </a:xfrm>
          <a:prstGeom prst="rect">
            <a:avLst/>
          </a:prstGeom>
          <a:noFill/>
          <a:ln/>
        </p:spPr>
        <p:txBody>
          <a:bodyPr wrap="square" lIns="0" tIns="0" rIns="0" bIns="0" rtlCol="0" anchor="t"/>
          <a:lstStyle/>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Blocos encadeados e assinados pelo validador</a:t>
            </a:r>
            <a:endParaRPr lang="pt-BR" sz="1300" dirty="0"/>
          </a:p>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Assinaturas inválidas e repetições recusadas</a:t>
            </a:r>
            <a:endParaRPr lang="pt-BR" sz="1300" dirty="0"/>
          </a:p>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O reinício reproduz o hash de cada bloco</a:t>
            </a:r>
            <a:endParaRPr lang="pt-BR" sz="1300" dirty="0"/>
          </a:p>
        </p:txBody>
      </p:sp>
      <p:sp>
        <p:nvSpPr>
          <p:cNvPr id="24" name="Shape 20"/>
          <p:cNvSpPr/>
          <p:nvPr/>
        </p:nvSpPr>
        <p:spPr>
          <a:xfrm>
            <a:off x="6233008" y="3246120"/>
            <a:ext cx="2567864" cy="2880360"/>
          </a:xfrm>
          <a:prstGeom prst="roundRect">
            <a:avLst>
              <a:gd name="adj" fmla="val 2849"/>
            </a:avLst>
          </a:prstGeom>
          <a:solidFill>
            <a:srgbClr val="F2F5F7"/>
          </a:solidFill>
          <a:ln w="9525">
            <a:solidFill>
              <a:srgbClr val="F2F5F7"/>
            </a:solidFill>
            <a:prstDash val="solid"/>
          </a:ln>
        </p:spPr>
      </p:sp>
      <p:sp>
        <p:nvSpPr>
          <p:cNvPr id="25" name="Shape 21"/>
          <p:cNvSpPr/>
          <p:nvPr/>
        </p:nvSpPr>
        <p:spPr>
          <a:xfrm>
            <a:off x="6461608" y="3456432"/>
            <a:ext cx="411480" cy="411480"/>
          </a:xfrm>
          <a:prstGeom prst="ellipse">
            <a:avLst/>
          </a:prstGeom>
          <a:solidFill>
            <a:srgbClr val="2E8B57"/>
          </a:solidFill>
          <a:ln w="9525">
            <a:solidFill>
              <a:srgbClr val="2E8B57"/>
            </a:solidFill>
            <a:prstDash val="solid"/>
          </a:ln>
        </p:spPr>
      </p:sp>
      <p:pic>
        <p:nvPicPr>
          <p:cNvPr id="26" name="Image 2" descr="preencoded.png">    </p:cNvPr>
          <p:cNvPicPr>
            <a:picLocks noChangeAspect="1"/>
          </p:cNvPicPr>
          <p:nvPr/>
        </p:nvPicPr>
        <p:blipFill>
          <a:blip r:embed="rId3"/>
          <a:stretch>
            <a:fillRect/>
          </a:stretch>
        </p:blipFill>
        <p:spPr>
          <a:xfrm>
            <a:off x="6564478" y="3559302"/>
            <a:ext cx="205740" cy="205740"/>
          </a:xfrm>
          <a:prstGeom prst="rect">
            <a:avLst/>
          </a:prstGeom>
        </p:spPr>
      </p:pic>
      <p:sp>
        <p:nvSpPr>
          <p:cNvPr id="27" name="Text 22"/>
          <p:cNvSpPr txBox="1"/>
          <p:nvPr/>
        </p:nvSpPr>
        <p:spPr>
          <a:xfrm>
            <a:off x="7010248" y="3456432"/>
            <a:ext cx="1653464" cy="411480"/>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API</a:t>
            </a:r>
            <a:endParaRPr lang="pt-BR" sz="1600" dirty="0"/>
          </a:p>
        </p:txBody>
      </p:sp>
      <p:sp>
        <p:nvSpPr>
          <p:cNvPr id="28" name="Text 23"/>
          <p:cNvSpPr txBox="1"/>
          <p:nvPr/>
        </p:nvSpPr>
        <p:spPr>
          <a:xfrm>
            <a:off x="6461608" y="4069080"/>
            <a:ext cx="2156384" cy="1965960"/>
          </a:xfrm>
          <a:prstGeom prst="rect">
            <a:avLst/>
          </a:prstGeom>
          <a:noFill/>
          <a:ln/>
        </p:spPr>
        <p:txBody>
          <a:bodyPr wrap="square" lIns="0" tIns="0" rIns="0" bIns="0" rtlCol="0" anchor="t"/>
          <a:lstStyle/>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O roteiro da seção 9 via HTTP</a:t>
            </a:r>
            <a:endParaRPr lang="pt-BR" sz="1300" dirty="0"/>
          </a:p>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Assinaturas no estilo JSON.stringify</a:t>
            </a:r>
            <a:endParaRPr lang="pt-BR" sz="1300" dirty="0"/>
          </a:p>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CORS, não encontrado e papéis</a:t>
            </a:r>
            <a:endParaRPr lang="pt-BR" sz="1300" dirty="0"/>
          </a:p>
        </p:txBody>
      </p:sp>
      <p:sp>
        <p:nvSpPr>
          <p:cNvPr id="29" name="Shape 24"/>
          <p:cNvSpPr/>
          <p:nvPr/>
        </p:nvSpPr>
        <p:spPr>
          <a:xfrm>
            <a:off x="9075191" y="3246120"/>
            <a:ext cx="2567864" cy="2880360"/>
          </a:xfrm>
          <a:prstGeom prst="roundRect">
            <a:avLst>
              <a:gd name="adj" fmla="val 2849"/>
            </a:avLst>
          </a:prstGeom>
          <a:solidFill>
            <a:srgbClr val="F2F5F7"/>
          </a:solidFill>
          <a:ln w="9525">
            <a:solidFill>
              <a:srgbClr val="F2F5F7"/>
            </a:solidFill>
            <a:prstDash val="solid"/>
          </a:ln>
        </p:spPr>
      </p:sp>
      <p:sp>
        <p:nvSpPr>
          <p:cNvPr id="30" name="Shape 25"/>
          <p:cNvSpPr/>
          <p:nvPr/>
        </p:nvSpPr>
        <p:spPr>
          <a:xfrm>
            <a:off x="9303791" y="3456432"/>
            <a:ext cx="411480" cy="411480"/>
          </a:xfrm>
          <a:prstGeom prst="ellipse">
            <a:avLst/>
          </a:prstGeom>
          <a:solidFill>
            <a:srgbClr val="2E8B57"/>
          </a:solidFill>
          <a:ln w="9525">
            <a:solidFill>
              <a:srgbClr val="2E8B57"/>
            </a:solidFill>
            <a:prstDash val="solid"/>
          </a:ln>
        </p:spPr>
      </p:sp>
      <p:pic>
        <p:nvPicPr>
          <p:cNvPr id="31" name="Image 3" descr="preencoded.png">    </p:cNvPr>
          <p:cNvPicPr>
            <a:picLocks noChangeAspect="1"/>
          </p:cNvPicPr>
          <p:nvPr/>
        </p:nvPicPr>
        <p:blipFill>
          <a:blip r:embed="rId4"/>
          <a:stretch>
            <a:fillRect/>
          </a:stretch>
        </p:blipFill>
        <p:spPr>
          <a:xfrm>
            <a:off x="9406661" y="3559302"/>
            <a:ext cx="205740" cy="205740"/>
          </a:xfrm>
          <a:prstGeom prst="rect">
            <a:avLst/>
          </a:prstGeom>
        </p:spPr>
      </p:pic>
      <p:sp>
        <p:nvSpPr>
          <p:cNvPr id="32" name="Text 26"/>
          <p:cNvSpPr txBox="1"/>
          <p:nvPr/>
        </p:nvSpPr>
        <p:spPr>
          <a:xfrm>
            <a:off x="9852431" y="3456432"/>
            <a:ext cx="1653464" cy="411480"/>
          </a:xfrm>
          <a:prstGeom prst="rect">
            <a:avLst/>
          </a:prstGeom>
          <a:noFill/>
          <a:ln/>
        </p:spPr>
        <p:txBody>
          <a:bodyPr wrap="square" lIns="0" tIns="0" rIns="0" bIns="0" rtlCol="0" anchor="ctr"/>
          <a:lstStyle/>
          <a:p>
            <a:pPr indent="0" marL="0">
              <a:buNone/>
            </a:pPr>
            <a:r>
              <a:rPr lang="pt-BR" altLang="en-US" sz="1600" b="1" dirty="0">
                <a:solidFill>
                  <a:srgbClr val="1E2328"/>
                </a:solidFill>
                <a:latin typeface="Arial" pitchFamily="34" charset="0"/>
                <a:ea typeface="Arial" pitchFamily="34" charset="-122"/>
                <a:cs typeface="Arial" pitchFamily="34" charset="-120"/>
              </a:rPr>
              <a:t>Navegador</a:t>
            </a:r>
            <a:endParaRPr lang="pt-BR" sz="1600" dirty="0"/>
          </a:p>
        </p:txBody>
      </p:sp>
      <p:sp>
        <p:nvSpPr>
          <p:cNvPr id="33" name="Text 27"/>
          <p:cNvSpPr txBox="1"/>
          <p:nvPr/>
        </p:nvSpPr>
        <p:spPr>
          <a:xfrm>
            <a:off x="9303791" y="4069080"/>
            <a:ext cx="2156384" cy="1965960"/>
          </a:xfrm>
          <a:prstGeom prst="rect">
            <a:avLst/>
          </a:prstGeom>
          <a:noFill/>
          <a:ln/>
        </p:spPr>
        <p:txBody>
          <a:bodyPr wrap="square" lIns="0" tIns="0" rIns="0" bIns="0" rtlCol="0" anchor="t"/>
          <a:lstStyle/>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Chromium headless roda a demo completa</a:t>
            </a:r>
            <a:endParaRPr lang="pt-BR" sz="1300" dirty="0"/>
          </a:p>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Assinaturas tweetnacl verificadas pelo Go</a:t>
            </a:r>
            <a:endParaRPr lang="pt-BR" sz="1300" dirty="0"/>
          </a:p>
          <a:p>
            <a:pPr marL="342900" indent="-342900">
              <a:spcAft>
                <a:spcPts val="600"/>
              </a:spcAft>
              <a:buSzPct val="100000"/>
              <a:buChar char="•"/>
            </a:pPr>
            <a:r>
              <a:rPr lang="pt-BR" altLang="en-US" sz="1300" dirty="0">
                <a:solidFill>
                  <a:srgbClr val="1E2328"/>
                </a:solidFill>
                <a:latin typeface="Calibri" pitchFamily="34" charset="0"/>
                <a:ea typeface="Calibri" pitchFamily="34" charset="-122"/>
                <a:cs typeface="Calibri" pitchFamily="34" charset="-120"/>
              </a:rPr>
              <a:t>Blocos assinados no navegador sobrevivem ao reinício</a:t>
            </a:r>
            <a:endParaRPr lang="pt-BR"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144000" cy="256032"/>
          </a:xfrm>
          <a:prstGeom prst="rect">
            <a:avLst/>
          </a:prstGeom>
          <a:noFill/>
          <a:ln/>
        </p:spPr>
        <p:txBody>
          <a:bodyPr wrap="square" lIns="0" tIns="0" rIns="0" bIns="0" rtlCol="0" anchor="t"/>
          <a:lstStyle/>
          <a:p>
            <a:pPr indent="0" marL="0">
              <a:buNone/>
            </a:pPr>
            <a:r>
              <a:rPr lang="pt-BR" altLang="en-US" sz="1100" b="1" spc="200" kern="0" dirty="0">
                <a:solidFill>
                  <a:srgbClr val="007D9C"/>
                </a:solidFill>
                <a:latin typeface="Arial" pitchFamily="34" charset="0"/>
                <a:ea typeface="Arial" pitchFamily="34" charset="-122"/>
                <a:cs typeface="Arial" pitchFamily="34" charset="-120"/>
              </a:rPr>
              <a:t>06 · COMPLEMENTOS</a:t>
            </a:r>
            <a:endParaRPr lang="pt-BR" sz="1100" dirty="0"/>
          </a:p>
        </p:txBody>
      </p:sp>
      <p:sp>
        <p:nvSpPr>
          <p:cNvPr id="3" name="Text 1"/>
          <p:cNvSpPr txBox="1"/>
          <p:nvPr/>
        </p:nvSpPr>
        <p:spPr>
          <a:xfrm>
            <a:off x="548640" y="676656"/>
            <a:ext cx="11094415" cy="658368"/>
          </a:xfrm>
          <a:prstGeom prst="rect">
            <a:avLst/>
          </a:prstGeom>
          <a:noFill/>
          <a:ln/>
        </p:spPr>
        <p:txBody>
          <a:bodyPr wrap="square" lIns="0" tIns="0" rIns="0" bIns="0" rtlCol="0" anchor="t"/>
          <a:lstStyle/>
          <a:p>
            <a:pPr indent="0" marL="0">
              <a:buNone/>
            </a:pPr>
            <a:r>
              <a:rPr lang="pt-BR" altLang="en-US" sz="3200" b="1" dirty="0">
                <a:solidFill>
                  <a:srgbClr val="1E2328"/>
                </a:solidFill>
                <a:latin typeface="Arial" pitchFamily="34" charset="0"/>
                <a:ea typeface="Arial" pitchFamily="34" charset="-122"/>
                <a:cs typeface="Arial" pitchFamily="34" charset="-120"/>
              </a:rPr>
              <a:t>Limitações e próximos passos</a:t>
            </a:r>
            <a:endParaRPr lang="pt-BR" sz="3200" dirty="0"/>
          </a:p>
        </p:txBody>
      </p:sp>
      <p:sp>
        <p:nvSpPr>
          <p:cNvPr id="4" name="Text 2"/>
          <p:cNvSpPr txBox="1"/>
          <p:nvPr/>
        </p:nvSpPr>
        <p:spPr>
          <a:xfrm>
            <a:off x="11183112" y="6419088"/>
            <a:ext cx="457200" cy="256032"/>
          </a:xfrm>
          <a:prstGeom prst="rect">
            <a:avLst/>
          </a:prstGeom>
          <a:noFill/>
          <a:ln/>
        </p:spPr>
        <p:txBody>
          <a:bodyPr wrap="square" lIns="0" tIns="0" rIns="0" bIns="0" rtlCol="0" anchor="t"/>
          <a:lstStyle/>
          <a:p>
            <a:pPr algn="r" indent="0" marL="0">
              <a:buNone/>
            </a:pPr>
            <a:r>
              <a:rPr lang="pt-BR" altLang="en-US" sz="1000" dirty="0">
                <a:solidFill>
                  <a:srgbClr val="8B96A1"/>
                </a:solidFill>
                <a:latin typeface="Calibri" pitchFamily="34" charset="0"/>
                <a:ea typeface="Calibri" pitchFamily="34" charset="-122"/>
                <a:cs typeface="Calibri" pitchFamily="34" charset="-120"/>
              </a:rPr>
              <a:t>23</a:t>
            </a:r>
            <a:endParaRPr lang="pt-BR"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246120"/>
                <a:gridCol w="3749040"/>
                <a:gridCol w="4099255"/>
              </a:tblGrid>
              <a:tr h="54864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Limitação</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1E2328"/>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Efeito</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1E2328"/>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Solução possível</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1E2328"/>
                    </a:solidFill>
                  </a:tcPr>
                </a:tc>
              </a:tr>
              <a:tr h="548640">
                <a:tc>
                  <a:txBody>
                    <a:bodyPr/>
                    <a:lstStyle/>
                    <a:p>
                      <a:pPr indent="0" marL="0">
                        <a:buNone/>
                      </a:pPr>
                      <a:r>
                        <a:rPr lang="en-US" sz="1350" b="1" dirty="0">
                          <a:solidFill>
                            <a:srgbClr val="1E2328"/>
                          </a:solidFill>
                          <a:latin typeface="Calibri" pitchFamily="34" charset="0"/>
                          <a:ea typeface="Calibri" pitchFamily="34" charset="-122"/>
                          <a:cs typeface="Calibri" pitchFamily="34" charset="-120"/>
                        </a:rPr>
                        <a:t>O token é um direito, não o item</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c>
                  <a:txBody>
                    <a:bodyPr/>
                    <a:lstStyle/>
                    <a:p>
                      <a:pPr indent="0" marL="0">
                        <a:buNone/>
                      </a:pPr>
                      <a:r>
                        <a:rPr lang="en-US" sz="1350" dirty="0">
                          <a:solidFill>
                            <a:srgbClr val="5F6B76"/>
                          </a:solidFill>
                          <a:latin typeface="Calibri" pitchFamily="34" charset="0"/>
                          <a:ea typeface="Calibri" pitchFamily="34" charset="-122"/>
                          <a:cs typeface="Calibri" pitchFamily="34" charset="-120"/>
                        </a:rPr>
                        <a:t>Um relógio ainda pode ser perdido ou vendido fora da cadeia</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c>
                  <a:txBody>
                    <a:bodyPr/>
                    <a:lstStyle/>
                    <a:p>
                      <a:pPr indent="0" marL="0">
                        <a:buNone/>
                      </a:pPr>
                      <a:r>
                        <a:rPr lang="en-US" sz="1350" dirty="0">
                          <a:solidFill>
                            <a:srgbClr val="007D9C"/>
                          </a:solidFill>
                          <a:latin typeface="Calibri" pitchFamily="34" charset="0"/>
                          <a:ea typeface="Calibri" pitchFamily="34" charset="-122"/>
                          <a:cs typeface="Calibri" pitchFamily="34" charset="-120"/>
                        </a:rPr>
                        <a:t>Custodiante ou cofre que só libera contra o token</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r>
              <a:tr h="548640">
                <a:tc>
                  <a:txBody>
                    <a:bodyPr/>
                    <a:lstStyle/>
                    <a:p>
                      <a:pPr indent="0" marL="0">
                        <a:buNone/>
                      </a:pPr>
                      <a:r>
                        <a:rPr lang="en-US" sz="1350" b="1" dirty="0">
                          <a:solidFill>
                            <a:srgbClr val="1E2328"/>
                          </a:solidFill>
                          <a:latin typeface="Calibri" pitchFamily="34" charset="0"/>
                          <a:ea typeface="Calibri" pitchFamily="34" charset="-122"/>
                          <a:cs typeface="Calibri" pitchFamily="34" charset="-120"/>
                        </a:rPr>
                        <a:t>Um só vistoriador decide os danos</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5F6B76"/>
                          </a:solidFill>
                          <a:latin typeface="Calibri" pitchFamily="34" charset="0"/>
                          <a:ea typeface="Calibri" pitchFamily="34" charset="-122"/>
                          <a:cs typeface="Calibri" pitchFamily="34" charset="-120"/>
                        </a:rPr>
                        <a:t>O locatário não tem a quem recorrer</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007D9C"/>
                          </a:solidFill>
                          <a:latin typeface="Calibri" pitchFamily="34" charset="0"/>
                          <a:ea typeface="Calibri" pitchFamily="34" charset="-122"/>
                          <a:cs typeface="Calibri" pitchFamily="34" charset="-120"/>
                        </a:rPr>
                        <a:t>Prazo de contestação, multiassinatura, papel de árbitro</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1E2328"/>
                          </a:solidFill>
                          <a:latin typeface="Calibri" pitchFamily="34" charset="0"/>
                          <a:ea typeface="Calibri" pitchFamily="34" charset="-122"/>
                          <a:cs typeface="Calibri" pitchFamily="34" charset="-120"/>
                        </a:rPr>
                        <a:t>O locatário fornece o hash da retirada</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c>
                  <a:txBody>
                    <a:bodyPr/>
                    <a:lstStyle/>
                    <a:p>
                      <a:pPr indent="0" marL="0">
                        <a:buNone/>
                      </a:pPr>
                      <a:r>
                        <a:rPr lang="en-US" sz="1350" dirty="0">
                          <a:solidFill>
                            <a:srgbClr val="5F6B76"/>
                          </a:solidFill>
                          <a:latin typeface="Calibri" pitchFamily="34" charset="0"/>
                          <a:ea typeface="Calibri" pitchFamily="34" charset="-122"/>
                          <a:cs typeface="Calibri" pitchFamily="34" charset="-120"/>
                        </a:rPr>
                        <a:t>O proprietário pode nunca ter visto esse laudo</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c>
                  <a:txBody>
                    <a:bodyPr/>
                    <a:lstStyle/>
                    <a:p>
                      <a:pPr indent="0" marL="0">
                        <a:buNone/>
                      </a:pPr>
                      <a:r>
                        <a:rPr lang="en-US" sz="1350" dirty="0">
                          <a:solidFill>
                            <a:srgbClr val="007D9C"/>
                          </a:solidFill>
                          <a:latin typeface="Calibri" pitchFamily="34" charset="0"/>
                          <a:ea typeface="Calibri" pitchFamily="34" charset="-122"/>
                          <a:cs typeface="Calibri" pitchFamily="34" charset="-120"/>
                        </a:rPr>
                        <a:t>Proprietário ou vistoriador coassina a retirada</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r>
              <a:tr h="548640">
                <a:tc>
                  <a:txBody>
                    <a:bodyPr/>
                    <a:lstStyle/>
                    <a:p>
                      <a:pPr indent="0" marL="0">
                        <a:buNone/>
                      </a:pPr>
                      <a:r>
                        <a:rPr lang="en-US" sz="1350" b="1" dirty="0">
                          <a:solidFill>
                            <a:srgbClr val="1E2328"/>
                          </a:solidFill>
                          <a:latin typeface="Calibri" pitchFamily="34" charset="0"/>
                          <a:ea typeface="Calibri" pitchFamily="34" charset="-122"/>
                          <a:cs typeface="Calibri" pitchFamily="34" charset="-120"/>
                        </a:rPr>
                        <a:t>Itens confiscados não são divididos</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5F6B76"/>
                          </a:solidFill>
                          <a:latin typeface="Calibri" pitchFamily="34" charset="0"/>
                          <a:ea typeface="Calibri" pitchFamily="34" charset="-122"/>
                          <a:cs typeface="Calibri" pitchFamily="34" charset="-120"/>
                        </a:rPr>
                        <a:t>O proprietário pode receber mais que a dívida</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007D9C"/>
                          </a:solidFill>
                          <a:latin typeface="Calibri" pitchFamily="34" charset="0"/>
                          <a:ea typeface="Calibri" pitchFamily="34" charset="-122"/>
                          <a:cs typeface="Calibri" pitchFamily="34" charset="-120"/>
                        </a:rPr>
                        <a:t>Leiloar os itens e devolver a diferença</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1E2328"/>
                          </a:solidFill>
                          <a:latin typeface="Calibri" pitchFamily="34" charset="0"/>
                          <a:ea typeface="Calibri" pitchFamily="34" charset="-122"/>
                          <a:cs typeface="Calibri" pitchFamily="34" charset="-120"/>
                        </a:rPr>
                        <a:t>Token de depósito sem lastro</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c>
                  <a:txBody>
                    <a:bodyPr/>
                    <a:lstStyle/>
                    <a:p>
                      <a:pPr indent="0" marL="0">
                        <a:buNone/>
                      </a:pPr>
                      <a:r>
                        <a:rPr lang="en-US" sz="1350" dirty="0">
                          <a:solidFill>
                            <a:srgbClr val="5F6B76"/>
                          </a:solidFill>
                          <a:latin typeface="Calibri" pitchFamily="34" charset="0"/>
                          <a:ea typeface="Calibri" pitchFamily="34" charset="-122"/>
                          <a:cs typeface="Calibri" pitchFamily="34" charset="-120"/>
                        </a:rPr>
                        <a:t>Os saldos são dados de teste</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c>
                  <a:txBody>
                    <a:bodyPr/>
                    <a:lstStyle/>
                    <a:p>
                      <a:pPr indent="0" marL="0">
                        <a:buNone/>
                      </a:pPr>
                      <a:r>
                        <a:rPr lang="en-US" sz="1350" dirty="0">
                          <a:solidFill>
                            <a:srgbClr val="007D9C"/>
                          </a:solidFill>
                          <a:latin typeface="Calibri" pitchFamily="34" charset="0"/>
                          <a:ea typeface="Calibri" pitchFamily="34" charset="-122"/>
                          <a:cs typeface="Calibri" pitchFamily="34" charset="-120"/>
                        </a:rPr>
                        <a:t>Stablecoin ou token emitido por banco</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r>
              <a:tr h="548640">
                <a:tc>
                  <a:txBody>
                    <a:bodyPr/>
                    <a:lstStyle/>
                    <a:p>
                      <a:pPr indent="0" marL="0">
                        <a:buNone/>
                      </a:pPr>
                      <a:r>
                        <a:rPr lang="en-US" sz="1350" b="1" dirty="0">
                          <a:solidFill>
                            <a:srgbClr val="1E2328"/>
                          </a:solidFill>
                          <a:latin typeface="Calibri" pitchFamily="34" charset="0"/>
                          <a:ea typeface="Calibri" pitchFamily="34" charset="-122"/>
                          <a:cs typeface="Calibri" pitchFamily="34" charset="-120"/>
                        </a:rPr>
                        <a:t>Um validador, sem consenso</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5F6B76"/>
                          </a:solidFill>
                          <a:latin typeface="Calibri" pitchFamily="34" charset="0"/>
                          <a:ea typeface="Calibri" pitchFamily="34" charset="-122"/>
                          <a:cs typeface="Calibri" pitchFamily="34" charset="-120"/>
                        </a:rPr>
                        <a:t>Um processo pode parar ou reescrever a cadeia</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50" dirty="0">
                          <a:solidFill>
                            <a:srgbClr val="007D9C"/>
                          </a:solidFill>
                          <a:latin typeface="Calibri" pitchFamily="34" charset="0"/>
                          <a:ea typeface="Calibri" pitchFamily="34" charset="-122"/>
                          <a:cs typeface="Calibri" pitchFamily="34" charset="-120"/>
                        </a:rPr>
                        <a:t>Validadores em rodízio, ou Hyperledger Fabric</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1E2328"/>
                          </a:solidFill>
                          <a:latin typeface="Calibri" pitchFamily="34" charset="0"/>
                          <a:ea typeface="Calibri" pitchFamily="34" charset="-122"/>
                          <a:cs typeface="Calibri" pitchFamily="34" charset="-120"/>
                        </a:rPr>
                        <a:t>Cadeia feita à mão</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c>
                  <a:txBody>
                    <a:bodyPr/>
                    <a:lstStyle/>
                    <a:p>
                      <a:pPr indent="0" marL="0">
                        <a:buNone/>
                      </a:pPr>
                      <a:r>
                        <a:rPr lang="en-US" sz="1350" dirty="0">
                          <a:solidFill>
                            <a:srgbClr val="5F6B76"/>
                          </a:solidFill>
                          <a:latin typeface="Calibri" pitchFamily="34" charset="0"/>
                          <a:ea typeface="Calibri" pitchFamily="34" charset="-122"/>
                          <a:cs typeface="Calibri" pitchFamily="34" charset="-120"/>
                        </a:rPr>
                        <a:t>Sem carteiras, exploradores ou padrões auditados</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c>
                  <a:txBody>
                    <a:bodyPr/>
                    <a:lstStyle/>
                    <a:p>
                      <a:pPr indent="0" marL="0">
                        <a:buNone/>
                      </a:pPr>
                      <a:r>
                        <a:rPr lang="en-US" sz="1350" dirty="0">
                          <a:solidFill>
                            <a:srgbClr val="007D9C"/>
                          </a:solidFill>
                          <a:latin typeface="Calibri" pitchFamily="34" charset="0"/>
                          <a:ea typeface="Calibri" pitchFamily="34" charset="-122"/>
                          <a:cs typeface="Calibri" pitchFamily="34" charset="-120"/>
                        </a:rPr>
                        <a:t>Cadeia padrão ou Fabric antes de dinheiro real</a:t>
                      </a:r>
                      <a:endParaRPr lang="en-US" sz="135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328"/>
        </a:solidFill>
      </p:bgPr>
    </p:bg>
    <p:spTree>
      <p:nvGrpSpPr>
        <p:cNvPr id="1" name=""/>
        <p:cNvGrpSpPr/>
        <p:nvPr/>
      </p:nvGrpSpPr>
      <p:grpSpPr>
        <a:xfrm>
          <a:off x="0" y="0"/>
          <a:ext cx="0" cy="0"/>
          <a:chOff x="0" y="0"/>
          <a:chExt cx="0" cy="0"/>
        </a:xfrm>
      </p:grpSpPr>
      <p:sp>
        <p:nvSpPr>
          <p:cNvPr id="2" name="Text 0"/>
          <p:cNvSpPr txBox="1"/>
          <p:nvPr/>
        </p:nvSpPr>
        <p:spPr>
          <a:xfrm>
            <a:off x="731520" y="685800"/>
            <a:ext cx="5486400" cy="292608"/>
          </a:xfrm>
          <a:prstGeom prst="rect">
            <a:avLst/>
          </a:prstGeom>
          <a:noFill/>
          <a:ln/>
        </p:spPr>
        <p:txBody>
          <a:bodyPr wrap="square" lIns="0" tIns="0" rIns="0" bIns="0" rtlCol="0" anchor="t"/>
          <a:lstStyle/>
          <a:p>
            <a:pPr indent="0" marL="0">
              <a:buNone/>
            </a:pPr>
            <a:r>
              <a:rPr lang="pt-BR" altLang="en-US" sz="1200" b="1" spc="300" kern="0" dirty="0">
                <a:solidFill>
                  <a:srgbClr val="00ADD8"/>
                </a:solidFill>
                <a:latin typeface="Arial" pitchFamily="34" charset="0"/>
                <a:ea typeface="Arial" pitchFamily="34" charset="-122"/>
                <a:cs typeface="Arial" pitchFamily="34" charset="-120"/>
              </a:rPr>
              <a:t>PRINCIPAIS IDEIAS</a:t>
            </a:r>
            <a:endParaRPr lang="pt-BR" sz="1200" dirty="0"/>
          </a:p>
        </p:txBody>
      </p:sp>
      <p:sp>
        <p:nvSpPr>
          <p:cNvPr id="3" name="Shape 1"/>
          <p:cNvSpPr/>
          <p:nvPr/>
        </p:nvSpPr>
        <p:spPr>
          <a:xfrm>
            <a:off x="731520" y="1280160"/>
            <a:ext cx="777240" cy="777240"/>
          </a:xfrm>
          <a:prstGeom prst="ellipse">
            <a:avLst/>
          </a:prstGeom>
          <a:solidFill>
            <a:srgbClr val="00ADD8"/>
          </a:solidFill>
          <a:ln w="9525">
            <a:solidFill>
              <a:srgbClr val="00ADD8"/>
            </a:solidFill>
            <a:prstDash val="solid"/>
          </a:ln>
        </p:spPr>
      </p:sp>
      <p:pic>
        <p:nvPicPr>
          <p:cNvPr id="4" name="Image 0" descr="preencoded.png">    </p:cNvPr>
          <p:cNvPicPr>
            <a:picLocks noChangeAspect="1"/>
          </p:cNvPicPr>
          <p:nvPr/>
        </p:nvPicPr>
        <p:blipFill>
          <a:blip r:embed="rId1"/>
          <a:stretch>
            <a:fillRect/>
          </a:stretch>
        </p:blipFill>
        <p:spPr>
          <a:xfrm>
            <a:off x="918058" y="1466698"/>
            <a:ext cx="404165" cy="404165"/>
          </a:xfrm>
          <a:prstGeom prst="rect">
            <a:avLst/>
          </a:prstGeom>
        </p:spPr>
      </p:pic>
      <p:sp>
        <p:nvSpPr>
          <p:cNvPr id="5" name="Text 2"/>
          <p:cNvSpPr txBox="1"/>
          <p:nvPr/>
        </p:nvSpPr>
        <p:spPr>
          <a:xfrm>
            <a:off x="1783080" y="1280160"/>
            <a:ext cx="9692640" cy="777240"/>
          </a:xfrm>
          <a:prstGeom prst="rect">
            <a:avLst/>
          </a:prstGeom>
          <a:noFill/>
          <a:ln/>
        </p:spPr>
        <p:txBody>
          <a:bodyPr wrap="square" lIns="0" tIns="0" rIns="0" bIns="0" rtlCol="0" anchor="ctr"/>
          <a:lstStyle/>
          <a:p>
            <a:pPr indent="0" marL="0">
              <a:buNone/>
            </a:pPr>
            <a:r>
              <a:rPr lang="pt-BR" altLang="en-US" sz="2000" dirty="0">
                <a:solidFill>
                  <a:srgbClr val="FFFFFF"/>
                </a:solidFill>
                <a:latin typeface="Calibri" pitchFamily="34" charset="0"/>
                <a:ea typeface="Calibri" pitchFamily="34" charset="-122"/>
                <a:cs typeface="Calibri" pitchFamily="34" charset="-120"/>
              </a:rPr>
              <a:t>Um livro-razão compartilhado faz sentido no aluguel de carros porque proprietário, locatário, registrador e vistoriador não confiam nos registros uns dos outros.</a:t>
            </a:r>
            <a:endParaRPr lang="pt-BR" sz="2000" dirty="0"/>
          </a:p>
        </p:txBody>
      </p:sp>
      <p:sp>
        <p:nvSpPr>
          <p:cNvPr id="6" name="Shape 3"/>
          <p:cNvSpPr/>
          <p:nvPr/>
        </p:nvSpPr>
        <p:spPr>
          <a:xfrm>
            <a:off x="731520" y="2468880"/>
            <a:ext cx="777240" cy="777240"/>
          </a:xfrm>
          <a:prstGeom prst="ellipse">
            <a:avLst/>
          </a:prstGeom>
          <a:solidFill>
            <a:srgbClr val="F2A900"/>
          </a:solidFill>
          <a:ln w="9525">
            <a:solidFill>
              <a:srgbClr val="F2A900"/>
            </a:solidFill>
            <a:prstDash val="solid"/>
          </a:ln>
        </p:spPr>
      </p:sp>
      <p:pic>
        <p:nvPicPr>
          <p:cNvPr id="7" name="Image 1" descr="preencoded.png">    </p:cNvPr>
          <p:cNvPicPr>
            <a:picLocks noChangeAspect="1"/>
          </p:cNvPicPr>
          <p:nvPr/>
        </p:nvPicPr>
        <p:blipFill>
          <a:blip r:embed="rId2"/>
          <a:stretch>
            <a:fillRect/>
          </a:stretch>
        </p:blipFill>
        <p:spPr>
          <a:xfrm>
            <a:off x="918058" y="2655418"/>
            <a:ext cx="404165" cy="404165"/>
          </a:xfrm>
          <a:prstGeom prst="rect">
            <a:avLst/>
          </a:prstGeom>
        </p:spPr>
      </p:pic>
      <p:sp>
        <p:nvSpPr>
          <p:cNvPr id="8" name="Text 4"/>
          <p:cNvSpPr txBox="1"/>
          <p:nvPr/>
        </p:nvSpPr>
        <p:spPr>
          <a:xfrm>
            <a:off x="1783080" y="2468880"/>
            <a:ext cx="9692640" cy="777240"/>
          </a:xfrm>
          <a:prstGeom prst="rect">
            <a:avLst/>
          </a:prstGeom>
          <a:noFill/>
          <a:ln/>
        </p:spPr>
        <p:txBody>
          <a:bodyPr wrap="square" lIns="0" tIns="0" rIns="0" bIns="0" rtlCol="0" anchor="ctr"/>
          <a:lstStyle/>
          <a:p>
            <a:pPr indent="0" marL="0">
              <a:buNone/>
            </a:pPr>
            <a:r>
              <a:rPr lang="pt-BR" altLang="en-US" sz="2000" dirty="0">
                <a:solidFill>
                  <a:srgbClr val="FFFFFF"/>
                </a:solidFill>
                <a:latin typeface="Calibri" pitchFamily="34" charset="0"/>
                <a:ea typeface="Calibri" pitchFamily="34" charset="-122"/>
                <a:cs typeface="Calibri" pitchFamily="34" charset="-120"/>
              </a:rPr>
              <a:t>Tokens e escrow transformam garantia, aluguel e multas em regras que o contrato aplica, com o mesmo resultado em todos os nós.</a:t>
            </a:r>
            <a:endParaRPr lang="pt-BR" sz="2000" dirty="0"/>
          </a:p>
        </p:txBody>
      </p:sp>
      <p:sp>
        <p:nvSpPr>
          <p:cNvPr id="9" name="Shape 5"/>
          <p:cNvSpPr/>
          <p:nvPr/>
        </p:nvSpPr>
        <p:spPr>
          <a:xfrm>
            <a:off x="731520" y="3657600"/>
            <a:ext cx="777240" cy="777240"/>
          </a:xfrm>
          <a:prstGeom prst="ellipse">
            <a:avLst/>
          </a:prstGeom>
          <a:solidFill>
            <a:srgbClr val="00ADD8"/>
          </a:solidFill>
          <a:ln w="9525">
            <a:solidFill>
              <a:srgbClr val="00ADD8"/>
            </a:solidFill>
            <a:prstDash val="solid"/>
          </a:ln>
        </p:spPr>
      </p:sp>
      <p:pic>
        <p:nvPicPr>
          <p:cNvPr id="10" name="Image 2" descr="preencoded.png">    </p:cNvPr>
          <p:cNvPicPr>
            <a:picLocks noChangeAspect="1"/>
          </p:cNvPicPr>
          <p:nvPr/>
        </p:nvPicPr>
        <p:blipFill>
          <a:blip r:embed="rId3"/>
          <a:stretch>
            <a:fillRect/>
          </a:stretch>
        </p:blipFill>
        <p:spPr>
          <a:xfrm>
            <a:off x="918058" y="3844138"/>
            <a:ext cx="404165" cy="404165"/>
          </a:xfrm>
          <a:prstGeom prst="rect">
            <a:avLst/>
          </a:prstGeom>
        </p:spPr>
      </p:pic>
      <p:sp>
        <p:nvSpPr>
          <p:cNvPr id="11" name="Text 6"/>
          <p:cNvSpPr txBox="1"/>
          <p:nvPr/>
        </p:nvSpPr>
        <p:spPr>
          <a:xfrm>
            <a:off x="1783080" y="3657600"/>
            <a:ext cx="9692640" cy="777240"/>
          </a:xfrm>
          <a:prstGeom prst="rect">
            <a:avLst/>
          </a:prstGeom>
          <a:noFill/>
          <a:ln/>
        </p:spPr>
        <p:txBody>
          <a:bodyPr wrap="square" lIns="0" tIns="0" rIns="0" bIns="0" rtlCol="0" anchor="ctr"/>
          <a:lstStyle/>
          <a:p>
            <a:pPr indent="0" marL="0">
              <a:buNone/>
            </a:pPr>
            <a:r>
              <a:rPr lang="pt-BR" altLang="en-US" sz="2000" dirty="0">
                <a:solidFill>
                  <a:srgbClr val="FFFFFF"/>
                </a:solidFill>
                <a:latin typeface="Calibri" pitchFamily="34" charset="0"/>
                <a:ea typeface="Calibri" pitchFamily="34" charset="-122"/>
                <a:cs typeface="Calibri" pitchFamily="34" charset="-120"/>
              </a:rPr>
              <a:t>O Go permitiu que uma base de código pequena fosse a cadeia, o contrato e as ferramentas. O preço foi o determinismo.</a:t>
            </a:r>
            <a:endParaRPr lang="pt-BR" sz="2000" dirty="0"/>
          </a:p>
        </p:txBody>
      </p:sp>
      <p:sp>
        <p:nvSpPr>
          <p:cNvPr id="12" name="Text 7"/>
          <p:cNvSpPr txBox="1"/>
          <p:nvPr/>
        </p:nvSpPr>
        <p:spPr>
          <a:xfrm>
            <a:off x="731520" y="4937760"/>
            <a:ext cx="5486400" cy="822960"/>
          </a:xfrm>
          <a:prstGeom prst="rect">
            <a:avLst/>
          </a:prstGeom>
          <a:noFill/>
          <a:ln/>
        </p:spPr>
        <p:txBody>
          <a:bodyPr wrap="square" lIns="0" tIns="0" rIns="0" bIns="0" rtlCol="0" anchor="t"/>
          <a:lstStyle/>
          <a:p>
            <a:pPr indent="0" marL="0">
              <a:buNone/>
            </a:pPr>
            <a:r>
              <a:rPr lang="pt-BR" altLang="en-US" sz="4000" b="1" dirty="0">
                <a:solidFill>
                  <a:srgbClr val="FFFFFF"/>
                </a:solidFill>
                <a:latin typeface="Arial" pitchFamily="34" charset="0"/>
                <a:ea typeface="Arial" pitchFamily="34" charset="-122"/>
                <a:cs typeface="Arial" pitchFamily="34" charset="-120"/>
              </a:rPr>
              <a:t>Perguntas?</a:t>
            </a:r>
            <a:endParaRPr lang="pt-BR" sz="4000" dirty="0"/>
          </a:p>
        </p:txBody>
      </p:sp>
      <p:sp>
        <p:nvSpPr>
          <p:cNvPr id="13" name="Text 8"/>
          <p:cNvSpPr txBox="1"/>
          <p:nvPr/>
        </p:nvSpPr>
        <p:spPr>
          <a:xfrm>
            <a:off x="5852160" y="5138928"/>
            <a:ext cx="5760720" cy="457200"/>
          </a:xfrm>
          <a:prstGeom prst="rect">
            <a:avLst/>
          </a:prstGeom>
          <a:noFill/>
          <a:ln/>
        </p:spPr>
        <p:txBody>
          <a:bodyPr wrap="square" lIns="0" tIns="0" rIns="0" bIns="0" rtlCol="0" anchor="ctr"/>
          <a:lstStyle/>
          <a:p>
            <a:pPr algn="r" indent="0" marL="0">
              <a:buNone/>
            </a:pPr>
            <a:r>
              <a:rPr lang="pt-BR" altLang="en-US" sz="1400" dirty="0">
                <a:solidFill>
                  <a:srgbClr val="00ADD8"/>
                </a:solidFill>
                <a:latin typeface="Courier New" pitchFamily="34" charset="0"/>
                <a:ea typeface="Courier New" pitchFamily="34" charset="-122"/>
                <a:cs typeface="Courier New" pitchFamily="34" charset="-120"/>
              </a:rPr>
              <a:t>docker compose up --build  →  http://localhost:3000</a:t>
            </a:r>
            <a:endParaRPr lang="pt-BR"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Aluguel de Carros com Blockchain</dc:title>
  <dc:subject>PptxGenJS Presentation</dc:subject>
  <dc:creator>Berg</dc:creator>
  <cp:lastModifiedBy>Berg</cp:lastModifiedBy>
  <cp:revision>1</cp:revision>
  <dcterms:created xsi:type="dcterms:W3CDTF">2026-09-30T22:39:42Z</dcterms:created>
  <dcterms:modified xsi:type="dcterms:W3CDTF">2026-09-30T22:39:42Z</dcterms:modified>
</cp:coreProperties>
</file>