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Arial"/>
              </a:defRPr>
            </a:pPr>
            <a:r>
              <a:rPr sz="1400" b="0" u="none" strike="noStrike">
                <a:solidFill>
                  <a:srgbClr val="1E2328"/>
                </a:solidFill>
                <a:uFillTx/>
                <a:latin typeface="Arial"/>
              </a:rPr>
              <a:t>Tokens de depósito após a liquidação (500 bloqueados)</a:t>
            </a:r>
          </a:p>
        </c:rich>
      </c:tx>
      <c:overlay val="0"/>
      <c:spPr>
        <a:noFill/>
        <a:ln w="0">
          <a:noFill/>
        </a:ln>
      </c:spPr>
    </c:title>
    <c:autoTitleDeleted val="0"/>
    <c:plotArea>
      <c:barChart>
        <c:barDir val="bar"/>
        <c:grouping val="stacked"/>
        <c:varyColors val="0"/>
        <c:ser>
          <c:idx val="0"/>
          <c:order val="0"/>
          <c:tx>
            <c:strRef>
              <c:f>label 0</c:f>
              <c:strCache>
                <c:ptCount val="1"/>
                <c:pt idx="0">
                  <c:v>Proprietário recebe</c:v>
                </c:pt>
              </c:strCache>
            </c:strRef>
          </c:tx>
          <c:spPr>
            <a:solidFill>
              <a:srgbClr val="4FC3E0"/>
            </a:solidFill>
            <a:ln w="0">
              <a:noFill/>
            </a:ln>
          </c:spPr>
          <c:invertIfNegative val="0"/>
          <c:dLbls>
            <c:numFmt formatCode="#,##0;\-#,##0;;" sourceLinked="0"/>
            <c:txPr>
              <a:bodyPr wrap="square"/>
              <a:lstStyle/>
              <a:p>
                <a:pPr>
                  <a:defRPr sz="1300" b="1" u="none" strike="noStrike">
                    <a:solidFill>
                      <a:srgbClr val="1E2328"/>
                    </a:solidFill>
                    <a:uFillTx/>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No prazo, sem danos</c:v>
                </c:pt>
                <c:pt idx="1">
                  <c:v>Dano de 150</c:v>
                </c:pt>
                <c:pt idx="2">
                  <c:v>Dano de 500</c:v>
                </c:pt>
              </c:strCache>
            </c:strRef>
          </c:cat>
          <c:val>
            <c:numRef>
              <c:f>0</c:f>
              <c:numCache>
                <c:formatCode>General</c:formatCode>
                <c:ptCount val="3"/>
                <c:pt idx="0">
                  <c:v>300</c:v>
                </c:pt>
                <c:pt idx="1">
                  <c:v>450</c:v>
                </c:pt>
                <c:pt idx="2">
                  <c:v>500</c:v>
                </c:pt>
              </c:numCache>
            </c:numRef>
          </c:val>
        </c:ser>
        <c:ser>
          <c:idx val="1"/>
          <c:order val="1"/>
          <c:tx>
            <c:strRef>
              <c:f>label 1</c:f>
              <c:strCache>
                <c:ptCount val="1"/>
                <c:pt idx="0">
                  <c:v>Locatário recebe de volta</c:v>
                </c:pt>
              </c:strCache>
            </c:strRef>
          </c:tx>
          <c:spPr>
            <a:solidFill>
              <a:srgbClr val="F2A900"/>
            </a:solidFill>
            <a:ln w="0">
              <a:noFill/>
            </a:ln>
          </c:spPr>
          <c:invertIfNegative val="0"/>
          <c:dLbls>
            <c:numFmt formatCode="#,##0;\-#,##0;;" sourceLinked="0"/>
            <c:txPr>
              <a:bodyPr wrap="square"/>
              <a:lstStyle/>
              <a:p>
                <a:pPr>
                  <a:defRPr sz="1300" b="1" u="none" strike="noStrike">
                    <a:solidFill>
                      <a:srgbClr val="1E2328"/>
                    </a:solidFill>
                    <a:uFillTx/>
                    <a:latin typeface="Arial"/>
                  </a:defRPr>
                </a:pPr>
              </a:p>
            </c:txPr>
            <c:dLblPos val="ctr"/>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No prazo, sem danos</c:v>
                </c:pt>
                <c:pt idx="1">
                  <c:v>Dano de 150</c:v>
                </c:pt>
                <c:pt idx="2">
                  <c:v>Dano de 500</c:v>
                </c:pt>
              </c:strCache>
            </c:strRef>
          </c:cat>
          <c:val>
            <c:numRef>
              <c:f>1</c:f>
              <c:numCache>
                <c:formatCode>General</c:formatCode>
                <c:ptCount val="3"/>
                <c:pt idx="0">
                  <c:v>200</c:v>
                </c:pt>
                <c:pt idx="1">
                  <c:v>50</c:v>
                </c:pt>
                <c:pt idx="2">
                  <c:v>0</c:v>
                </c:pt>
              </c:numCache>
            </c:numRef>
          </c:val>
        </c:ser>
        <c:gapWidth val="55"/>
        <c:overlap val="100"/>
        <c:axId val="81400105"/>
        <c:axId val="53190293"/>
      </c:barChart>
      <c:catAx>
        <c:axId val="81400105"/>
        <c:scaling>
          <c:orientation val="maxMin"/>
        </c:scaling>
        <c:delete val="0"/>
        <c:axPos val="b"/>
        <c:numFmt formatCode="General" sourceLinked="0"/>
        <c:majorTickMark val="out"/>
        <c:minorTickMark val="none"/>
        <c:tickLblPos val="nextTo"/>
        <c:spPr>
          <a:ln w="12600">
            <a:noFill/>
          </a:ln>
        </c:spPr>
        <c:txPr>
          <a:bodyPr/>
          <a:lstStyle/>
          <a:p>
            <a:pPr>
              <a:defRPr sz="1300" b="0" u="none" strike="noStrike">
                <a:solidFill>
                  <a:srgbClr val="1E2328"/>
                </a:solidFill>
                <a:uFillTx/>
                <a:latin typeface="Arial"/>
              </a:defRPr>
            </a:pPr>
          </a:p>
        </c:txPr>
        <c:crossAx val="53190293"/>
        <c:crosses val="autoZero"/>
        <c:auto val="1"/>
        <c:lblAlgn val="ctr"/>
        <c:lblOffset val="100"/>
        <c:noMultiLvlLbl val="0"/>
      </c:catAx>
      <c:valAx>
        <c:axId val="53190293"/>
        <c:scaling>
          <c:orientation val="minMax"/>
          <c:max val="500"/>
        </c:scaling>
        <c:delete val="1"/>
        <c:axPos val="l"/>
        <c:numFmt formatCode="General" sourceLinked="1"/>
        <c:majorTickMark val="out"/>
        <c:minorTickMark val="none"/>
        <c:tickLblPos val="low"/>
        <c:spPr>
          <a:ln w="12600">
            <a:solidFill>
              <a:srgbClr val="888888"/>
            </a:solidFill>
            <a:round/>
          </a:ln>
        </c:spPr>
        <c:txPr>
          <a:bodyPr/>
          <a:lstStyle/>
          <a:p>
            <a:pPr>
              <a:defRPr sz="1200" b="0" u="none" strike="noStrike">
                <a:solidFill>
                  <a:srgbClr val="000000"/>
                </a:solidFill>
                <a:uFillTx/>
                <a:latin typeface="Arial"/>
              </a:defRPr>
            </a:pPr>
          </a:p>
        </c:txPr>
        <c:crossAx val="81400105"/>
        <c:crossBetween val="between"/>
      </c:valAx>
      <c:spPr>
        <a:noFill/>
        <a:ln w="0">
          <a:noFill/>
        </a:ln>
      </c:spPr>
    </c:plotArea>
    <c:legend>
      <c:legendPos val="b"/>
      <c:overlay val="0"/>
      <c:spPr>
        <a:noFill/>
        <a:ln w="0">
          <a:noFill/>
        </a:ln>
      </c:spPr>
      <c:txPr>
        <a:bodyPr/>
        <a:lstStyle/>
        <a:p>
          <a:pPr>
            <a:defRPr sz="1200" b="0" u="none" strike="noStrike">
              <a:solidFill>
                <a:srgbClr val="1E2328"/>
              </a:solidFill>
              <a:uFillTx/>
              <a:latin typeface="Calibri"/>
            </a:defRPr>
          </a:pPr>
        </a:p>
      </c:txPr>
    </c:legend>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a:t>
            </a:r>
            <a:r>
              <a:rPr lang="en-US" sz="2000" b="0" u="none" strike="noStrike">
                <a:solidFill>
                  <a:srgbClr val="000000"/>
                </a:solidFill>
                <a:effectLst/>
                <a:uFillTx/>
                <a:latin typeface="Arial"/>
              </a:rPr>
              <a:t>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D88AE4F-2DD0-4054-87A1-4981C0355F5D}"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Img"/>
          </p:nvPr>
        </p:nvSpPr>
        <p:spPr>
          <a:xfrm>
            <a:off x="685800" y="1143000"/>
            <a:ext cx="5486040" cy="3085920"/>
          </a:xfrm>
          <a:prstGeom prst="rect">
            <a:avLst/>
          </a:prstGeom>
          <a:ln w="0">
            <a:noFill/>
          </a:ln>
        </p:spPr>
      </p:sp>
      <p:sp>
        <p:nvSpPr>
          <p:cNvPr id="6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Um projeto de estudo: um sistema de aluguel de carros em que a garantia do locatário fica guardada como tokens em custódia (escrow) por um contrato inteligente, numa pequena blockchain escrita do zero em Go. Tudo o que aparece aqui roda localmente com um único comando docker compose.</a:t>
            </a:r>
            <a:endParaRPr lang="en-US" sz="2000" b="0" u="none" strike="noStrike">
              <a:solidFill>
                <a:srgbClr val="000000"/>
              </a:solidFill>
              <a:effectLst/>
              <a:uFillTx/>
              <a:latin typeface="Arial"/>
            </a:endParaRPr>
          </a:p>
        </p:txBody>
      </p:sp>
      <p:sp>
        <p:nvSpPr>
          <p:cNvPr id="66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C059197-FCAF-4234-B949-4108B54AAFB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Img"/>
          </p:nvPr>
        </p:nvSpPr>
        <p:spPr>
          <a:xfrm>
            <a:off x="685800" y="1143000"/>
            <a:ext cx="5486040" cy="3085920"/>
          </a:xfrm>
          <a:prstGeom prst="rect">
            <a:avLst/>
          </a:prstGeom>
          <a:ln w="0">
            <a:noFill/>
          </a:ln>
        </p:spPr>
      </p:sp>
      <p:sp>
        <p:nvSpPr>
          <p:cNvPr id="6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Seis partes: a motivação, como o sistema é construído, o que tokenização significa aqui, a stack, por que Go e material de apoio: onde ficam os dados, a interface, o roteiro da demo, os testes e as limitações.</a:t>
            </a:r>
            <a:endParaRPr lang="en-US" sz="2000" b="0" u="none" strike="noStrike">
              <a:solidFill>
                <a:srgbClr val="000000"/>
              </a:solidFill>
              <a:effectLst/>
              <a:uFillTx/>
              <a:latin typeface="Arial"/>
            </a:endParaRPr>
          </a:p>
        </p:txBody>
      </p:sp>
      <p:sp>
        <p:nvSpPr>
          <p:cNvPr id="66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D4EF89-DCF6-4FAB-9234-AACCBD30F7E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Img"/>
          </p:nvPr>
        </p:nvSpPr>
        <p:spPr>
          <a:xfrm>
            <a:off x="685800" y="1143000"/>
            <a:ext cx="5486040" cy="3085920"/>
          </a:xfrm>
          <a:prstGeom prst="rect">
            <a:avLst/>
          </a:prstGeom>
          <a:ln w="0">
            <a:noFill/>
          </a:ln>
        </p:spPr>
      </p:sp>
      <p:sp>
        <p:nvSpPr>
          <p:cNvPr id="6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Hoje cada parte mantém seus próprios registros, então toda disputa vira um exercício de conciliação. Estas três perguntas são exatamente onde a confiança se quebra.</a:t>
            </a:r>
            <a:endParaRPr lang="en-US" sz="2000" b="0" u="none" strike="noStrike">
              <a:solidFill>
                <a:srgbClr val="000000"/>
              </a:solidFill>
              <a:effectLst/>
              <a:uFillTx/>
              <a:latin typeface="Arial"/>
            </a:endParaRPr>
          </a:p>
        </p:txBody>
      </p:sp>
      <p:sp>
        <p:nvSpPr>
          <p:cNvPr id="66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34920C9-407E-4A2D-AC85-FB1585437F6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sldImg"/>
          </p:nvPr>
        </p:nvSpPr>
        <p:spPr>
          <a:xfrm>
            <a:off x="685800" y="1143000"/>
            <a:ext cx="5486040" cy="3085920"/>
          </a:xfrm>
          <a:prstGeom prst="rect">
            <a:avLst/>
          </a:prstGeom>
          <a:ln w="0">
            <a:noFill/>
          </a:ln>
        </p:spPr>
      </p:sp>
      <p:sp>
        <p:nvSpPr>
          <p:cNvPr id="6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 livro-razão não torna as pessoas honestas; ele torna o registro compartilhado, somente de acréscimos e guiado por regras, o que elimina o espaço para discutir quem detém o quê e o que foi combinado.</a:t>
            </a:r>
            <a:endParaRPr lang="en-US" sz="2000" b="0" u="none" strike="noStrike">
              <a:solidFill>
                <a:srgbClr val="000000"/>
              </a:solidFill>
              <a:effectLst/>
              <a:uFillTx/>
              <a:latin typeface="Arial"/>
            </a:endParaRPr>
          </a:p>
        </p:txBody>
      </p:sp>
      <p:sp>
        <p:nvSpPr>
          <p:cNvPr id="67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E4AF94-3B72-4F8D-93B8-A595D1ABA8E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Img"/>
          </p:nvPr>
        </p:nvSpPr>
        <p:spPr>
          <a:xfrm>
            <a:off x="685800" y="1143000"/>
            <a:ext cx="5486040" cy="3085920"/>
          </a:xfrm>
          <a:prstGeom prst="rect">
            <a:avLst/>
          </a:prstGeom>
          <a:ln w="0">
            <a:noFill/>
          </a:ln>
        </p:spPr>
      </p:sp>
      <p:sp>
        <p:nvSpPr>
          <p:cNvPr id="6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Seja honesto sobre o trade-off: se uma única locadora controlasse todos os registros, um banco de dados seria a melhor escolha de engenharia. O livro-razão se justifica pela desconfiança entre várias partes.</a:t>
            </a:r>
            <a:endParaRPr lang="en-US" sz="2000" b="0" u="none" strike="noStrike">
              <a:solidFill>
                <a:srgbClr val="000000"/>
              </a:solidFill>
              <a:effectLst/>
              <a:uFillTx/>
              <a:latin typeface="Arial"/>
            </a:endParaRPr>
          </a:p>
        </p:txBody>
      </p:sp>
      <p:sp>
        <p:nvSpPr>
          <p:cNvPr id="67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812F2A-1B74-4553-87B1-EACC69C236B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PlaceHolder 1"/>
          <p:cNvSpPr>
            <a:spLocks noGrp="1"/>
          </p:cNvSpPr>
          <p:nvPr>
            <p:ph type="sldImg"/>
          </p:nvPr>
        </p:nvSpPr>
        <p:spPr>
          <a:xfrm>
            <a:off x="685800" y="1143000"/>
            <a:ext cx="5486040" cy="3085920"/>
          </a:xfrm>
          <a:prstGeom prst="rect">
            <a:avLst/>
          </a:prstGeom>
          <a:ln w="0">
            <a:noFill/>
          </a:ln>
        </p:spPr>
      </p:sp>
      <p:sp>
        <p:nvSpPr>
          <p:cNvPr id="6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Os papéis ficam on-chain: só um REGISTRAR pode emitir tokens de carro e de garantia, então um locatário não consegue inventar um carro; só um INSPECTOR pode liquidar. Cada conta é um par de chaves Ed25519, e seu endereço é a chave pública em hexadecimal.</a:t>
            </a:r>
            <a:endParaRPr lang="en-US" sz="2000" b="0" u="none" strike="noStrike">
              <a:solidFill>
                <a:srgbClr val="000000"/>
              </a:solidFill>
              <a:effectLst/>
              <a:uFillTx/>
              <a:latin typeface="Arial"/>
            </a:endParaRPr>
          </a:p>
        </p:txBody>
      </p:sp>
      <p:sp>
        <p:nvSpPr>
          <p:cNvPr id="67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7617FA-D664-46CE-BA11-B7EBAD31191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sldImg"/>
          </p:nvPr>
        </p:nvSpPr>
        <p:spPr>
          <a:xfrm>
            <a:off x="685800" y="1143000"/>
            <a:ext cx="5486040" cy="3085920"/>
          </a:xfrm>
          <a:prstGeom prst="rect">
            <a:avLst/>
          </a:prstGeom>
          <a:ln w="0">
            <a:noFill/>
          </a:ln>
        </p:spPr>
      </p:sp>
      <p:sp>
        <p:nvSpPr>
          <p:cNvPr id="6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 contrato inteligente é um pacote Go compilado dentro do nó, não bytecode numa máquina virtual. O app web conversa por HTTP com JSON. Documentos grandes ou privados ficam off-chain; só o SHA-256 deles entra numa transação.</a:t>
            </a:r>
            <a:endParaRPr lang="en-US" sz="2000" b="0" u="none" strike="noStrike">
              <a:solidFill>
                <a:srgbClr val="000000"/>
              </a:solidFill>
              <a:effectLst/>
              <a:uFillTx/>
              <a:latin typeface="Arial"/>
            </a:endParaRPr>
          </a:p>
        </p:txBody>
      </p:sp>
      <p:sp>
        <p:nvSpPr>
          <p:cNvPr id="67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A93601B-1272-4C42-9FFA-C476D48D452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Img"/>
          </p:nvPr>
        </p:nvSpPr>
        <p:spPr>
          <a:xfrm>
            <a:off x="685800" y="1143000"/>
            <a:ext cx="5486040" cy="3085920"/>
          </a:xfrm>
          <a:prstGeom prst="rect">
            <a:avLst/>
          </a:prstGeom>
          <a:ln w="0">
            <a:noFill/>
          </a:ln>
        </p:spPr>
      </p:sp>
      <p:sp>
        <p:nvSpPr>
          <p:cNvPr id="6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assinatura cobre o JSON.stringify de {from, method, args, nonce}; o nó em Go reconstrói exatamente esses bytes. Como esta cadeia sela um bloco por transação, um número de bloco na resposta já significa que a transação é final.</a:t>
            </a:r>
            <a:endParaRPr lang="en-US" sz="2000" b="0" u="none" strike="noStrike">
              <a:solidFill>
                <a:srgbClr val="000000"/>
              </a:solidFill>
              <a:effectLst/>
              <a:uFillTx/>
              <a:latin typeface="Arial"/>
            </a:endParaRPr>
          </a:p>
        </p:txBody>
      </p:sp>
      <p:sp>
        <p:nvSpPr>
          <p:cNvPr id="68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36B624-4A96-47F6-B82B-9358CC679FC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Img"/>
          </p:nvPr>
        </p:nvSpPr>
        <p:spPr>
          <a:xfrm>
            <a:off x="685800" y="1143000"/>
            <a:ext cx="5486040" cy="3085920"/>
          </a:xfrm>
          <a:prstGeom prst="rect">
            <a:avLst/>
          </a:prstGeom>
          <a:ln w="0">
            <a:noFill/>
          </a:ln>
        </p:spPr>
      </p:sp>
      <p:sp>
        <p:nvSpPr>
          <p:cNvPr id="6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Estes são os passos 9.5a e 9.5b da demo. Uma assinatura inválida não deixa rastro. Um papel ausente é rejeitado dentro do contrato, mas fica registrado, então existe um registro auditável de que bob tentou e foi recusado.</a:t>
            </a:r>
            <a:endParaRPr lang="en-US" sz="2000" b="0" u="none" strike="noStrike">
              <a:solidFill>
                <a:srgbClr val="000000"/>
              </a:solidFill>
              <a:effectLst/>
              <a:uFillTx/>
              <a:latin typeface="Arial"/>
            </a:endParaRPr>
          </a:p>
        </p:txBody>
      </p:sp>
      <p:sp>
        <p:nvSpPr>
          <p:cNvPr id="68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442308-8569-486E-9C06-0163336DB38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Img"/>
          </p:nvPr>
        </p:nvSpPr>
        <p:spPr>
          <a:xfrm>
            <a:off x="685800" y="1143000"/>
            <a:ext cx="5486040" cy="3085920"/>
          </a:xfrm>
          <a:prstGeom prst="rect">
            <a:avLst/>
          </a:prstGeom>
          <a:ln w="0">
            <a:noFill/>
          </a:ln>
        </p:spPr>
      </p:sp>
      <p:sp>
        <p:nvSpPr>
          <p:cNvPr id="6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Hashes reais de uma execução da demo. Cada cabeçalho também se compromete com as transações (txRoot) e com os recibos, então os resultados não podem ser reescritos depois. Ao reiniciar com --datadir, cada bloco é reexecutado e precisa reproduzir os hashes registrados.</a:t>
            </a:r>
            <a:endParaRPr lang="en-US" sz="2000" b="0" u="none" strike="noStrike">
              <a:solidFill>
                <a:srgbClr val="000000"/>
              </a:solidFill>
              <a:effectLst/>
              <a:uFillTx/>
              <a:latin typeface="Arial"/>
            </a:endParaRPr>
          </a:p>
        </p:txBody>
      </p:sp>
      <p:sp>
        <p:nvSpPr>
          <p:cNvPr id="68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FA567E3-FE84-483C-90F2-AC1E6AB4982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Img"/>
          </p:nvPr>
        </p:nvSpPr>
        <p:spPr>
          <a:xfrm>
            <a:off x="685800" y="1143000"/>
            <a:ext cx="5486040" cy="3085920"/>
          </a:xfrm>
          <a:prstGeom prst="rect">
            <a:avLst/>
          </a:prstGeom>
          <a:ln w="0">
            <a:noFill/>
          </a:ln>
        </p:spPr>
      </p:sp>
      <p:sp>
        <p:nvSpPr>
          <p:cNvPr id="6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Aqui, tokenização não tem a ver com negociar: ela dá a cada carro, a cada item empenhado e a cada unidade de depósito um único dono on-chain, para que o contrato possa movê-los e bloqueá-los. O limite é importante: um token não impede que alguém venda um relógio físico fora da cadeia.</a:t>
            </a:r>
            <a:endParaRPr lang="en-US" sz="2000" b="0" u="none" strike="noStrike">
              <a:solidFill>
                <a:srgbClr val="000000"/>
              </a:solidFill>
              <a:effectLst/>
              <a:uFillTx/>
              <a:latin typeface="Arial"/>
            </a:endParaRPr>
          </a:p>
        </p:txBody>
      </p:sp>
      <p:sp>
        <p:nvSpPr>
          <p:cNvPr id="69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F7565B-29EA-4B53-BFCE-8FF308554C5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Img"/>
          </p:nvPr>
        </p:nvSpPr>
        <p:spPr>
          <a:xfrm>
            <a:off x="685800" y="1143000"/>
            <a:ext cx="5486040" cy="3085920"/>
          </a:xfrm>
          <a:prstGeom prst="rect">
            <a:avLst/>
          </a:prstGeom>
          <a:ln w="0">
            <a:noFill/>
          </a:ln>
        </p:spPr>
      </p:sp>
      <p:sp>
        <p:nvSpPr>
          <p:cNvPr id="6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Não há EVM, então não há ERC-1155 para herdar. Um único map em Go cumpre o mesmo papel, e o pacote que o controla também controla as regras de locação, então não existe um contrato de token separado por baixo da lógica de negócio. Cada ativo também tem um campo Kind, para que carros e garantias sigam regras diferentes.</a:t>
            </a:r>
            <a:endParaRPr lang="en-US" sz="2000" b="0" u="none" strike="noStrike">
              <a:solidFill>
                <a:srgbClr val="000000"/>
              </a:solidFill>
              <a:effectLst/>
              <a:uFillTx/>
              <a:latin typeface="Arial"/>
            </a:endParaRPr>
          </a:p>
        </p:txBody>
      </p:sp>
      <p:sp>
        <p:nvSpPr>
          <p:cNvPr id="69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152BC97-4CF5-441D-ADF3-E313BFCB1D6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Img"/>
          </p:nvPr>
        </p:nvSpPr>
        <p:spPr>
          <a:xfrm>
            <a:off x="685800" y="1143000"/>
            <a:ext cx="5486040" cy="3085920"/>
          </a:xfrm>
          <a:prstGeom prst="rect">
            <a:avLst/>
          </a:prstGeom>
          <a:ln w="0">
            <a:noFill/>
          </a:ln>
        </p:spPr>
      </p:sp>
      <p:sp>
        <p:nvSpPr>
          <p:cNvPr id="6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Nada é transferido na base da confiança: o contrato move tokens entre o locatário, o escrow e o proprietário, e as regras decidem a direção. Em custódia, um item não pode ser empenhado de novo nem transferido, e um carro alugado não pode ser vendido.</a:t>
            </a:r>
            <a:endParaRPr lang="en-US" sz="2000" b="0" u="none" strike="noStrike">
              <a:solidFill>
                <a:srgbClr val="000000"/>
              </a:solidFill>
              <a:effectLst/>
              <a:uFillTx/>
              <a:latin typeface="Arial"/>
            </a:endParaRPr>
          </a:p>
        </p:txBody>
      </p:sp>
      <p:sp>
        <p:nvSpPr>
          <p:cNvPr id="69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E1BDB1C-033A-49AA-BB84-18E07C43F6E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Img"/>
          </p:nvPr>
        </p:nvSpPr>
        <p:spPr>
          <a:xfrm>
            <a:off x="685800" y="1143000"/>
            <a:ext cx="5486040" cy="3085920"/>
          </a:xfrm>
          <a:prstGeom prst="rect">
            <a:avLst/>
          </a:prstGeom>
          <a:ln w="0">
            <a:noFill/>
          </a:ln>
        </p:spPr>
      </p:sp>
      <p:sp>
        <p:nvSpPr>
          <p:cNvPr id="6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Estes são os números exatos dos testes do contrato. A ordem da liquidação é fixa: aluguel pré-pago para o proprietário, depois as cobranças saem do depósito excedente, depois os itens na ordem de penhor. O contrato calcula a multa por atraso a partir do timestamp do bloco.</a:t>
            </a:r>
            <a:endParaRPr lang="en-US" sz="2000" b="0" u="none" strike="noStrike">
              <a:solidFill>
                <a:srgbClr val="000000"/>
              </a:solidFill>
              <a:effectLst/>
              <a:uFillTx/>
              <a:latin typeface="Arial"/>
            </a:endParaRPr>
          </a:p>
        </p:txBody>
      </p:sp>
      <p:sp>
        <p:nvSpPr>
          <p:cNvPr id="70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0CEA18-3DC2-4261-B24B-0BA2968DA42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Img"/>
          </p:nvPr>
        </p:nvSpPr>
        <p:spPr>
          <a:xfrm>
            <a:off x="685800" y="1143000"/>
            <a:ext cx="5486040" cy="3085920"/>
          </a:xfrm>
          <a:prstGeom prst="rect">
            <a:avLst/>
          </a:prstGeom>
          <a:ln w="0">
            <a:noFill/>
          </a:ln>
        </p:spPr>
      </p:sp>
      <p:sp>
        <p:nvSpPr>
          <p:cNvPr id="7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Toda camada é ou a biblioteca padrão do Go ou tecnologia web simples. O único código de terceiros no sistema inteiro é o tweetnacl no navegador e o http-server para arquivos estáticos.</a:t>
            </a:r>
            <a:endParaRPr lang="en-US" sz="2000" b="0" u="none" strike="noStrike">
              <a:solidFill>
                <a:srgbClr val="000000"/>
              </a:solidFill>
              <a:effectLst/>
              <a:uFillTx/>
              <a:latin typeface="Arial"/>
            </a:endParaRPr>
          </a:p>
        </p:txBody>
      </p:sp>
      <p:sp>
        <p:nvSpPr>
          <p:cNvPr id="70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50F4450-F8DC-4710-B7E0-4DE91537207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Img"/>
          </p:nvPr>
        </p:nvSpPr>
        <p:spPr>
          <a:xfrm>
            <a:off x="685800" y="1143000"/>
            <a:ext cx="5486040" cy="3085920"/>
          </a:xfrm>
          <a:prstGeom prst="rect">
            <a:avLst/>
          </a:prstGeom>
          <a:ln w="0">
            <a:noFill/>
          </a:ln>
        </p:spPr>
      </p:sp>
      <p:sp>
        <p:nvSpPr>
          <p:cNvPr id="7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cadeia, o contrato, a API e as ferramentas somam cerca de 1.400 linhas de Go, sem nenhum módulo externo. O Docker Compose sobe o nó, carrega os dados da demo uma vez e serve o app web e os documentos off-chain.</a:t>
            </a:r>
            <a:endParaRPr lang="en-US" sz="2000" b="0" u="none" strike="noStrike">
              <a:solidFill>
                <a:srgbClr val="000000"/>
              </a:solidFill>
              <a:effectLst/>
              <a:uFillTx/>
              <a:latin typeface="Arial"/>
            </a:endParaRPr>
          </a:p>
        </p:txBody>
      </p:sp>
      <p:sp>
        <p:nvSpPr>
          <p:cNvPr id="70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8F0E1E-8634-485D-A9C3-8A0FD73764D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Img"/>
          </p:nvPr>
        </p:nvSpPr>
        <p:spPr>
          <a:xfrm>
            <a:off x="685800" y="1143000"/>
            <a:ext cx="5486040" cy="3085920"/>
          </a:xfrm>
          <a:prstGeom prst="rect">
            <a:avLst/>
          </a:prstGeom>
          <a:ln w="0">
            <a:noFill/>
          </a:ln>
        </p:spPr>
      </p:sp>
      <p:sp>
        <p:nvSpPr>
          <p:cNvPr id="7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primeira versão do design usava Solidity numa rede EVM. Migrar para Go colocou o sistema inteiro numa só linguagem, próximo de como a GoLedger roda chaincode em Go no Hyperledger Fabric, e pequeno o bastante para ser lido de ponta a ponta.</a:t>
            </a:r>
            <a:endParaRPr lang="en-US" sz="2000" b="0" u="none" strike="noStrike">
              <a:solidFill>
                <a:srgbClr val="000000"/>
              </a:solidFill>
              <a:effectLst/>
              <a:uFillTx/>
              <a:latin typeface="Arial"/>
            </a:endParaRPr>
          </a:p>
        </p:txBody>
      </p:sp>
      <p:sp>
        <p:nvSpPr>
          <p:cNvPr id="70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AFD525-6E03-420B-B834-535CAC08F54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685800" y="1143000"/>
            <a:ext cx="5486040" cy="3085920"/>
          </a:xfrm>
          <a:prstGeom prst="rect">
            <a:avLst/>
          </a:prstGeom>
          <a:ln w="0">
            <a:noFill/>
          </a:ln>
        </p:spPr>
      </p:sp>
      <p:sp>
        <p:nvSpPr>
          <p:cNvPr id="7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Estas são as partes não óbvias de escrever uma cadeia em Go. O Go embaralha de propósito a iteração de maps, o que é ótimo para achar bugs, mas fatal para o consenso se a ordem afetar o resultado. O hash do estado em cada bloco transforma o determinismo em algo que os testes verificam.</a:t>
            </a:r>
            <a:endParaRPr lang="en-US" sz="2000" b="0" u="none" strike="noStrike">
              <a:solidFill>
                <a:srgbClr val="000000"/>
              </a:solidFill>
              <a:effectLst/>
              <a:uFillTx/>
              <a:latin typeface="Arial"/>
            </a:endParaRPr>
          </a:p>
        </p:txBody>
      </p:sp>
      <p:sp>
        <p:nvSpPr>
          <p:cNvPr id="71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B7B33A-895E-484A-BA83-BB466D10CA0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685800" y="1143000"/>
            <a:ext cx="5486040" cy="3085920"/>
          </a:xfrm>
          <a:prstGeom prst="rect">
            <a:avLst/>
          </a:prstGeom>
          <a:ln w="0">
            <a:noFill/>
          </a:ln>
        </p:spPr>
      </p:sp>
      <p:sp>
        <p:nvSpPr>
          <p:cNvPr id="7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regra é simples: on-chain só o que várias partes precisam acordar e que ninguém pode alterar. Um livro-razão imutável não consegue cumprir o direito de exclusão da LGPD, então dados pessoais nunca vão on-chain, e mesmo hashes de dados pessoais adivinháveis devem usar salt.</a:t>
            </a:r>
            <a:endParaRPr lang="en-US" sz="2000" b="0" u="none" strike="noStrike">
              <a:solidFill>
                <a:srgbClr val="000000"/>
              </a:solidFill>
              <a:effectLst/>
              <a:uFillTx/>
              <a:latin typeface="Arial"/>
            </a:endParaRPr>
          </a:p>
        </p:txBody>
      </p:sp>
      <p:sp>
        <p:nvSpPr>
          <p:cNvPr id="71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A2DC91-2402-4E6C-954F-E1604E1F428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685800" y="1143000"/>
            <a:ext cx="5486040" cy="3085920"/>
          </a:xfrm>
          <a:prstGeom prst="rect">
            <a:avLst/>
          </a:prstGeom>
          <a:ln w="0">
            <a:noFill/>
          </a:ln>
        </p:spPr>
      </p:sp>
      <p:sp>
        <p:nvSpPr>
          <p:cNvPr id="7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Um único arquivo HTML estático, sem framework e sem etapa de build. A interface do app está em inglês. Ele conversa com o nó via fetch, verifica documentos off-chain calculando o hash deles e esconde as ações para as quais a conta atual não tem papel, em vez de deixá-la assinar e falhar.</a:t>
            </a:r>
            <a:endParaRPr lang="en-US" sz="2000" b="0" u="none" strike="noStrike">
              <a:solidFill>
                <a:srgbClr val="000000"/>
              </a:solidFill>
              <a:effectLst/>
              <a:uFillTx/>
              <a:latin typeface="Arial"/>
            </a:endParaRPr>
          </a:p>
        </p:txBody>
      </p:sp>
      <p:sp>
        <p:nvSpPr>
          <p:cNvPr id="71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47E583A-A613-42BB-8707-82F6FE4DBDE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685800" y="1143000"/>
            <a:ext cx="5486040" cy="3085920"/>
          </a:xfrm>
          <a:prstGeom prst="rect">
            <a:avLst/>
          </a:prstGeom>
          <a:ln w="0">
            <a:noFill/>
          </a:ln>
        </p:spPr>
      </p:sp>
      <p:sp>
        <p:nvSpPr>
          <p:cNvPr id="7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Segue a seção 9 do design. Os mesmos passos também rodam num terminal com curl e o utilitário cmd/tx, que assina transações; o app web mostra esses blocos em poucos segundos, porque consulta o topo da cadeia periodicamente.</a:t>
            </a:r>
            <a:endParaRPr lang="en-US" sz="2000" b="0" u="none" strike="noStrike">
              <a:solidFill>
                <a:srgbClr val="000000"/>
              </a:solidFill>
              <a:effectLst/>
              <a:uFillTx/>
              <a:latin typeface="Arial"/>
            </a:endParaRPr>
          </a:p>
        </p:txBody>
      </p:sp>
      <p:sp>
        <p:nvSpPr>
          <p:cNvPr id="72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D2DFDAC-5806-471F-80B3-E5316B0C394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Img"/>
          </p:nvPr>
        </p:nvSpPr>
        <p:spPr>
          <a:xfrm>
            <a:off x="685800" y="1143000"/>
            <a:ext cx="5486040" cy="3085920"/>
          </a:xfrm>
          <a:prstGeom prst="rect">
            <a:avLst/>
          </a:prstGeom>
          <a:ln w="0">
            <a:noFill/>
          </a:ln>
        </p:spPr>
      </p:sp>
      <p:sp>
        <p:nvSpPr>
          <p:cNvPr id="7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Os testes do contrato reproduzem exatamente a tabela do exemplo do design. Os testes da cadeia editam o log de blocos à mão (mudam um argumento, removem um bloco, reescrevem um recibo) e verificam que o nó se recusa a iniciar. A execução no navegador confirma que assinaturas feitas pelo tweetnacl são verificadas pelo Go.</a:t>
            </a:r>
            <a:endParaRPr lang="en-US" sz="2000" b="0" u="none" strike="noStrike">
              <a:solidFill>
                <a:srgbClr val="000000"/>
              </a:solidFill>
              <a:effectLst/>
              <a:uFillTx/>
              <a:latin typeface="Arial"/>
            </a:endParaRPr>
          </a:p>
        </p:txBody>
      </p:sp>
      <p:sp>
        <p:nvSpPr>
          <p:cNvPr id="72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0C8269-DA05-4156-B364-43B8D887B9A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685800" y="1143000"/>
            <a:ext cx="5486040" cy="3085920"/>
          </a:xfrm>
          <a:prstGeom prst="rect">
            <a:avLst/>
          </a:prstGeom>
          <a:ln w="0">
            <a:noFill/>
          </a:ln>
        </p:spPr>
      </p:sp>
      <p:sp>
        <p:nvSpPr>
          <p:cNvPr id="7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Isto é um estudo da mecânica, não um sistema de produção. As maiores lacunas são a custódia física, a resolução de disputas e o consenso. O caminho realista para produção é a lógica de negócio em Go como chaincode numa rede permissionada, como o Hyperledger Fabric.</a:t>
            </a:r>
            <a:endParaRPr lang="en-US" sz="2000" b="0" u="none" strike="noStrike">
              <a:solidFill>
                <a:srgbClr val="000000"/>
              </a:solidFill>
              <a:effectLst/>
              <a:uFillTx/>
              <a:latin typeface="Arial"/>
            </a:endParaRPr>
          </a:p>
        </p:txBody>
      </p:sp>
      <p:sp>
        <p:nvSpPr>
          <p:cNvPr id="72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D8B528-56A1-47D6-9856-76D784FBF71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Img"/>
          </p:nvPr>
        </p:nvSpPr>
        <p:spPr>
          <a:xfrm>
            <a:off x="685800" y="1143000"/>
            <a:ext cx="5486040" cy="3085920"/>
          </a:xfrm>
          <a:prstGeom prst="rect">
            <a:avLst/>
          </a:prstGeom>
          <a:ln w="0">
            <a:noFill/>
          </a:ln>
        </p:spPr>
      </p:sp>
      <p:sp>
        <p:nvSpPr>
          <p:cNvPr id="7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Feche com as três ideias e abra para perguntas. Se houver tempo, rode a demo ao vivo com o docker compose.</a:t>
            </a:r>
            <a:endParaRPr lang="en-US" sz="2000" b="0" u="none" strike="noStrike">
              <a:solidFill>
                <a:srgbClr val="000000"/>
              </a:solidFill>
              <a:effectLst/>
              <a:uFillTx/>
              <a:latin typeface="Arial"/>
            </a:endParaRPr>
          </a:p>
        </p:txBody>
      </p:sp>
      <p:sp>
        <p:nvSpPr>
          <p:cNvPr id="73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B767A21-CD83-4656-8A48-1CAE565DFCB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image" Target="../media/image5.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8.png"/><Relationship Id="rId4"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24.png"/><Relationship Id="rId3" Type="http://schemas.openxmlformats.org/officeDocument/2006/relationships/image" Target="../media/image8.pn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16.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31.png"/><Relationship Id="rId11" Type="http://schemas.openxmlformats.org/officeDocument/2006/relationships/slideLayout" Target="../slideLayouts/slideLayout1.xml"/><Relationship Id="rId1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15.png"/><Relationship Id="rId7" Type="http://schemas.openxmlformats.org/officeDocument/2006/relationships/slideLayout" Target="../slideLayouts/slideLayout1.xml"/><Relationship Id="rId8"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slideLayout" Target="../slideLayouts/slideLayout1.xml"/><Relationship Id="rId6"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8.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slideLayout" Target="../slideLayouts/slideLayout1.xml"/><Relationship Id="rId8"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49.png"/><Relationship Id="rId3" Type="http://schemas.openxmlformats.org/officeDocument/2006/relationships/image" Target="../media/image49.png"/><Relationship Id="rId4" Type="http://schemas.openxmlformats.org/officeDocument/2006/relationships/image" Target="../media/image49.png"/><Relationship Id="rId5" Type="http://schemas.openxmlformats.org/officeDocument/2006/relationships/slideLayout" Target="../slideLayouts/slideLayout1.xml"/><Relationship Id="rId6"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22.png"/><Relationship Id="rId3" Type="http://schemas.openxmlformats.org/officeDocument/2006/relationships/image" Target="../media/image50.png"/><Relationship Id="rId4" Type="http://schemas.openxmlformats.org/officeDocument/2006/relationships/slideLayout" Target="../slideLayouts/slideLayout1.xml"/><Relationship Id="rId5"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328"/>
        </a:solidFill>
      </p:bgPr>
    </p:bg>
    <p:spTree>
      <p:nvGrpSpPr>
        <p:cNvPr id="1" name=""/>
        <p:cNvGrpSpPr/>
        <p:nvPr/>
      </p:nvGrpSpPr>
      <p:grpSpPr>
        <a:xfrm>
          <a:off x="0" y="0"/>
          <a:ext cx="0" cy="0"/>
          <a:chOff x="0" y="0"/>
          <a:chExt cx="0" cy="0"/>
        </a:xfrm>
      </p:grpSpPr>
      <p:sp>
        <p:nvSpPr>
          <p:cNvPr id="10" name="Text 0"/>
          <p:cNvSpPr/>
          <p:nvPr/>
        </p:nvSpPr>
        <p:spPr>
          <a:xfrm>
            <a:off x="731520" y="1417320"/>
            <a:ext cx="6857640" cy="29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FFFFFF"/>
              </a:solidFill>
              <a:effectLst/>
              <a:uFillTx/>
              <a:latin typeface="Arial"/>
            </a:endParaRPr>
          </a:p>
        </p:txBody>
      </p:sp>
      <p:sp>
        <p:nvSpPr>
          <p:cNvPr id="11" name="Text 1"/>
          <p:cNvSpPr/>
          <p:nvPr/>
        </p:nvSpPr>
        <p:spPr>
          <a:xfrm>
            <a:off x="731520" y="1828800"/>
            <a:ext cx="7040520" cy="1782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5000" b="1" u="none" strike="noStrike">
                <a:solidFill>
                  <a:srgbClr val="FFFFFF"/>
                </a:solidFill>
                <a:effectLst/>
                <a:uFillTx/>
                <a:latin typeface="Arial"/>
                <a:ea typeface="Arial"/>
              </a:rPr>
              <a:t>Aluguel </a:t>
            </a:r>
            <a:r>
              <a:rPr lang="pt-BR" sz="5000" b="1" u="none" strike="noStrike">
                <a:solidFill>
                  <a:srgbClr val="FFFFFF"/>
                </a:solidFill>
                <a:effectLst/>
                <a:uFillTx/>
                <a:latin typeface="Arial"/>
                <a:ea typeface="Arial"/>
              </a:rPr>
              <a:t>de Carros</a:t>
            </a:r>
            <a:endParaRPr lang="en-US" sz="5000" b="0" u="none" strike="noStrike">
              <a:solidFill>
                <a:srgbClr val="FFFFFF"/>
              </a:solidFill>
              <a:effectLst/>
              <a:uFillTx/>
              <a:latin typeface="Arial"/>
            </a:endParaRPr>
          </a:p>
          <a:p>
            <a:pPr defTabSz="914400">
              <a:lnSpc>
                <a:spcPct val="100000"/>
              </a:lnSpc>
              <a:tabLst>
                <a:tab pos="0" algn="l"/>
              </a:tabLst>
            </a:pPr>
            <a:r>
              <a:rPr lang="pt-BR" sz="5000" b="1" u="none" strike="noStrike">
                <a:solidFill>
                  <a:srgbClr val="FFFFFF"/>
                </a:solidFill>
                <a:effectLst/>
                <a:uFillTx/>
                <a:latin typeface="Arial"/>
                <a:ea typeface="Arial"/>
              </a:rPr>
              <a:t>com </a:t>
            </a:r>
            <a:r>
              <a:rPr lang="pt-BR" sz="5000" b="1" u="none" strike="noStrike">
                <a:solidFill>
                  <a:srgbClr val="FFFFFF"/>
                </a:solidFill>
                <a:effectLst/>
                <a:uFillTx/>
                <a:latin typeface="Arial"/>
                <a:ea typeface="Arial"/>
              </a:rPr>
              <a:t>Blockchai</a:t>
            </a:r>
            <a:r>
              <a:rPr lang="pt-BR" sz="5000" b="1" u="none" strike="noStrike">
                <a:solidFill>
                  <a:srgbClr val="FFFFFF"/>
                </a:solidFill>
                <a:effectLst/>
                <a:uFillTx/>
                <a:latin typeface="Arial"/>
                <a:ea typeface="Arial"/>
              </a:rPr>
              <a:t>n</a:t>
            </a:r>
            <a:endParaRPr lang="en-US" sz="5000" b="0" u="none" strike="noStrike">
              <a:solidFill>
                <a:srgbClr val="FFFFFF"/>
              </a:solidFill>
              <a:effectLst/>
              <a:uFillTx/>
              <a:latin typeface="Arial"/>
            </a:endParaRPr>
          </a:p>
        </p:txBody>
      </p:sp>
      <p:sp>
        <p:nvSpPr>
          <p:cNvPr id="12" name="Text 2"/>
          <p:cNvSpPr/>
          <p:nvPr/>
        </p:nvSpPr>
        <p:spPr>
          <a:xfrm>
            <a:off x="731520" y="3794760"/>
            <a:ext cx="6857640" cy="776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2100" b="0" u="none" strike="noStrike">
                <a:solidFill>
                  <a:srgbClr val="C9D1D9"/>
                </a:solidFill>
                <a:effectLst/>
                <a:uFillTx/>
                <a:latin typeface="Calibri"/>
                <a:ea typeface="Calibri"/>
              </a:rPr>
              <a:t>Garantias tokenizadas em </a:t>
            </a:r>
            <a:r>
              <a:rPr lang="pt-BR" sz="2100" b="0" u="none" strike="noStrike">
                <a:solidFill>
                  <a:srgbClr val="C9D1D9"/>
                </a:solidFill>
                <a:effectLst/>
                <a:uFillTx/>
                <a:latin typeface="Calibri"/>
                <a:ea typeface="Calibri"/>
              </a:rPr>
              <a:t>uma blockchain</a:t>
            </a:r>
            <a:endParaRPr lang="en-US" sz="2100" b="0" u="none" strike="noStrike">
              <a:solidFill>
                <a:srgbClr val="FFFFFF"/>
              </a:solidFill>
              <a:effectLst/>
              <a:uFillTx/>
              <a:latin typeface="Arial"/>
            </a:endParaRPr>
          </a:p>
          <a:p>
            <a:pPr defTabSz="914400">
              <a:lnSpc>
                <a:spcPct val="100000"/>
              </a:lnSpc>
              <a:tabLst>
                <a:tab pos="0" algn="l"/>
              </a:tabLst>
            </a:pPr>
            <a:endParaRPr lang="en-US" sz="2100" b="0" u="none" strike="noStrike">
              <a:solidFill>
                <a:srgbClr val="FFFFFF"/>
              </a:solidFill>
              <a:effectLst/>
              <a:uFillTx/>
              <a:latin typeface="Arial"/>
            </a:endParaRPr>
          </a:p>
        </p:txBody>
      </p:sp>
      <p:sp>
        <p:nvSpPr>
          <p:cNvPr id="13" name="Text 3"/>
          <p:cNvSpPr/>
          <p:nvPr/>
        </p:nvSpPr>
        <p:spPr>
          <a:xfrm>
            <a:off x="731520" y="4892040"/>
            <a:ext cx="548604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8B96A1"/>
                </a:solidFill>
                <a:effectLst/>
                <a:uFillTx/>
                <a:latin typeface="Calibri"/>
                <a:ea typeface="Calibri"/>
              </a:rPr>
              <a:t>Wanderberg de Melo Santana</a:t>
            </a:r>
            <a:endParaRPr lang="en-US" sz="1500" b="0" u="none" strike="noStrike">
              <a:solidFill>
                <a:srgbClr val="FFFFFF"/>
              </a:solidFill>
              <a:effectLst/>
              <a:uFillTx/>
              <a:latin typeface="Arial"/>
            </a:endParaRPr>
          </a:p>
        </p:txBody>
      </p:sp>
      <p:sp>
        <p:nvSpPr>
          <p:cNvPr id="14" name="Shape 4"/>
          <p:cNvSpPr/>
          <p:nvPr/>
        </p:nvSpPr>
        <p:spPr>
          <a:xfrm>
            <a:off x="8732520" y="1005840"/>
            <a:ext cx="1919880" cy="1919880"/>
          </a:xfrm>
          <a:prstGeom prst="ellipse">
            <a:avLst/>
          </a:prstGeom>
          <a:solidFill>
            <a:srgbClr val="F2A900"/>
          </a:solidFill>
          <a:ln w="9525">
            <a:solidFill>
              <a:srgbClr val="F2A9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5" name="Image 0" descr="preencoded.png"/>
          <p:cNvPicPr/>
          <p:nvPr/>
        </p:nvPicPr>
        <p:blipFill>
          <a:blip r:embed="rId1"/>
          <a:stretch/>
        </p:blipFill>
        <p:spPr>
          <a:xfrm>
            <a:off x="9212760" y="1486080"/>
            <a:ext cx="959760" cy="959760"/>
          </a:xfrm>
          <a:prstGeom prst="rect">
            <a:avLst/>
          </a:prstGeom>
          <a:noFill/>
          <a:ln w="0">
            <a:noFill/>
          </a:ln>
        </p:spPr>
      </p:pic>
      <p:sp>
        <p:nvSpPr>
          <p:cNvPr id="16" name="Shape 5"/>
          <p:cNvSpPr/>
          <p:nvPr/>
        </p:nvSpPr>
        <p:spPr>
          <a:xfrm>
            <a:off x="7818120" y="3749040"/>
            <a:ext cx="1005480" cy="1005480"/>
          </a:xfrm>
          <a:prstGeom prst="roundRect">
            <a:avLst>
              <a:gd name="adj" fmla="val 7273"/>
            </a:avLst>
          </a:prstGeom>
          <a:solidFill>
            <a:srgbClr val="2A3138"/>
          </a:solidFill>
          <a:ln w="19050">
            <a:solidFill>
              <a:srgbClr val="00ADD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 name="Text 6"/>
          <p:cNvSpPr/>
          <p:nvPr/>
        </p:nvSpPr>
        <p:spPr>
          <a:xfrm>
            <a:off x="7818120" y="3749040"/>
            <a:ext cx="100548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00ADD8"/>
                </a:solidFill>
                <a:effectLst/>
                <a:uFillTx/>
                <a:latin typeface="Courier New"/>
                <a:ea typeface="Courier New"/>
              </a:rPr>
              <a:t>#1</a:t>
            </a:r>
            <a:endParaRPr lang="en-US" sz="1800" b="0" u="none" strike="noStrike">
              <a:solidFill>
                <a:srgbClr val="FFFFFF"/>
              </a:solidFill>
              <a:effectLst/>
              <a:uFillTx/>
              <a:latin typeface="Arial"/>
            </a:endParaRPr>
          </a:p>
        </p:txBody>
      </p:sp>
      <p:sp>
        <p:nvSpPr>
          <p:cNvPr id="18" name="Shape 7"/>
          <p:cNvSpPr/>
          <p:nvPr/>
        </p:nvSpPr>
        <p:spPr>
          <a:xfrm>
            <a:off x="9098280" y="3749040"/>
            <a:ext cx="1005480" cy="1005480"/>
          </a:xfrm>
          <a:prstGeom prst="roundRect">
            <a:avLst>
              <a:gd name="adj" fmla="val 7273"/>
            </a:avLst>
          </a:prstGeom>
          <a:solidFill>
            <a:srgbClr val="2A3138"/>
          </a:solidFill>
          <a:ln w="19050">
            <a:solidFill>
              <a:srgbClr val="00ADD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 name="Text 8"/>
          <p:cNvSpPr/>
          <p:nvPr/>
        </p:nvSpPr>
        <p:spPr>
          <a:xfrm>
            <a:off x="9098280" y="3749040"/>
            <a:ext cx="100548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00ADD8"/>
                </a:solidFill>
                <a:effectLst/>
                <a:uFillTx/>
                <a:latin typeface="Courier New"/>
                <a:ea typeface="Courier New"/>
              </a:rPr>
              <a:t>#2</a:t>
            </a:r>
            <a:endParaRPr lang="en-US" sz="1800" b="0" u="none" strike="noStrike">
              <a:solidFill>
                <a:srgbClr val="FFFFFF"/>
              </a:solidFill>
              <a:effectLst/>
              <a:uFillTx/>
              <a:latin typeface="Arial"/>
            </a:endParaRPr>
          </a:p>
        </p:txBody>
      </p:sp>
      <p:sp>
        <p:nvSpPr>
          <p:cNvPr id="20" name="Shape 9"/>
          <p:cNvSpPr/>
          <p:nvPr/>
        </p:nvSpPr>
        <p:spPr>
          <a:xfrm>
            <a:off x="8823960" y="4251960"/>
            <a:ext cx="274320" cy="360"/>
          </a:xfrm>
          <a:prstGeom prst="line">
            <a:avLst/>
          </a:prstGeom>
          <a:ln w="25400">
            <a:solidFill>
              <a:srgbClr val="00ADD8"/>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1" name="Shape 10"/>
          <p:cNvSpPr/>
          <p:nvPr/>
        </p:nvSpPr>
        <p:spPr>
          <a:xfrm>
            <a:off x="10378440" y="3749040"/>
            <a:ext cx="1005480" cy="1005480"/>
          </a:xfrm>
          <a:prstGeom prst="roundRect">
            <a:avLst>
              <a:gd name="adj" fmla="val 7273"/>
            </a:avLst>
          </a:prstGeom>
          <a:solidFill>
            <a:srgbClr val="2A3138"/>
          </a:solidFill>
          <a:ln w="19050">
            <a:solidFill>
              <a:srgbClr val="00ADD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 name="Text 11"/>
          <p:cNvSpPr/>
          <p:nvPr/>
        </p:nvSpPr>
        <p:spPr>
          <a:xfrm>
            <a:off x="10378440" y="3749040"/>
            <a:ext cx="1005480" cy="100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00ADD8"/>
                </a:solidFill>
                <a:effectLst/>
                <a:uFillTx/>
                <a:latin typeface="Courier New"/>
                <a:ea typeface="Courier New"/>
              </a:rPr>
              <a:t>#3</a:t>
            </a:r>
            <a:endParaRPr lang="en-US" sz="1800" b="0" u="none" strike="noStrike">
              <a:solidFill>
                <a:srgbClr val="FFFFFF"/>
              </a:solidFill>
              <a:effectLst/>
              <a:uFillTx/>
              <a:latin typeface="Arial"/>
            </a:endParaRPr>
          </a:p>
        </p:txBody>
      </p:sp>
      <p:sp>
        <p:nvSpPr>
          <p:cNvPr id="23" name="Shape 12"/>
          <p:cNvSpPr/>
          <p:nvPr/>
        </p:nvSpPr>
        <p:spPr>
          <a:xfrm>
            <a:off x="10104120" y="4251960"/>
            <a:ext cx="274320" cy="360"/>
          </a:xfrm>
          <a:prstGeom prst="line">
            <a:avLst/>
          </a:prstGeom>
          <a:ln w="25400">
            <a:solidFill>
              <a:srgbClr val="00ADD8"/>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24" name="Shape 13"/>
          <p:cNvSpPr/>
          <p:nvPr/>
        </p:nvSpPr>
        <p:spPr>
          <a:xfrm>
            <a:off x="9692640" y="2926080"/>
            <a:ext cx="360" cy="822960"/>
          </a:xfrm>
          <a:prstGeom prst="line">
            <a:avLst/>
          </a:prstGeom>
          <a:ln w="25400">
            <a:solidFill>
              <a:srgbClr val="F2A900"/>
            </a:solidFill>
            <a:prstDash val="dash"/>
            <a:round/>
          </a:ln>
        </p:spPr>
        <p:style>
          <a:lnRef idx="0"/>
          <a:fillRef idx="0"/>
          <a:effectRef idx="0"/>
          <a:fontRef idx="minor"/>
        </p:style>
        <p:txBody>
          <a:bodyPr lIns="90000" tIns="45000" rIns="90000" bIns="45000" anchor="t" anchorCtr="1">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AGENDA</a:t>
            </a:r>
            <a:endParaRPr lang="en-US" sz="1100" b="0" u="none" strike="noStrike">
              <a:solidFill>
                <a:srgbClr val="000000"/>
              </a:solidFill>
              <a:effectLst/>
              <a:uFillTx/>
              <a:latin typeface="Arial"/>
            </a:endParaRPr>
          </a:p>
        </p:txBody>
      </p:sp>
      <p:sp>
        <p:nvSpPr>
          <p:cNvPr id="26"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O que </a:t>
            </a:r>
            <a:r>
              <a:rPr lang="pt-BR" sz="3200" b="1" u="none" strike="noStrike">
                <a:solidFill>
                  <a:srgbClr val="1E2328"/>
                </a:solidFill>
                <a:effectLst/>
                <a:uFillTx/>
                <a:latin typeface="Arial"/>
                <a:ea typeface="Arial"/>
              </a:rPr>
              <a:t>vamos </a:t>
            </a:r>
            <a:r>
              <a:rPr lang="pt-BR" sz="3200" b="1" u="none" strike="noStrike">
                <a:solidFill>
                  <a:srgbClr val="1E2328"/>
                </a:solidFill>
                <a:effectLst/>
                <a:uFillTx/>
                <a:latin typeface="Arial"/>
                <a:ea typeface="Arial"/>
              </a:rPr>
              <a:t>ver</a:t>
            </a:r>
            <a:endParaRPr lang="en-US" sz="3200" b="0" u="none" strike="noStrike">
              <a:solidFill>
                <a:srgbClr val="000000"/>
              </a:solidFill>
              <a:effectLst/>
              <a:uFillTx/>
              <a:latin typeface="Arial"/>
            </a:endParaRPr>
          </a:p>
        </p:txBody>
      </p:sp>
      <p:sp>
        <p:nvSpPr>
          <p:cNvPr id="27"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2</a:t>
            </a:r>
            <a:endParaRPr lang="en-US" sz="1000" b="0" u="none" strike="noStrike">
              <a:solidFill>
                <a:srgbClr val="000000"/>
              </a:solidFill>
              <a:effectLst/>
              <a:uFillTx/>
              <a:latin typeface="Arial"/>
            </a:endParaRPr>
          </a:p>
        </p:txBody>
      </p:sp>
      <p:sp>
        <p:nvSpPr>
          <p:cNvPr id="28" name="Shape 3"/>
          <p:cNvSpPr/>
          <p:nvPr/>
        </p:nvSpPr>
        <p:spPr>
          <a:xfrm>
            <a:off x="548640" y="1783080"/>
            <a:ext cx="776880" cy="77688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 name="Text 4"/>
          <p:cNvSpPr/>
          <p:nvPr/>
        </p:nvSpPr>
        <p:spPr>
          <a:xfrm>
            <a:off x="548640" y="1783080"/>
            <a:ext cx="77688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01</a:t>
            </a:r>
            <a:endParaRPr lang="en-US" sz="1800" b="0" u="none" strike="noStrike">
              <a:solidFill>
                <a:srgbClr val="000000"/>
              </a:solidFill>
              <a:effectLst/>
              <a:uFillTx/>
              <a:latin typeface="Arial"/>
            </a:endParaRPr>
          </a:p>
        </p:txBody>
      </p:sp>
      <p:sp>
        <p:nvSpPr>
          <p:cNvPr id="30" name="Text 5"/>
          <p:cNvSpPr/>
          <p:nvPr/>
        </p:nvSpPr>
        <p:spPr>
          <a:xfrm>
            <a:off x="1600200" y="1801440"/>
            <a:ext cx="44802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Por que blockchain no </a:t>
            </a:r>
            <a:r>
              <a:rPr lang="pt-BR" sz="1900" b="1" u="none" strike="noStrike">
                <a:solidFill>
                  <a:srgbClr val="1E2328"/>
                </a:solidFill>
                <a:effectLst/>
                <a:uFillTx/>
                <a:latin typeface="Arial"/>
                <a:ea typeface="Arial"/>
              </a:rPr>
              <a:t>aluguel</a:t>
            </a:r>
            <a:endParaRPr lang="en-US" sz="1900" b="0" u="none" strike="noStrike">
              <a:solidFill>
                <a:srgbClr val="000000"/>
              </a:solidFill>
              <a:effectLst/>
              <a:uFillTx/>
              <a:latin typeface="Arial"/>
            </a:endParaRPr>
          </a:p>
        </p:txBody>
      </p:sp>
      <p:sp>
        <p:nvSpPr>
          <p:cNvPr id="31" name="Text 6"/>
          <p:cNvSpPr/>
          <p:nvPr/>
        </p:nvSpPr>
        <p:spPr>
          <a:xfrm>
            <a:off x="1600200" y="2212920"/>
            <a:ext cx="448020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Três </a:t>
            </a:r>
            <a:r>
              <a:rPr lang="pt-BR" sz="1500" b="0" u="none" strike="noStrike">
                <a:solidFill>
                  <a:srgbClr val="5F6B76"/>
                </a:solidFill>
                <a:effectLst/>
                <a:uFillTx/>
                <a:latin typeface="Calibri"/>
                <a:ea typeface="Calibri"/>
              </a:rPr>
              <a:t>problemas </a:t>
            </a:r>
            <a:r>
              <a:rPr lang="pt-BR" sz="1500" b="0" u="none" strike="noStrike">
                <a:solidFill>
                  <a:srgbClr val="5F6B76"/>
                </a:solidFill>
                <a:effectLst/>
                <a:uFillTx/>
                <a:latin typeface="Calibri"/>
                <a:ea typeface="Calibri"/>
              </a:rPr>
              <a:t>de </a:t>
            </a:r>
            <a:r>
              <a:rPr lang="pt-BR" sz="1500" b="0" u="none" strike="noStrike">
                <a:solidFill>
                  <a:srgbClr val="5F6B76"/>
                </a:solidFill>
                <a:effectLst/>
                <a:uFillTx/>
                <a:latin typeface="Calibri"/>
                <a:ea typeface="Calibri"/>
              </a:rPr>
              <a:t>confiança </a:t>
            </a:r>
            <a:r>
              <a:rPr lang="pt-BR" sz="1500" b="0" u="none" strike="noStrike">
                <a:solidFill>
                  <a:srgbClr val="5F6B76"/>
                </a:solidFill>
                <a:effectLst/>
                <a:uFillTx/>
                <a:latin typeface="Calibri"/>
                <a:ea typeface="Calibri"/>
              </a:rPr>
              <a:t>que a </a:t>
            </a:r>
            <a:r>
              <a:rPr lang="pt-BR" sz="1500" b="0" u="none" strike="noStrike">
                <a:solidFill>
                  <a:srgbClr val="5F6B76"/>
                </a:solidFill>
                <a:effectLst/>
                <a:uFillTx/>
                <a:latin typeface="Calibri"/>
                <a:ea typeface="Calibri"/>
              </a:rPr>
              <a:t>blockchain </a:t>
            </a:r>
            <a:r>
              <a:rPr lang="pt-BR" sz="1500" b="0" u="none" strike="noStrike">
                <a:solidFill>
                  <a:srgbClr val="5F6B76"/>
                </a:solidFill>
                <a:effectLst/>
                <a:uFillTx/>
                <a:latin typeface="Calibri"/>
                <a:ea typeface="Calibri"/>
              </a:rPr>
              <a:t>resolve</a:t>
            </a:r>
            <a:endParaRPr lang="en-US" sz="1500" b="0" u="none" strike="noStrike">
              <a:solidFill>
                <a:srgbClr val="000000"/>
              </a:solidFill>
              <a:effectLst/>
              <a:uFillTx/>
              <a:latin typeface="Arial"/>
            </a:endParaRPr>
          </a:p>
        </p:txBody>
      </p:sp>
      <p:sp>
        <p:nvSpPr>
          <p:cNvPr id="32" name="Shape 7"/>
          <p:cNvSpPr/>
          <p:nvPr/>
        </p:nvSpPr>
        <p:spPr>
          <a:xfrm>
            <a:off x="6217920" y="1783080"/>
            <a:ext cx="776880" cy="77688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 name="Text 8"/>
          <p:cNvSpPr/>
          <p:nvPr/>
        </p:nvSpPr>
        <p:spPr>
          <a:xfrm>
            <a:off x="6217920" y="1783080"/>
            <a:ext cx="77688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02</a:t>
            </a:r>
            <a:endParaRPr lang="en-US" sz="1800" b="0" u="none" strike="noStrike">
              <a:solidFill>
                <a:srgbClr val="000000"/>
              </a:solidFill>
              <a:effectLst/>
              <a:uFillTx/>
              <a:latin typeface="Arial"/>
            </a:endParaRPr>
          </a:p>
        </p:txBody>
      </p:sp>
      <p:sp>
        <p:nvSpPr>
          <p:cNvPr id="34" name="Text 9"/>
          <p:cNvSpPr/>
          <p:nvPr/>
        </p:nvSpPr>
        <p:spPr>
          <a:xfrm>
            <a:off x="7269480" y="1801440"/>
            <a:ext cx="44802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Arquitet</a:t>
            </a:r>
            <a:r>
              <a:rPr lang="pt-BR" sz="1900" b="1" u="none" strike="noStrike">
                <a:solidFill>
                  <a:srgbClr val="1E2328"/>
                </a:solidFill>
                <a:effectLst/>
                <a:uFillTx/>
                <a:latin typeface="Arial"/>
                <a:ea typeface="Arial"/>
              </a:rPr>
              <a:t>ura</a:t>
            </a:r>
            <a:endParaRPr lang="en-US" sz="1900" b="0" u="none" strike="noStrike">
              <a:solidFill>
                <a:srgbClr val="000000"/>
              </a:solidFill>
              <a:effectLst/>
              <a:uFillTx/>
              <a:latin typeface="Arial"/>
            </a:endParaRPr>
          </a:p>
        </p:txBody>
      </p:sp>
      <p:sp>
        <p:nvSpPr>
          <p:cNvPr id="35" name="Text 10"/>
          <p:cNvSpPr/>
          <p:nvPr/>
        </p:nvSpPr>
        <p:spPr>
          <a:xfrm>
            <a:off x="7269480" y="2212920"/>
            <a:ext cx="448020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Atores, o nó </a:t>
            </a:r>
            <a:r>
              <a:rPr lang="pt-BR" sz="1500" b="0" u="none" strike="noStrike">
                <a:solidFill>
                  <a:srgbClr val="5F6B76"/>
                </a:solidFill>
                <a:effectLst/>
                <a:uFillTx/>
                <a:latin typeface="Calibri"/>
                <a:ea typeface="Calibri"/>
              </a:rPr>
              <a:t>em Go, </a:t>
            </a:r>
            <a:r>
              <a:rPr lang="pt-BR" sz="1500" b="0" u="none" strike="noStrike">
                <a:solidFill>
                  <a:srgbClr val="5F6B76"/>
                </a:solidFill>
                <a:effectLst/>
                <a:uFillTx/>
                <a:latin typeface="Calibri"/>
                <a:ea typeface="Calibri"/>
              </a:rPr>
              <a:t>transações </a:t>
            </a:r>
            <a:r>
              <a:rPr lang="pt-BR" sz="1500" b="0" u="none" strike="noStrike">
                <a:solidFill>
                  <a:srgbClr val="5F6B76"/>
                </a:solidFill>
                <a:effectLst/>
                <a:uFillTx/>
                <a:latin typeface="Calibri"/>
                <a:ea typeface="Calibri"/>
              </a:rPr>
              <a:t>e blocos</a:t>
            </a:r>
            <a:endParaRPr lang="en-US" sz="1500" b="0" u="none" strike="noStrike">
              <a:solidFill>
                <a:srgbClr val="000000"/>
              </a:solidFill>
              <a:effectLst/>
              <a:uFillTx/>
              <a:latin typeface="Arial"/>
            </a:endParaRPr>
          </a:p>
        </p:txBody>
      </p:sp>
      <p:sp>
        <p:nvSpPr>
          <p:cNvPr id="36" name="Shape 11"/>
          <p:cNvSpPr/>
          <p:nvPr/>
        </p:nvSpPr>
        <p:spPr>
          <a:xfrm>
            <a:off x="548640" y="3246120"/>
            <a:ext cx="776880" cy="77688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Text 12"/>
          <p:cNvSpPr/>
          <p:nvPr/>
        </p:nvSpPr>
        <p:spPr>
          <a:xfrm>
            <a:off x="548640" y="3246120"/>
            <a:ext cx="77688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03</a:t>
            </a:r>
            <a:endParaRPr lang="en-US" sz="1800" b="0" u="none" strike="noStrike">
              <a:solidFill>
                <a:srgbClr val="000000"/>
              </a:solidFill>
              <a:effectLst/>
              <a:uFillTx/>
              <a:latin typeface="Arial"/>
            </a:endParaRPr>
          </a:p>
        </p:txBody>
      </p:sp>
      <p:sp>
        <p:nvSpPr>
          <p:cNvPr id="38" name="Text 13"/>
          <p:cNvSpPr/>
          <p:nvPr/>
        </p:nvSpPr>
        <p:spPr>
          <a:xfrm>
            <a:off x="1600200" y="3264480"/>
            <a:ext cx="44802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Tokenização</a:t>
            </a:r>
            <a:endParaRPr lang="en-US" sz="1900" b="0" u="none" strike="noStrike">
              <a:solidFill>
                <a:srgbClr val="000000"/>
              </a:solidFill>
              <a:effectLst/>
              <a:uFillTx/>
              <a:latin typeface="Arial"/>
            </a:endParaRPr>
          </a:p>
        </p:txBody>
      </p:sp>
      <p:sp>
        <p:nvSpPr>
          <p:cNvPr id="39" name="Text 14"/>
          <p:cNvSpPr/>
          <p:nvPr/>
        </p:nvSpPr>
        <p:spPr>
          <a:xfrm>
            <a:off x="1600200" y="3675960"/>
            <a:ext cx="448020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Carros, garantias e depósitos como tokens</a:t>
            </a:r>
            <a:endParaRPr lang="en-US" sz="1500" b="0" u="none" strike="noStrike">
              <a:solidFill>
                <a:srgbClr val="000000"/>
              </a:solidFill>
              <a:effectLst/>
              <a:uFillTx/>
              <a:latin typeface="Arial"/>
            </a:endParaRPr>
          </a:p>
        </p:txBody>
      </p:sp>
      <p:sp>
        <p:nvSpPr>
          <p:cNvPr id="40" name="Shape 15"/>
          <p:cNvSpPr/>
          <p:nvPr/>
        </p:nvSpPr>
        <p:spPr>
          <a:xfrm>
            <a:off x="6217920" y="3246120"/>
            <a:ext cx="776880" cy="77688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Text 16"/>
          <p:cNvSpPr/>
          <p:nvPr/>
        </p:nvSpPr>
        <p:spPr>
          <a:xfrm>
            <a:off x="6217920" y="3246120"/>
            <a:ext cx="77688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04</a:t>
            </a:r>
            <a:endParaRPr lang="en-US" sz="1800" b="0" u="none" strike="noStrike">
              <a:solidFill>
                <a:srgbClr val="000000"/>
              </a:solidFill>
              <a:effectLst/>
              <a:uFillTx/>
              <a:latin typeface="Arial"/>
            </a:endParaRPr>
          </a:p>
        </p:txBody>
      </p:sp>
      <p:sp>
        <p:nvSpPr>
          <p:cNvPr id="42" name="Text 17"/>
          <p:cNvSpPr/>
          <p:nvPr/>
        </p:nvSpPr>
        <p:spPr>
          <a:xfrm>
            <a:off x="7269480" y="3264480"/>
            <a:ext cx="44802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Stack </a:t>
            </a:r>
            <a:endParaRPr lang="en-US" sz="1900" b="0" u="none" strike="noStrike">
              <a:solidFill>
                <a:srgbClr val="000000"/>
              </a:solidFill>
              <a:effectLst/>
              <a:uFillTx/>
              <a:latin typeface="Arial"/>
            </a:endParaRPr>
          </a:p>
        </p:txBody>
      </p:sp>
      <p:sp>
        <p:nvSpPr>
          <p:cNvPr id="43" name="Text 18"/>
          <p:cNvSpPr/>
          <p:nvPr/>
        </p:nvSpPr>
        <p:spPr>
          <a:xfrm>
            <a:off x="7269480" y="3675960"/>
            <a:ext cx="448020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Com o que cada camada é feita e como roda</a:t>
            </a:r>
            <a:endParaRPr lang="en-US" sz="1500" b="0" u="none" strike="noStrike">
              <a:solidFill>
                <a:srgbClr val="000000"/>
              </a:solidFill>
              <a:effectLst/>
              <a:uFillTx/>
              <a:latin typeface="Arial"/>
            </a:endParaRPr>
          </a:p>
        </p:txBody>
      </p:sp>
      <p:sp>
        <p:nvSpPr>
          <p:cNvPr id="44" name="Shape 19"/>
          <p:cNvSpPr/>
          <p:nvPr/>
        </p:nvSpPr>
        <p:spPr>
          <a:xfrm>
            <a:off x="548640" y="4709160"/>
            <a:ext cx="776880" cy="77688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 name="Text 20"/>
          <p:cNvSpPr/>
          <p:nvPr/>
        </p:nvSpPr>
        <p:spPr>
          <a:xfrm>
            <a:off x="548640" y="4709160"/>
            <a:ext cx="77688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05</a:t>
            </a:r>
            <a:endParaRPr lang="en-US" sz="1800" b="0" u="none" strike="noStrike">
              <a:solidFill>
                <a:srgbClr val="000000"/>
              </a:solidFill>
              <a:effectLst/>
              <a:uFillTx/>
              <a:latin typeface="Arial"/>
            </a:endParaRPr>
          </a:p>
        </p:txBody>
      </p:sp>
      <p:sp>
        <p:nvSpPr>
          <p:cNvPr id="46" name="Text 21"/>
          <p:cNvSpPr/>
          <p:nvPr/>
        </p:nvSpPr>
        <p:spPr>
          <a:xfrm>
            <a:off x="1600200" y="4727520"/>
            <a:ext cx="44802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Por que Go</a:t>
            </a:r>
            <a:endParaRPr lang="en-US" sz="1900" b="0" u="none" strike="noStrike">
              <a:solidFill>
                <a:srgbClr val="000000"/>
              </a:solidFill>
              <a:effectLst/>
              <a:uFillTx/>
              <a:latin typeface="Arial"/>
            </a:endParaRPr>
          </a:p>
        </p:txBody>
      </p:sp>
      <p:sp>
        <p:nvSpPr>
          <p:cNvPr id="47" name="Text 22"/>
          <p:cNvSpPr/>
          <p:nvPr/>
        </p:nvSpPr>
        <p:spPr>
          <a:xfrm>
            <a:off x="1600200" y="5139000"/>
            <a:ext cx="448020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Uma linguagem para cadeia, contrato e ferramentas</a:t>
            </a:r>
            <a:endParaRPr lang="en-US" sz="1500" b="0" u="none" strike="noStrike">
              <a:solidFill>
                <a:srgbClr val="000000"/>
              </a:solidFill>
              <a:effectLst/>
              <a:uFillTx/>
              <a:latin typeface="Arial"/>
            </a:endParaRPr>
          </a:p>
        </p:txBody>
      </p:sp>
      <p:sp>
        <p:nvSpPr>
          <p:cNvPr id="48" name="Shape 23"/>
          <p:cNvSpPr/>
          <p:nvPr/>
        </p:nvSpPr>
        <p:spPr>
          <a:xfrm>
            <a:off x="6217920" y="4709160"/>
            <a:ext cx="776880" cy="77688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 name="Text 24"/>
          <p:cNvSpPr/>
          <p:nvPr/>
        </p:nvSpPr>
        <p:spPr>
          <a:xfrm>
            <a:off x="6217920" y="4709160"/>
            <a:ext cx="776880" cy="776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06</a:t>
            </a:r>
            <a:endParaRPr lang="en-US" sz="1800" b="0" u="none" strike="noStrike">
              <a:solidFill>
                <a:srgbClr val="000000"/>
              </a:solidFill>
              <a:effectLst/>
              <a:uFillTx/>
              <a:latin typeface="Arial"/>
            </a:endParaRPr>
          </a:p>
        </p:txBody>
      </p:sp>
      <p:sp>
        <p:nvSpPr>
          <p:cNvPr id="50" name="Text 25"/>
          <p:cNvSpPr/>
          <p:nvPr/>
        </p:nvSpPr>
        <p:spPr>
          <a:xfrm>
            <a:off x="7269480" y="4727520"/>
            <a:ext cx="44802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Complementos</a:t>
            </a:r>
            <a:endParaRPr lang="en-US" sz="1900" b="0" u="none" strike="noStrike">
              <a:solidFill>
                <a:srgbClr val="000000"/>
              </a:solidFill>
              <a:effectLst/>
              <a:uFillTx/>
              <a:latin typeface="Arial"/>
            </a:endParaRPr>
          </a:p>
        </p:txBody>
      </p:sp>
      <p:sp>
        <p:nvSpPr>
          <p:cNvPr id="51" name="Text 26"/>
          <p:cNvSpPr/>
          <p:nvPr/>
        </p:nvSpPr>
        <p:spPr>
          <a:xfrm>
            <a:off x="7269480" y="5139000"/>
            <a:ext cx="448020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Dados on/off-chain, app web, demo, testes, limites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01 · POR QUE BLOCKCHAIN NO ALUGUEL DE CARROS</a:t>
            </a:r>
            <a:endParaRPr lang="en-US" sz="1100" b="0" u="none" strike="noStrike">
              <a:solidFill>
                <a:srgbClr val="000000"/>
              </a:solidFill>
              <a:effectLst/>
              <a:uFillTx/>
              <a:latin typeface="Arial"/>
            </a:endParaRPr>
          </a:p>
        </p:txBody>
      </p:sp>
      <p:sp>
        <p:nvSpPr>
          <p:cNvPr id="53"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Três pontos onde a locação com garantia falha</a:t>
            </a:r>
            <a:endParaRPr lang="en-US" sz="3200" b="0" u="none" strike="noStrike">
              <a:solidFill>
                <a:srgbClr val="000000"/>
              </a:solidFill>
              <a:effectLst/>
              <a:uFillTx/>
              <a:latin typeface="Arial"/>
            </a:endParaRPr>
          </a:p>
        </p:txBody>
      </p:sp>
      <p:sp>
        <p:nvSpPr>
          <p:cNvPr id="54"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3</a:t>
            </a:r>
            <a:endParaRPr lang="en-US" sz="1000" b="0" u="none" strike="noStrike">
              <a:solidFill>
                <a:srgbClr val="000000"/>
              </a:solidFill>
              <a:effectLst/>
              <a:uFillTx/>
              <a:latin typeface="Arial"/>
            </a:endParaRPr>
          </a:p>
        </p:txBody>
      </p:sp>
      <p:sp>
        <p:nvSpPr>
          <p:cNvPr id="55" name="Shape 3"/>
          <p:cNvSpPr/>
          <p:nvPr/>
        </p:nvSpPr>
        <p:spPr>
          <a:xfrm>
            <a:off x="548640" y="1645920"/>
            <a:ext cx="3484440" cy="2971440"/>
          </a:xfrm>
          <a:prstGeom prst="roundRect">
            <a:avLst>
              <a:gd name="adj" fmla="val 246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 name="Shape 4"/>
          <p:cNvSpPr/>
          <p:nvPr/>
        </p:nvSpPr>
        <p:spPr>
          <a:xfrm>
            <a:off x="822960" y="1920240"/>
            <a:ext cx="822600" cy="82260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7" name="Image 0" descr="preencoded.png"/>
          <p:cNvPicPr/>
          <p:nvPr/>
        </p:nvPicPr>
        <p:blipFill>
          <a:blip r:embed="rId1"/>
          <a:stretch/>
        </p:blipFill>
        <p:spPr>
          <a:xfrm>
            <a:off x="1020600" y="2117880"/>
            <a:ext cx="427680" cy="427680"/>
          </a:xfrm>
          <a:prstGeom prst="rect">
            <a:avLst/>
          </a:prstGeom>
          <a:noFill/>
          <a:ln w="0">
            <a:noFill/>
          </a:ln>
        </p:spPr>
      </p:pic>
      <p:sp>
        <p:nvSpPr>
          <p:cNvPr id="58" name="Text 5"/>
          <p:cNvSpPr/>
          <p:nvPr/>
        </p:nvSpPr>
        <p:spPr>
          <a:xfrm>
            <a:off x="822960" y="2853000"/>
            <a:ext cx="293580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1E2328"/>
                </a:solidFill>
                <a:effectLst/>
                <a:uFillTx/>
                <a:latin typeface="Arial"/>
                <a:ea typeface="Arial"/>
              </a:rPr>
              <a:t>Quem detém a garantia?</a:t>
            </a:r>
            <a:endParaRPr lang="en-US" sz="1700" b="0" u="none" strike="noStrike">
              <a:solidFill>
                <a:srgbClr val="000000"/>
              </a:solidFill>
              <a:effectLst/>
              <a:uFillTx/>
              <a:latin typeface="Arial"/>
            </a:endParaRPr>
          </a:p>
        </p:txBody>
      </p:sp>
      <p:sp>
        <p:nvSpPr>
          <p:cNvPr id="59" name="Text 6"/>
          <p:cNvSpPr/>
          <p:nvPr/>
        </p:nvSpPr>
        <p:spPr>
          <a:xfrm>
            <a:off x="822960" y="3584520"/>
            <a:ext cx="293580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60" name="Shape 7"/>
          <p:cNvSpPr/>
          <p:nvPr/>
        </p:nvSpPr>
        <p:spPr>
          <a:xfrm>
            <a:off x="4353480" y="1645920"/>
            <a:ext cx="3484440" cy="2971440"/>
          </a:xfrm>
          <a:prstGeom prst="roundRect">
            <a:avLst>
              <a:gd name="adj" fmla="val 246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 name="Shape 8"/>
          <p:cNvSpPr/>
          <p:nvPr/>
        </p:nvSpPr>
        <p:spPr>
          <a:xfrm>
            <a:off x="4627800" y="1920240"/>
            <a:ext cx="822600" cy="82260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2" name="Image 1" descr="preencoded.png"/>
          <p:cNvPicPr/>
          <p:nvPr/>
        </p:nvPicPr>
        <p:blipFill>
          <a:blip r:embed="rId2"/>
          <a:stretch/>
        </p:blipFill>
        <p:spPr>
          <a:xfrm>
            <a:off x="4825440" y="2117880"/>
            <a:ext cx="427680" cy="427680"/>
          </a:xfrm>
          <a:prstGeom prst="rect">
            <a:avLst/>
          </a:prstGeom>
          <a:noFill/>
          <a:ln w="0">
            <a:noFill/>
          </a:ln>
        </p:spPr>
      </p:pic>
      <p:sp>
        <p:nvSpPr>
          <p:cNvPr id="63" name="Text 9"/>
          <p:cNvSpPr/>
          <p:nvPr/>
        </p:nvSpPr>
        <p:spPr>
          <a:xfrm>
            <a:off x="4627800" y="2853000"/>
            <a:ext cx="293580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1E2328"/>
                </a:solidFill>
                <a:effectLst/>
                <a:uFillTx/>
                <a:latin typeface="Arial"/>
                <a:ea typeface="Arial"/>
              </a:rPr>
              <a:t>Em que estado estava o carro?</a:t>
            </a:r>
            <a:endParaRPr lang="en-US" sz="1700" b="0" u="none" strike="noStrike">
              <a:solidFill>
                <a:srgbClr val="000000"/>
              </a:solidFill>
              <a:effectLst/>
              <a:uFillTx/>
              <a:latin typeface="Arial"/>
            </a:endParaRPr>
          </a:p>
        </p:txBody>
      </p:sp>
      <p:sp>
        <p:nvSpPr>
          <p:cNvPr id="64" name="Text 10"/>
          <p:cNvSpPr/>
          <p:nvPr/>
        </p:nvSpPr>
        <p:spPr>
          <a:xfrm>
            <a:off x="4627800" y="3584520"/>
            <a:ext cx="293580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65" name="Shape 11"/>
          <p:cNvSpPr/>
          <p:nvPr/>
        </p:nvSpPr>
        <p:spPr>
          <a:xfrm>
            <a:off x="8158320" y="1645920"/>
            <a:ext cx="3484440" cy="2971440"/>
          </a:xfrm>
          <a:prstGeom prst="roundRect">
            <a:avLst>
              <a:gd name="adj" fmla="val 246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 name="Shape 12"/>
          <p:cNvSpPr/>
          <p:nvPr/>
        </p:nvSpPr>
        <p:spPr>
          <a:xfrm>
            <a:off x="8432640" y="1920240"/>
            <a:ext cx="822600" cy="82260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7" name="Image 2" descr="preencoded.png"/>
          <p:cNvPicPr/>
          <p:nvPr/>
        </p:nvPicPr>
        <p:blipFill>
          <a:blip r:embed="rId3"/>
          <a:stretch/>
        </p:blipFill>
        <p:spPr>
          <a:xfrm>
            <a:off x="8630280" y="2117880"/>
            <a:ext cx="427680" cy="427680"/>
          </a:xfrm>
          <a:prstGeom prst="rect">
            <a:avLst/>
          </a:prstGeom>
          <a:noFill/>
          <a:ln w="0">
            <a:noFill/>
          </a:ln>
        </p:spPr>
      </p:pic>
      <p:sp>
        <p:nvSpPr>
          <p:cNvPr id="68" name="Text 13"/>
          <p:cNvSpPr/>
          <p:nvPr/>
        </p:nvSpPr>
        <p:spPr>
          <a:xfrm>
            <a:off x="8432640" y="2853000"/>
            <a:ext cx="293580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1E2328"/>
                </a:solidFill>
                <a:effectLst/>
                <a:uFillTx/>
                <a:latin typeface="Arial"/>
                <a:ea typeface="Arial"/>
              </a:rPr>
              <a:t>Quem recebe quando algo dá errado?</a:t>
            </a:r>
            <a:endParaRPr lang="en-US" sz="1700" b="0" u="none" strike="noStrike">
              <a:solidFill>
                <a:srgbClr val="000000"/>
              </a:solidFill>
              <a:effectLst/>
              <a:uFillTx/>
              <a:latin typeface="Arial"/>
            </a:endParaRPr>
          </a:p>
        </p:txBody>
      </p:sp>
      <p:sp>
        <p:nvSpPr>
          <p:cNvPr id="69" name="Text 14"/>
          <p:cNvSpPr/>
          <p:nvPr/>
        </p:nvSpPr>
        <p:spPr>
          <a:xfrm>
            <a:off x="8432640" y="3584520"/>
            <a:ext cx="293580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70" name="Text 16"/>
          <p:cNvSpPr/>
          <p:nvPr/>
        </p:nvSpPr>
        <p:spPr>
          <a:xfrm>
            <a:off x="868680" y="5074920"/>
            <a:ext cx="548604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71" name="Text 17"/>
          <p:cNvSpPr/>
          <p:nvPr/>
        </p:nvSpPr>
        <p:spPr>
          <a:xfrm>
            <a:off x="868680" y="5349240"/>
            <a:ext cx="104540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a:endParaRPr>
          </a:p>
        </p:txBody>
      </p:sp>
      <p:sp>
        <p:nvSpPr>
          <p:cNvPr id="73"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Cada dor vira uma garantia do livro-razão</a:t>
            </a:r>
            <a:endParaRPr lang="en-US" sz="3200" b="0" u="none" strike="noStrike">
              <a:solidFill>
                <a:srgbClr val="000000"/>
              </a:solidFill>
              <a:effectLst/>
              <a:uFillTx/>
              <a:latin typeface="Arial"/>
            </a:endParaRPr>
          </a:p>
        </p:txBody>
      </p:sp>
      <p:sp>
        <p:nvSpPr>
          <p:cNvPr id="74"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4</a:t>
            </a:r>
            <a:endParaRPr lang="en-US" sz="1000" b="0" u="none" strike="noStrike">
              <a:solidFill>
                <a:srgbClr val="000000"/>
              </a:solidFill>
              <a:effectLst/>
              <a:uFillTx/>
              <a:latin typeface="Arial"/>
            </a:endParaRPr>
          </a:p>
        </p:txBody>
      </p:sp>
      <p:sp>
        <p:nvSpPr>
          <p:cNvPr id="75" name="Text 3"/>
          <p:cNvSpPr/>
          <p:nvPr/>
        </p:nvSpPr>
        <p:spPr>
          <a:xfrm>
            <a:off x="548640" y="1481400"/>
            <a:ext cx="365724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000" b="1" u="none" spc="201" strike="noStrike">
                <a:solidFill>
                  <a:srgbClr val="5F6B76"/>
                </a:solidFill>
                <a:effectLst/>
                <a:uFillTx/>
                <a:latin typeface="Arial"/>
                <a:ea typeface="Arial"/>
              </a:rPr>
              <a:t>HOJE</a:t>
            </a:r>
            <a:endParaRPr lang="en-US" sz="1000" b="0" u="none" strike="noStrike">
              <a:solidFill>
                <a:srgbClr val="000000"/>
              </a:solidFill>
              <a:effectLst/>
              <a:uFillTx/>
              <a:latin typeface="Arial"/>
            </a:endParaRPr>
          </a:p>
        </p:txBody>
      </p:sp>
      <p:sp>
        <p:nvSpPr>
          <p:cNvPr id="76" name="Text 4"/>
          <p:cNvSpPr/>
          <p:nvPr/>
        </p:nvSpPr>
        <p:spPr>
          <a:xfrm>
            <a:off x="6537960" y="1481400"/>
            <a:ext cx="3657240" cy="228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000" b="1" u="none" spc="201" strike="noStrike">
                <a:solidFill>
                  <a:srgbClr val="007D9C"/>
                </a:solidFill>
                <a:effectLst/>
                <a:uFillTx/>
                <a:latin typeface="Arial"/>
                <a:ea typeface="Arial"/>
              </a:rPr>
              <a:t>NO LIVRO-RAZÃO</a:t>
            </a:r>
            <a:endParaRPr lang="en-US" sz="1000" b="0" u="none" strike="noStrike">
              <a:solidFill>
                <a:srgbClr val="000000"/>
              </a:solidFill>
              <a:effectLst/>
              <a:uFillTx/>
              <a:latin typeface="Arial"/>
            </a:endParaRPr>
          </a:p>
        </p:txBody>
      </p:sp>
      <p:sp>
        <p:nvSpPr>
          <p:cNvPr id="77" name="Shape 5"/>
          <p:cNvSpPr/>
          <p:nvPr/>
        </p:nvSpPr>
        <p:spPr>
          <a:xfrm>
            <a:off x="548640" y="1783080"/>
            <a:ext cx="5074560" cy="959760"/>
          </a:xfrm>
          <a:prstGeom prst="roundRect">
            <a:avLst>
              <a:gd name="adj" fmla="val 761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 name="Text 6"/>
          <p:cNvSpPr/>
          <p:nvPr/>
        </p:nvSpPr>
        <p:spPr>
          <a:xfrm>
            <a:off x="777240" y="1920240"/>
            <a:ext cx="46630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A garantia fica nos registros de uma só parte</a:t>
            </a:r>
            <a:endParaRPr lang="en-US" sz="1500" b="0" u="none" strike="noStrike">
              <a:solidFill>
                <a:srgbClr val="000000"/>
              </a:solidFill>
              <a:effectLst/>
              <a:uFillTx/>
              <a:latin typeface="Arial"/>
            </a:endParaRPr>
          </a:p>
        </p:txBody>
      </p:sp>
      <p:sp>
        <p:nvSpPr>
          <p:cNvPr id="79" name="Text 7"/>
          <p:cNvSpPr/>
          <p:nvPr/>
        </p:nvSpPr>
        <p:spPr>
          <a:xfrm>
            <a:off x="777240" y="2258640"/>
            <a:ext cx="4663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Item empenhado duas vezes, ou dado como não devolvido</a:t>
            </a:r>
            <a:endParaRPr lang="en-US" sz="1350" b="0" u="none" strike="noStrike">
              <a:solidFill>
                <a:srgbClr val="000000"/>
              </a:solidFill>
              <a:effectLst/>
              <a:uFillTx/>
              <a:latin typeface="Arial"/>
            </a:endParaRPr>
          </a:p>
        </p:txBody>
      </p:sp>
      <p:sp>
        <p:nvSpPr>
          <p:cNvPr id="80" name="Shape 8"/>
          <p:cNvSpPr/>
          <p:nvPr/>
        </p:nvSpPr>
        <p:spPr>
          <a:xfrm>
            <a:off x="5824800" y="2002680"/>
            <a:ext cx="511560" cy="511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1" name="Image 0" descr="preencoded.png"/>
          <p:cNvPicPr/>
          <p:nvPr/>
        </p:nvPicPr>
        <p:blipFill>
          <a:blip r:embed="rId1"/>
          <a:stretch/>
        </p:blipFill>
        <p:spPr>
          <a:xfrm>
            <a:off x="5963040" y="2140920"/>
            <a:ext cx="235080" cy="235080"/>
          </a:xfrm>
          <a:prstGeom prst="rect">
            <a:avLst/>
          </a:prstGeom>
          <a:noFill/>
          <a:ln w="0">
            <a:noFill/>
          </a:ln>
        </p:spPr>
      </p:pic>
      <p:sp>
        <p:nvSpPr>
          <p:cNvPr id="82" name="Shape 9"/>
          <p:cNvSpPr/>
          <p:nvPr/>
        </p:nvSpPr>
        <p:spPr>
          <a:xfrm>
            <a:off x="6537960" y="1783080"/>
            <a:ext cx="5101920" cy="959760"/>
          </a:xfrm>
          <a:prstGeom prst="roundRect">
            <a:avLst>
              <a:gd name="adj" fmla="val 7619"/>
            </a:avLst>
          </a:prstGeom>
          <a:solidFill>
            <a:srgbClr val="E3F6FB"/>
          </a:solidFill>
          <a:ln w="9525">
            <a:solidFill>
              <a:srgbClr val="E3F6F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Text 10"/>
          <p:cNvSpPr/>
          <p:nvPr/>
        </p:nvSpPr>
        <p:spPr>
          <a:xfrm>
            <a:off x="6766560" y="1892880"/>
            <a:ext cx="4663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500" b="0" u="none" strike="noStrike">
                <a:solidFill>
                  <a:srgbClr val="1E2328"/>
                </a:solidFill>
                <a:effectLst/>
                <a:uFillTx/>
                <a:latin typeface="Calibri"/>
                <a:ea typeface="Calibri"/>
              </a:rPr>
              <a:t>Cada item é um token. Em custódia, não pode ser empenhado de novo.</a:t>
            </a:r>
            <a:endParaRPr lang="en-US" sz="1500" b="0" u="none" strike="noStrike">
              <a:solidFill>
                <a:srgbClr val="000000"/>
              </a:solidFill>
              <a:effectLst/>
              <a:uFillTx/>
              <a:latin typeface="Arial"/>
            </a:endParaRPr>
          </a:p>
        </p:txBody>
      </p:sp>
      <p:sp>
        <p:nvSpPr>
          <p:cNvPr id="84" name="Shape 11"/>
          <p:cNvSpPr/>
          <p:nvPr/>
        </p:nvSpPr>
        <p:spPr>
          <a:xfrm>
            <a:off x="548640" y="2880360"/>
            <a:ext cx="5074560" cy="959760"/>
          </a:xfrm>
          <a:prstGeom prst="roundRect">
            <a:avLst>
              <a:gd name="adj" fmla="val 761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 name="Text 12"/>
          <p:cNvSpPr/>
          <p:nvPr/>
        </p:nvSpPr>
        <p:spPr>
          <a:xfrm>
            <a:off x="777240" y="3017520"/>
            <a:ext cx="46630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O proprietário registra o estado do carro</a:t>
            </a:r>
            <a:endParaRPr lang="en-US" sz="1500" b="0" u="none" strike="noStrike">
              <a:solidFill>
                <a:srgbClr val="000000"/>
              </a:solidFill>
              <a:effectLst/>
              <a:uFillTx/>
              <a:latin typeface="Arial"/>
            </a:endParaRPr>
          </a:p>
        </p:txBody>
      </p:sp>
      <p:sp>
        <p:nvSpPr>
          <p:cNvPr id="86" name="Text 13"/>
          <p:cNvSpPr/>
          <p:nvPr/>
        </p:nvSpPr>
        <p:spPr>
          <a:xfrm>
            <a:off x="777240" y="3355920"/>
            <a:ext cx="4663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Laudos são editados depois que a disputa começa</a:t>
            </a:r>
            <a:endParaRPr lang="en-US" sz="1350" b="0" u="none" strike="noStrike">
              <a:solidFill>
                <a:srgbClr val="000000"/>
              </a:solidFill>
              <a:effectLst/>
              <a:uFillTx/>
              <a:latin typeface="Arial"/>
            </a:endParaRPr>
          </a:p>
        </p:txBody>
      </p:sp>
      <p:sp>
        <p:nvSpPr>
          <p:cNvPr id="87" name="Shape 14"/>
          <p:cNvSpPr/>
          <p:nvPr/>
        </p:nvSpPr>
        <p:spPr>
          <a:xfrm>
            <a:off x="5824800" y="3099960"/>
            <a:ext cx="511560" cy="511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8" name="Image 1" descr="preencoded.png"/>
          <p:cNvPicPr/>
          <p:nvPr/>
        </p:nvPicPr>
        <p:blipFill>
          <a:blip r:embed="rId2"/>
          <a:stretch/>
        </p:blipFill>
        <p:spPr>
          <a:xfrm>
            <a:off x="5963040" y="3238200"/>
            <a:ext cx="235080" cy="235080"/>
          </a:xfrm>
          <a:prstGeom prst="rect">
            <a:avLst/>
          </a:prstGeom>
          <a:noFill/>
          <a:ln w="0">
            <a:noFill/>
          </a:ln>
        </p:spPr>
      </p:pic>
      <p:sp>
        <p:nvSpPr>
          <p:cNvPr id="89" name="Shape 15"/>
          <p:cNvSpPr/>
          <p:nvPr/>
        </p:nvSpPr>
        <p:spPr>
          <a:xfrm>
            <a:off x="6537960" y="2880360"/>
            <a:ext cx="5101920" cy="959760"/>
          </a:xfrm>
          <a:prstGeom prst="roundRect">
            <a:avLst>
              <a:gd name="adj" fmla="val 7619"/>
            </a:avLst>
          </a:prstGeom>
          <a:solidFill>
            <a:srgbClr val="E3F6FB"/>
          </a:solidFill>
          <a:ln w="9525">
            <a:solidFill>
              <a:srgbClr val="E3F6F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 name="Text 16"/>
          <p:cNvSpPr/>
          <p:nvPr/>
        </p:nvSpPr>
        <p:spPr>
          <a:xfrm>
            <a:off x="6766560" y="2990160"/>
            <a:ext cx="4663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500" b="0" u="none" strike="noStrike">
                <a:solidFill>
                  <a:srgbClr val="1E2328"/>
                </a:solidFill>
                <a:effectLst/>
                <a:uFillTx/>
                <a:latin typeface="Calibri"/>
                <a:ea typeface="Calibri"/>
              </a:rPr>
              <a:t>Os hashes dos laudos de retirada e devolução ficam em blocos imutáveis, com data e hora.</a:t>
            </a:r>
            <a:endParaRPr lang="en-US" sz="1500" b="0" u="none" strike="noStrike">
              <a:solidFill>
                <a:srgbClr val="000000"/>
              </a:solidFill>
              <a:effectLst/>
              <a:uFillTx/>
              <a:latin typeface="Arial"/>
            </a:endParaRPr>
          </a:p>
        </p:txBody>
      </p:sp>
      <p:sp>
        <p:nvSpPr>
          <p:cNvPr id="91" name="Shape 17"/>
          <p:cNvSpPr/>
          <p:nvPr/>
        </p:nvSpPr>
        <p:spPr>
          <a:xfrm>
            <a:off x="548640" y="3977640"/>
            <a:ext cx="5074560" cy="959760"/>
          </a:xfrm>
          <a:prstGeom prst="roundRect">
            <a:avLst>
              <a:gd name="adj" fmla="val 761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 name="Text 18"/>
          <p:cNvSpPr/>
          <p:nvPr/>
        </p:nvSpPr>
        <p:spPr>
          <a:xfrm>
            <a:off x="777240" y="4114800"/>
            <a:ext cx="46630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Reembolsos e multas são decididos à mão</a:t>
            </a:r>
            <a:endParaRPr lang="en-US" sz="1500" b="0" u="none" strike="noStrike">
              <a:solidFill>
                <a:srgbClr val="000000"/>
              </a:solidFill>
              <a:effectLst/>
              <a:uFillTx/>
              <a:latin typeface="Arial"/>
            </a:endParaRPr>
          </a:p>
        </p:txBody>
      </p:sp>
      <p:sp>
        <p:nvSpPr>
          <p:cNvPr id="93" name="Text 19"/>
          <p:cNvSpPr/>
          <p:nvPr/>
        </p:nvSpPr>
        <p:spPr>
          <a:xfrm>
            <a:off x="777240" y="4453200"/>
            <a:ext cx="4663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Atrasos e descontos arbitrários</a:t>
            </a:r>
            <a:endParaRPr lang="en-US" sz="1350" b="0" u="none" strike="noStrike">
              <a:solidFill>
                <a:srgbClr val="000000"/>
              </a:solidFill>
              <a:effectLst/>
              <a:uFillTx/>
              <a:latin typeface="Arial"/>
            </a:endParaRPr>
          </a:p>
        </p:txBody>
      </p:sp>
      <p:sp>
        <p:nvSpPr>
          <p:cNvPr id="94" name="Shape 20"/>
          <p:cNvSpPr/>
          <p:nvPr/>
        </p:nvSpPr>
        <p:spPr>
          <a:xfrm>
            <a:off x="5824800" y="4197240"/>
            <a:ext cx="511560" cy="511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5" name="Image 2" descr="preencoded.png"/>
          <p:cNvPicPr/>
          <p:nvPr/>
        </p:nvPicPr>
        <p:blipFill>
          <a:blip r:embed="rId3"/>
          <a:stretch/>
        </p:blipFill>
        <p:spPr>
          <a:xfrm>
            <a:off x="5963040" y="4335480"/>
            <a:ext cx="235080" cy="235080"/>
          </a:xfrm>
          <a:prstGeom prst="rect">
            <a:avLst/>
          </a:prstGeom>
          <a:noFill/>
          <a:ln w="0">
            <a:noFill/>
          </a:ln>
        </p:spPr>
      </p:pic>
      <p:sp>
        <p:nvSpPr>
          <p:cNvPr id="96" name="Shape 21"/>
          <p:cNvSpPr/>
          <p:nvPr/>
        </p:nvSpPr>
        <p:spPr>
          <a:xfrm>
            <a:off x="6537960" y="3977640"/>
            <a:ext cx="5101920" cy="959760"/>
          </a:xfrm>
          <a:prstGeom prst="roundRect">
            <a:avLst>
              <a:gd name="adj" fmla="val 7619"/>
            </a:avLst>
          </a:prstGeom>
          <a:solidFill>
            <a:srgbClr val="E3F6FB"/>
          </a:solidFill>
          <a:ln w="9525">
            <a:solidFill>
              <a:srgbClr val="E3F6F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 name="Text 22"/>
          <p:cNvSpPr/>
          <p:nvPr/>
        </p:nvSpPr>
        <p:spPr>
          <a:xfrm>
            <a:off x="6766560" y="4087440"/>
            <a:ext cx="4663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500" b="0" u="none" strike="noStrike">
                <a:solidFill>
                  <a:srgbClr val="1E2328"/>
                </a:solidFill>
                <a:effectLst/>
                <a:uFillTx/>
                <a:latin typeface="Calibri"/>
                <a:ea typeface="Calibri"/>
              </a:rPr>
              <a:t>O contrato calcula multas por atraso e a execução da garantia por regras fixas.</a:t>
            </a:r>
            <a:endParaRPr lang="en-US" sz="1500" b="0" u="none" strike="noStrike">
              <a:solidFill>
                <a:srgbClr val="000000"/>
              </a:solidFill>
              <a:effectLst/>
              <a:uFillTx/>
              <a:latin typeface="Arial"/>
            </a:endParaRPr>
          </a:p>
        </p:txBody>
      </p:sp>
      <p:sp>
        <p:nvSpPr>
          <p:cNvPr id="98" name="Shape 23"/>
          <p:cNvSpPr/>
          <p:nvPr/>
        </p:nvSpPr>
        <p:spPr>
          <a:xfrm>
            <a:off x="548640" y="5074920"/>
            <a:ext cx="5074560" cy="959760"/>
          </a:xfrm>
          <a:prstGeom prst="roundRect">
            <a:avLst>
              <a:gd name="adj" fmla="val 761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 name="Text 24"/>
          <p:cNvSpPr/>
          <p:nvPr/>
        </p:nvSpPr>
        <p:spPr>
          <a:xfrm>
            <a:off x="777240" y="5212080"/>
            <a:ext cx="46630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Propriedade e locação em sistemas separados</a:t>
            </a:r>
            <a:endParaRPr lang="en-US" sz="1500" b="0" u="none" strike="noStrike">
              <a:solidFill>
                <a:srgbClr val="000000"/>
              </a:solidFill>
              <a:effectLst/>
              <a:uFillTx/>
              <a:latin typeface="Arial"/>
            </a:endParaRPr>
          </a:p>
        </p:txBody>
      </p:sp>
      <p:sp>
        <p:nvSpPr>
          <p:cNvPr id="100" name="Text 25"/>
          <p:cNvSpPr/>
          <p:nvPr/>
        </p:nvSpPr>
        <p:spPr>
          <a:xfrm>
            <a:off x="777240" y="5550480"/>
            <a:ext cx="4663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O carro é vendido ou realugado durante a locação</a:t>
            </a:r>
            <a:endParaRPr lang="en-US" sz="1350" b="0" u="none" strike="noStrike">
              <a:solidFill>
                <a:srgbClr val="000000"/>
              </a:solidFill>
              <a:effectLst/>
              <a:uFillTx/>
              <a:latin typeface="Arial"/>
            </a:endParaRPr>
          </a:p>
        </p:txBody>
      </p:sp>
      <p:sp>
        <p:nvSpPr>
          <p:cNvPr id="101" name="Shape 26"/>
          <p:cNvSpPr/>
          <p:nvPr/>
        </p:nvSpPr>
        <p:spPr>
          <a:xfrm>
            <a:off x="5824800" y="5294520"/>
            <a:ext cx="511560" cy="511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2" name="Image 3" descr="preencoded.png"/>
          <p:cNvPicPr/>
          <p:nvPr/>
        </p:nvPicPr>
        <p:blipFill>
          <a:blip r:embed="rId4"/>
          <a:stretch/>
        </p:blipFill>
        <p:spPr>
          <a:xfrm>
            <a:off x="5963040" y="5432760"/>
            <a:ext cx="235080" cy="235080"/>
          </a:xfrm>
          <a:prstGeom prst="rect">
            <a:avLst/>
          </a:prstGeom>
          <a:noFill/>
          <a:ln w="0">
            <a:noFill/>
          </a:ln>
        </p:spPr>
      </p:pic>
      <p:sp>
        <p:nvSpPr>
          <p:cNvPr id="103" name="Shape 27"/>
          <p:cNvSpPr/>
          <p:nvPr/>
        </p:nvSpPr>
        <p:spPr>
          <a:xfrm>
            <a:off x="6537960" y="5074920"/>
            <a:ext cx="5101920" cy="959760"/>
          </a:xfrm>
          <a:prstGeom prst="roundRect">
            <a:avLst>
              <a:gd name="adj" fmla="val 7619"/>
            </a:avLst>
          </a:prstGeom>
          <a:solidFill>
            <a:srgbClr val="E3F6FB"/>
          </a:solidFill>
          <a:ln w="9525">
            <a:solidFill>
              <a:srgbClr val="E3F6F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Text 28"/>
          <p:cNvSpPr/>
          <p:nvPr/>
        </p:nvSpPr>
        <p:spPr>
          <a:xfrm>
            <a:off x="6766560" y="5184720"/>
            <a:ext cx="4663080" cy="74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500" b="0" u="none" strike="noStrike">
                <a:solidFill>
                  <a:srgbClr val="1E2328"/>
                </a:solidFill>
                <a:effectLst/>
                <a:uFillTx/>
                <a:latin typeface="Calibri"/>
                <a:ea typeface="Calibri"/>
              </a:rPr>
              <a:t>O token de um carro alugado não pode ser transferido até a liquidação.</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01 · POR QUE BLOCKCHAIN NO ALUGUEL DE CARROS</a:t>
            </a:r>
            <a:endParaRPr lang="en-US" sz="1100" b="0" u="none" strike="noStrike">
              <a:solidFill>
                <a:srgbClr val="000000"/>
              </a:solidFill>
              <a:effectLst/>
              <a:uFillTx/>
              <a:latin typeface="Arial"/>
            </a:endParaRPr>
          </a:p>
        </p:txBody>
      </p:sp>
      <p:sp>
        <p:nvSpPr>
          <p:cNvPr id="106"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Por que não um banco de dados comum?</a:t>
            </a:r>
            <a:endParaRPr lang="en-US" sz="3200" b="0" u="none" strike="noStrike">
              <a:solidFill>
                <a:srgbClr val="000000"/>
              </a:solidFill>
              <a:effectLst/>
              <a:uFillTx/>
              <a:latin typeface="Arial"/>
            </a:endParaRPr>
          </a:p>
        </p:txBody>
      </p:sp>
      <p:sp>
        <p:nvSpPr>
          <p:cNvPr id="107"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5</a:t>
            </a:r>
            <a:endParaRPr lang="en-US" sz="1000" b="0" u="none" strike="noStrike">
              <a:solidFill>
                <a:srgbClr val="000000"/>
              </a:solidFill>
              <a:effectLst/>
              <a:uFillTx/>
              <a:latin typeface="Arial"/>
            </a:endParaRPr>
          </a:p>
        </p:txBody>
      </p:sp>
      <p:sp>
        <p:nvSpPr>
          <p:cNvPr id="108" name="Shape 3"/>
          <p:cNvSpPr/>
          <p:nvPr/>
        </p:nvSpPr>
        <p:spPr>
          <a:xfrm>
            <a:off x="548640" y="1645920"/>
            <a:ext cx="5350320" cy="3702960"/>
          </a:xfrm>
          <a:prstGeom prst="roundRect">
            <a:avLst>
              <a:gd name="adj" fmla="val 1975"/>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 name="Shape 4"/>
          <p:cNvSpPr/>
          <p:nvPr/>
        </p:nvSpPr>
        <p:spPr>
          <a:xfrm>
            <a:off x="868680" y="1920240"/>
            <a:ext cx="731160" cy="731160"/>
          </a:xfrm>
          <a:prstGeom prst="ellipse">
            <a:avLst/>
          </a:prstGeom>
          <a:solidFill>
            <a:srgbClr val="3A434C"/>
          </a:solidFill>
          <a:ln w="9525">
            <a:solidFill>
              <a:srgbClr val="3A434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0" name="Image 0" descr="preencoded.png"/>
          <p:cNvPicPr/>
          <p:nvPr/>
        </p:nvPicPr>
        <p:blipFill>
          <a:blip r:embed="rId1"/>
          <a:stretch/>
        </p:blipFill>
        <p:spPr>
          <a:xfrm>
            <a:off x="1044360" y="2095920"/>
            <a:ext cx="380160" cy="380160"/>
          </a:xfrm>
          <a:prstGeom prst="rect">
            <a:avLst/>
          </a:prstGeom>
          <a:noFill/>
          <a:ln w="0">
            <a:noFill/>
          </a:ln>
        </p:spPr>
      </p:pic>
      <p:sp>
        <p:nvSpPr>
          <p:cNvPr id="111" name="Text 5"/>
          <p:cNvSpPr/>
          <p:nvPr/>
        </p:nvSpPr>
        <p:spPr>
          <a:xfrm>
            <a:off x="1783080" y="1920240"/>
            <a:ext cx="38872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2000" b="1" u="none" strike="noStrike">
                <a:solidFill>
                  <a:srgbClr val="1E2328"/>
                </a:solidFill>
                <a:effectLst/>
                <a:uFillTx/>
                <a:latin typeface="Arial"/>
                <a:ea typeface="Arial"/>
              </a:rPr>
              <a:t>Um banco de dados é melhor quando…</a:t>
            </a:r>
            <a:endParaRPr lang="en-US" sz="2000" b="0" u="none" strike="noStrike">
              <a:solidFill>
                <a:srgbClr val="000000"/>
              </a:solidFill>
              <a:effectLst/>
              <a:uFillTx/>
              <a:latin typeface="Arial"/>
            </a:endParaRPr>
          </a:p>
        </p:txBody>
      </p:sp>
      <p:sp>
        <p:nvSpPr>
          <p:cNvPr id="112" name="Text 6"/>
          <p:cNvSpPr/>
          <p:nvPr/>
        </p:nvSpPr>
        <p:spPr>
          <a:xfrm>
            <a:off x="868680" y="2834640"/>
            <a:ext cx="47102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i="1" u="none" strike="noStrike">
                <a:solidFill>
                  <a:srgbClr val="5F6B76"/>
                </a:solidFill>
                <a:effectLst/>
                <a:uFillTx/>
                <a:latin typeface="Calibri"/>
                <a:ea typeface="Calibri"/>
              </a:rPr>
              <a:t>uma única empresa controla todos os registros e todos confiam nela.</a:t>
            </a:r>
            <a:endParaRPr lang="en-US" sz="1500" b="0" u="none" strike="noStrike">
              <a:solidFill>
                <a:srgbClr val="000000"/>
              </a:solidFill>
              <a:effectLst/>
              <a:uFillTx/>
              <a:latin typeface="Arial"/>
            </a:endParaRPr>
          </a:p>
        </p:txBody>
      </p:sp>
      <p:sp>
        <p:nvSpPr>
          <p:cNvPr id="113" name="Text 7"/>
          <p:cNvSpPr/>
          <p:nvPr/>
        </p:nvSpPr>
        <p:spPr>
          <a:xfrm>
            <a:off x="868680" y="3767400"/>
            <a:ext cx="4710240" cy="14626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1E2328"/>
              </a:buClr>
              <a:buFont typeface="Symbol" charset="2"/>
              <a:buChar char=""/>
            </a:pPr>
            <a:r>
              <a:rPr lang="pt-BR" sz="1500" b="0" u="none" strike="noStrike">
                <a:solidFill>
                  <a:srgbClr val="1E2328"/>
                </a:solidFill>
                <a:effectLst/>
                <a:uFillTx/>
                <a:latin typeface="Calibri"/>
                <a:ea typeface="Calibri"/>
              </a:rPr>
              <a:t>Mais rápido e simples de operar</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1E2328"/>
              </a:buClr>
              <a:buFont typeface="Symbol" charset="2"/>
              <a:buChar char=""/>
            </a:pPr>
            <a:r>
              <a:rPr lang="pt-BR" sz="1500" b="0" u="none" strike="noStrike">
                <a:solidFill>
                  <a:srgbClr val="1E2328"/>
                </a:solidFill>
                <a:effectLst/>
                <a:uFillTx/>
                <a:latin typeface="Calibri"/>
                <a:ea typeface="Calibri"/>
              </a:rPr>
              <a:t>Erros são fáceis de corrigir</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1E2328"/>
              </a:buClr>
              <a:buFont typeface="Symbol" charset="2"/>
              <a:buChar char=""/>
            </a:pPr>
            <a:r>
              <a:rPr lang="pt-BR" sz="1500" b="0" u="none" strike="noStrike">
                <a:solidFill>
                  <a:srgbClr val="1E2328"/>
                </a:solidFill>
                <a:effectLst/>
                <a:uFillTx/>
                <a:latin typeface="Calibri"/>
                <a:ea typeface="Calibri"/>
              </a:rPr>
              <a:t>Privado por padrão</a:t>
            </a:r>
            <a:endParaRPr lang="en-US" sz="1500" b="0" u="none" strike="noStrike">
              <a:solidFill>
                <a:srgbClr val="000000"/>
              </a:solidFill>
              <a:effectLst/>
              <a:uFillTx/>
              <a:latin typeface="Arial"/>
            </a:endParaRPr>
          </a:p>
        </p:txBody>
      </p:sp>
      <p:sp>
        <p:nvSpPr>
          <p:cNvPr id="114" name="Shape 8"/>
          <p:cNvSpPr/>
          <p:nvPr/>
        </p:nvSpPr>
        <p:spPr>
          <a:xfrm>
            <a:off x="6292440" y="1645920"/>
            <a:ext cx="5350320" cy="3702960"/>
          </a:xfrm>
          <a:prstGeom prst="roundRect">
            <a:avLst>
              <a:gd name="adj" fmla="val 1975"/>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5" name="Shape 9"/>
          <p:cNvSpPr/>
          <p:nvPr/>
        </p:nvSpPr>
        <p:spPr>
          <a:xfrm>
            <a:off x="6612480" y="1920240"/>
            <a:ext cx="731160" cy="731160"/>
          </a:xfrm>
          <a:prstGeom prst="ellipse">
            <a:avLst/>
          </a:prstGeom>
          <a:solidFill>
            <a:srgbClr val="00ADD8"/>
          </a:solidFill>
          <a:ln w="9525">
            <a:solidFill>
              <a:srgbClr val="00ADD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16" name="Image 1" descr="preencoded.png"/>
          <p:cNvPicPr/>
          <p:nvPr/>
        </p:nvPicPr>
        <p:blipFill>
          <a:blip r:embed="rId2"/>
          <a:stretch/>
        </p:blipFill>
        <p:spPr>
          <a:xfrm>
            <a:off x="6788160" y="2095920"/>
            <a:ext cx="380160" cy="380160"/>
          </a:xfrm>
          <a:prstGeom prst="rect">
            <a:avLst/>
          </a:prstGeom>
          <a:noFill/>
          <a:ln w="0">
            <a:noFill/>
          </a:ln>
        </p:spPr>
      </p:pic>
      <p:sp>
        <p:nvSpPr>
          <p:cNvPr id="117" name="Text 10"/>
          <p:cNvSpPr/>
          <p:nvPr/>
        </p:nvSpPr>
        <p:spPr>
          <a:xfrm>
            <a:off x="7526880" y="1920240"/>
            <a:ext cx="38872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2000" b="1" u="none" strike="noStrike">
                <a:solidFill>
                  <a:srgbClr val="FFFFFF"/>
                </a:solidFill>
                <a:effectLst/>
                <a:uFillTx/>
                <a:latin typeface="Arial"/>
                <a:ea typeface="Arial"/>
              </a:rPr>
              <a:t>Uma blockchain se justifica quando…</a:t>
            </a:r>
            <a:endParaRPr lang="en-US" sz="2000" b="0" u="none" strike="noStrike">
              <a:solidFill>
                <a:srgbClr val="000000"/>
              </a:solidFill>
              <a:effectLst/>
              <a:uFillTx/>
              <a:latin typeface="Arial"/>
            </a:endParaRPr>
          </a:p>
        </p:txBody>
      </p:sp>
      <p:sp>
        <p:nvSpPr>
          <p:cNvPr id="118" name="Text 11"/>
          <p:cNvSpPr/>
          <p:nvPr/>
        </p:nvSpPr>
        <p:spPr>
          <a:xfrm>
            <a:off x="6612480" y="2834640"/>
            <a:ext cx="47102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i="1" u="none" strike="noStrike">
                <a:solidFill>
                  <a:srgbClr val="C9D1D9"/>
                </a:solidFill>
                <a:effectLst/>
                <a:uFillTx/>
                <a:latin typeface="Calibri"/>
                <a:ea typeface="Calibri"/>
              </a:rPr>
              <a:t>proprietário, locatário, vistoriador e plataforma não confiam totalmente uns nos outros, e ninguém deve alterar o histórico sozinho.</a:t>
            </a:r>
            <a:endParaRPr lang="en-US" sz="1500" b="0" u="none" strike="noStrike">
              <a:solidFill>
                <a:srgbClr val="000000"/>
              </a:solidFill>
              <a:effectLst/>
              <a:uFillTx/>
              <a:latin typeface="Arial"/>
            </a:endParaRPr>
          </a:p>
        </p:txBody>
      </p:sp>
      <p:sp>
        <p:nvSpPr>
          <p:cNvPr id="119" name="Text 12"/>
          <p:cNvSpPr/>
          <p:nvPr/>
        </p:nvSpPr>
        <p:spPr>
          <a:xfrm>
            <a:off x="6612480" y="3767400"/>
            <a:ext cx="4710240" cy="14626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799"/>
              </a:spcAft>
              <a:buClr>
                <a:srgbClr val="FFFFFF"/>
              </a:buClr>
              <a:buFont typeface="Symbol" charset="2"/>
              <a:buChar char=""/>
            </a:pPr>
            <a:r>
              <a:rPr lang="pt-BR" sz="1500" b="0" u="none" strike="noStrike">
                <a:solidFill>
                  <a:srgbClr val="FFFFFF"/>
                </a:solidFill>
                <a:effectLst/>
                <a:uFillTx/>
                <a:latin typeface="Calibri"/>
                <a:ea typeface="Calibri"/>
              </a:rPr>
              <a:t>Uma única fonte de verdade compartilhada</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FFFFFF"/>
              </a:buClr>
              <a:buFont typeface="Symbol" charset="2"/>
              <a:buChar char=""/>
            </a:pPr>
            <a:r>
              <a:rPr lang="pt-BR" sz="1500" b="0" u="none" strike="noStrike">
                <a:solidFill>
                  <a:srgbClr val="FFFFFF"/>
                </a:solidFill>
                <a:effectLst/>
                <a:uFillTx/>
                <a:latin typeface="Calibri"/>
                <a:ea typeface="Calibri"/>
              </a:rPr>
              <a:t>Histórico só de acréscimos, que ninguém reescreve</a:t>
            </a:r>
            <a:endParaRPr lang="en-US" sz="1500" b="0" u="none" strike="noStrike">
              <a:solidFill>
                <a:srgbClr val="000000"/>
              </a:solidFill>
              <a:effectLst/>
              <a:uFillTx/>
              <a:latin typeface="Arial"/>
            </a:endParaRPr>
          </a:p>
          <a:p>
            <a:pPr marL="343080" indent="-343080" defTabSz="914400">
              <a:lnSpc>
                <a:spcPct val="100000"/>
              </a:lnSpc>
              <a:spcAft>
                <a:spcPts val="799"/>
              </a:spcAft>
              <a:buClr>
                <a:srgbClr val="FFFFFF"/>
              </a:buClr>
              <a:buFont typeface="Symbol" charset="2"/>
              <a:buChar char=""/>
            </a:pPr>
            <a:r>
              <a:rPr lang="pt-BR" sz="1500" b="0" u="none" strike="noStrike">
                <a:solidFill>
                  <a:srgbClr val="FFFFFF"/>
                </a:solidFill>
                <a:effectLst/>
                <a:uFillTx/>
                <a:latin typeface="Calibri"/>
                <a:ea typeface="Calibri"/>
              </a:rPr>
              <a:t>Regras aplicadas por código que todos os nós executam</a:t>
            </a:r>
            <a:endParaRPr lang="en-US" sz="1500" b="0" u="none" strike="noStrike">
              <a:solidFill>
                <a:srgbClr val="000000"/>
              </a:solidFill>
              <a:effectLst/>
              <a:uFillTx/>
              <a:latin typeface="Arial"/>
            </a:endParaRPr>
          </a:p>
        </p:txBody>
      </p:sp>
      <p:sp>
        <p:nvSpPr>
          <p:cNvPr id="120" name="Text 13"/>
          <p:cNvSpPr/>
          <p:nvPr/>
        </p:nvSpPr>
        <p:spPr>
          <a:xfrm>
            <a:off x="548640" y="5623560"/>
            <a:ext cx="11094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Calibri"/>
                <a:ea typeface="Calibri"/>
              </a:rPr>
              <a:t>Aqui há quatro partes com interesses conflitantes: um livro-razão compartilhado se justifica.</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02 · ARQUITETURA</a:t>
            </a:r>
            <a:endParaRPr lang="en-US" sz="1100" b="0" u="none" strike="noStrike">
              <a:solidFill>
                <a:srgbClr val="000000"/>
              </a:solidFill>
              <a:effectLst/>
              <a:uFillTx/>
              <a:latin typeface="Arial"/>
            </a:endParaRPr>
          </a:p>
        </p:txBody>
      </p:sp>
      <p:sp>
        <p:nvSpPr>
          <p:cNvPr id="122"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Quatro atores, quatro permissões</a:t>
            </a:r>
            <a:endParaRPr lang="en-US" sz="3200" b="0" u="none" strike="noStrike">
              <a:solidFill>
                <a:srgbClr val="000000"/>
              </a:solidFill>
              <a:effectLst/>
              <a:uFillTx/>
              <a:latin typeface="Arial"/>
            </a:endParaRPr>
          </a:p>
        </p:txBody>
      </p:sp>
      <p:sp>
        <p:nvSpPr>
          <p:cNvPr id="123"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6</a:t>
            </a:r>
            <a:endParaRPr lang="en-US" sz="1000" b="0" u="none" strike="noStrike">
              <a:solidFill>
                <a:srgbClr val="000000"/>
              </a:solidFill>
              <a:effectLst/>
              <a:uFillTx/>
              <a:latin typeface="Arial"/>
            </a:endParaRPr>
          </a:p>
        </p:txBody>
      </p:sp>
      <p:sp>
        <p:nvSpPr>
          <p:cNvPr id="124" name="Shape 3"/>
          <p:cNvSpPr/>
          <p:nvPr/>
        </p:nvSpPr>
        <p:spPr>
          <a:xfrm>
            <a:off x="548640" y="1645920"/>
            <a:ext cx="2567520" cy="3382920"/>
          </a:xfrm>
          <a:prstGeom prst="roundRect">
            <a:avLst>
              <a:gd name="adj" fmla="val 284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5" name="Shape 4"/>
          <p:cNvSpPr/>
          <p:nvPr/>
        </p:nvSpPr>
        <p:spPr>
          <a:xfrm>
            <a:off x="822960" y="1920240"/>
            <a:ext cx="914040" cy="9140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26" name="Image 0" descr="preencoded.png"/>
          <p:cNvPicPr/>
          <p:nvPr/>
        </p:nvPicPr>
        <p:blipFill>
          <a:blip r:embed="rId1"/>
          <a:stretch/>
        </p:blipFill>
        <p:spPr>
          <a:xfrm>
            <a:off x="1042560" y="2139840"/>
            <a:ext cx="475200" cy="475200"/>
          </a:xfrm>
          <a:prstGeom prst="rect">
            <a:avLst/>
          </a:prstGeom>
          <a:noFill/>
          <a:ln w="0">
            <a:noFill/>
          </a:ln>
        </p:spPr>
      </p:pic>
      <p:sp>
        <p:nvSpPr>
          <p:cNvPr id="127" name="Text 5"/>
          <p:cNvSpPr/>
          <p:nvPr/>
        </p:nvSpPr>
        <p:spPr>
          <a:xfrm>
            <a:off x="822960" y="3017520"/>
            <a:ext cx="201888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Proprietário</a:t>
            </a:r>
            <a:endParaRPr lang="en-US" sz="1900" b="0" u="none" strike="noStrike">
              <a:solidFill>
                <a:srgbClr val="000000"/>
              </a:solidFill>
              <a:effectLst/>
              <a:uFillTx/>
              <a:latin typeface="Arial"/>
            </a:endParaRPr>
          </a:p>
        </p:txBody>
      </p:sp>
      <p:sp>
        <p:nvSpPr>
          <p:cNvPr id="128" name="Text 6"/>
          <p:cNvSpPr/>
          <p:nvPr/>
        </p:nvSpPr>
        <p:spPr>
          <a:xfrm>
            <a:off x="822960" y="3474720"/>
            <a:ext cx="201888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5F6B76"/>
                </a:solidFill>
                <a:effectLst/>
                <a:uFillTx/>
                <a:latin typeface="Calibri"/>
                <a:ea typeface="Calibri"/>
              </a:rPr>
              <a:t>Possui um token de carro, recebe o aluguel e as garantias confiscadas.</a:t>
            </a:r>
            <a:endParaRPr lang="en-US" sz="1400" b="0" u="none" strike="noStrike">
              <a:solidFill>
                <a:srgbClr val="000000"/>
              </a:solidFill>
              <a:effectLst/>
              <a:uFillTx/>
              <a:latin typeface="Arial"/>
            </a:endParaRPr>
          </a:p>
        </p:txBody>
      </p:sp>
      <p:sp>
        <p:nvSpPr>
          <p:cNvPr id="129" name="Shape 7"/>
          <p:cNvSpPr/>
          <p:nvPr/>
        </p:nvSpPr>
        <p:spPr>
          <a:xfrm>
            <a:off x="822960" y="4480560"/>
            <a:ext cx="2018880" cy="365400"/>
          </a:xfrm>
          <a:prstGeom prst="roundRect">
            <a:avLst>
              <a:gd name="adj" fmla="val 20000"/>
            </a:avLst>
          </a:prstGeom>
          <a:solidFill>
            <a:srgbClr val="FFFFFF"/>
          </a:solidFill>
          <a:ln w="9525">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0" name="Text 8"/>
          <p:cNvSpPr/>
          <p:nvPr/>
        </p:nvSpPr>
        <p:spPr>
          <a:xfrm>
            <a:off x="822960" y="4480560"/>
            <a:ext cx="201888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100" b="1" u="none" strike="noStrike">
                <a:solidFill>
                  <a:srgbClr val="007D9C"/>
                </a:solidFill>
                <a:effectLst/>
                <a:uFillTx/>
                <a:latin typeface="Courier New"/>
                <a:ea typeface="Courier New"/>
              </a:rPr>
              <a:t>detém o token do carro</a:t>
            </a:r>
            <a:endParaRPr lang="en-US" sz="1100" b="0" u="none" strike="noStrike">
              <a:solidFill>
                <a:srgbClr val="000000"/>
              </a:solidFill>
              <a:effectLst/>
              <a:uFillTx/>
              <a:latin typeface="Arial"/>
            </a:endParaRPr>
          </a:p>
        </p:txBody>
      </p:sp>
      <p:sp>
        <p:nvSpPr>
          <p:cNvPr id="131" name="Shape 9"/>
          <p:cNvSpPr/>
          <p:nvPr/>
        </p:nvSpPr>
        <p:spPr>
          <a:xfrm>
            <a:off x="3390840" y="1645920"/>
            <a:ext cx="2567520" cy="3382920"/>
          </a:xfrm>
          <a:prstGeom prst="roundRect">
            <a:avLst>
              <a:gd name="adj" fmla="val 284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2" name="Shape 10"/>
          <p:cNvSpPr/>
          <p:nvPr/>
        </p:nvSpPr>
        <p:spPr>
          <a:xfrm>
            <a:off x="3665160" y="1920240"/>
            <a:ext cx="914040" cy="9140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3" name="Image 1" descr="preencoded.png"/>
          <p:cNvPicPr/>
          <p:nvPr/>
        </p:nvPicPr>
        <p:blipFill>
          <a:blip r:embed="rId2"/>
          <a:stretch/>
        </p:blipFill>
        <p:spPr>
          <a:xfrm>
            <a:off x="3884760" y="2139840"/>
            <a:ext cx="475200" cy="475200"/>
          </a:xfrm>
          <a:prstGeom prst="rect">
            <a:avLst/>
          </a:prstGeom>
          <a:noFill/>
          <a:ln w="0">
            <a:noFill/>
          </a:ln>
        </p:spPr>
      </p:pic>
      <p:sp>
        <p:nvSpPr>
          <p:cNvPr id="134" name="Text 11"/>
          <p:cNvSpPr/>
          <p:nvPr/>
        </p:nvSpPr>
        <p:spPr>
          <a:xfrm>
            <a:off x="3665160" y="3017520"/>
            <a:ext cx="201888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Locatário</a:t>
            </a:r>
            <a:endParaRPr lang="en-US" sz="1900" b="0" u="none" strike="noStrike">
              <a:solidFill>
                <a:srgbClr val="000000"/>
              </a:solidFill>
              <a:effectLst/>
              <a:uFillTx/>
              <a:latin typeface="Arial"/>
            </a:endParaRPr>
          </a:p>
        </p:txBody>
      </p:sp>
      <p:sp>
        <p:nvSpPr>
          <p:cNvPr id="135" name="Text 12"/>
          <p:cNvSpPr/>
          <p:nvPr/>
        </p:nvSpPr>
        <p:spPr>
          <a:xfrm>
            <a:off x="3665160" y="3474720"/>
            <a:ext cx="201888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5F6B76"/>
                </a:solidFill>
                <a:effectLst/>
                <a:uFillTx/>
                <a:latin typeface="Calibri"/>
                <a:ea typeface="Calibri"/>
              </a:rPr>
              <a:t>Empenha tokens de depósito e itens de garantia, e então dirige o carro.</a:t>
            </a:r>
            <a:endParaRPr lang="en-US" sz="1400" b="0" u="none" strike="noStrike">
              <a:solidFill>
                <a:srgbClr val="000000"/>
              </a:solidFill>
              <a:effectLst/>
              <a:uFillTx/>
              <a:latin typeface="Arial"/>
            </a:endParaRPr>
          </a:p>
        </p:txBody>
      </p:sp>
      <p:sp>
        <p:nvSpPr>
          <p:cNvPr id="136" name="Shape 13"/>
          <p:cNvSpPr/>
          <p:nvPr/>
        </p:nvSpPr>
        <p:spPr>
          <a:xfrm>
            <a:off x="3665160" y="4480560"/>
            <a:ext cx="2018880" cy="365400"/>
          </a:xfrm>
          <a:prstGeom prst="roundRect">
            <a:avLst>
              <a:gd name="adj" fmla="val 20000"/>
            </a:avLst>
          </a:prstGeom>
          <a:solidFill>
            <a:srgbClr val="FFFFFF"/>
          </a:solidFill>
          <a:ln w="9525">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Text 14"/>
          <p:cNvSpPr/>
          <p:nvPr/>
        </p:nvSpPr>
        <p:spPr>
          <a:xfrm>
            <a:off x="3665160" y="4480560"/>
            <a:ext cx="201888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100" b="1" u="none" strike="noStrike">
                <a:solidFill>
                  <a:srgbClr val="007D9C"/>
                </a:solidFill>
                <a:effectLst/>
                <a:uFillTx/>
                <a:latin typeface="Courier New"/>
                <a:ea typeface="Courier New"/>
              </a:rPr>
              <a:t>qualquer endereço</a:t>
            </a:r>
            <a:endParaRPr lang="en-US" sz="1100" b="0" u="none" strike="noStrike">
              <a:solidFill>
                <a:srgbClr val="000000"/>
              </a:solidFill>
              <a:effectLst/>
              <a:uFillTx/>
              <a:latin typeface="Arial"/>
            </a:endParaRPr>
          </a:p>
        </p:txBody>
      </p:sp>
      <p:sp>
        <p:nvSpPr>
          <p:cNvPr id="138" name="Shape 15"/>
          <p:cNvSpPr/>
          <p:nvPr/>
        </p:nvSpPr>
        <p:spPr>
          <a:xfrm>
            <a:off x="6233040" y="1645920"/>
            <a:ext cx="2567520" cy="3382920"/>
          </a:xfrm>
          <a:prstGeom prst="roundRect">
            <a:avLst>
              <a:gd name="adj" fmla="val 284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 name="Shape 16"/>
          <p:cNvSpPr/>
          <p:nvPr/>
        </p:nvSpPr>
        <p:spPr>
          <a:xfrm>
            <a:off x="6507360" y="1920240"/>
            <a:ext cx="914040" cy="9140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40" name="Image 2" descr="preencoded.png"/>
          <p:cNvPicPr/>
          <p:nvPr/>
        </p:nvPicPr>
        <p:blipFill>
          <a:blip r:embed="rId3"/>
          <a:stretch/>
        </p:blipFill>
        <p:spPr>
          <a:xfrm>
            <a:off x="6726960" y="2139840"/>
            <a:ext cx="475200" cy="475200"/>
          </a:xfrm>
          <a:prstGeom prst="rect">
            <a:avLst/>
          </a:prstGeom>
          <a:noFill/>
          <a:ln w="0">
            <a:noFill/>
          </a:ln>
        </p:spPr>
      </p:pic>
      <p:sp>
        <p:nvSpPr>
          <p:cNvPr id="141" name="Text 17"/>
          <p:cNvSpPr/>
          <p:nvPr/>
        </p:nvSpPr>
        <p:spPr>
          <a:xfrm>
            <a:off x="6507360" y="3017520"/>
            <a:ext cx="201888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Registrador</a:t>
            </a:r>
            <a:endParaRPr lang="en-US" sz="1900" b="0" u="none" strike="noStrike">
              <a:solidFill>
                <a:srgbClr val="000000"/>
              </a:solidFill>
              <a:effectLst/>
              <a:uFillTx/>
              <a:latin typeface="Arial"/>
            </a:endParaRPr>
          </a:p>
        </p:txBody>
      </p:sp>
      <p:sp>
        <p:nvSpPr>
          <p:cNvPr id="142" name="Text 18"/>
          <p:cNvSpPr/>
          <p:nvPr/>
        </p:nvSpPr>
        <p:spPr>
          <a:xfrm>
            <a:off x="6507360" y="3474720"/>
            <a:ext cx="201888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5F6B76"/>
                </a:solidFill>
                <a:effectLst/>
                <a:uFillTx/>
                <a:latin typeface="Calibri"/>
                <a:ea typeface="Calibri"/>
              </a:rPr>
              <a:t>Verifica carros reais e avaliações, e então emite seus tokens.</a:t>
            </a:r>
            <a:endParaRPr lang="en-US" sz="1400" b="0" u="none" strike="noStrike">
              <a:solidFill>
                <a:srgbClr val="000000"/>
              </a:solidFill>
              <a:effectLst/>
              <a:uFillTx/>
              <a:latin typeface="Arial"/>
            </a:endParaRPr>
          </a:p>
        </p:txBody>
      </p:sp>
      <p:sp>
        <p:nvSpPr>
          <p:cNvPr id="143" name="Shape 19"/>
          <p:cNvSpPr/>
          <p:nvPr/>
        </p:nvSpPr>
        <p:spPr>
          <a:xfrm>
            <a:off x="6507360" y="4480560"/>
            <a:ext cx="2018880" cy="365400"/>
          </a:xfrm>
          <a:prstGeom prst="roundRect">
            <a:avLst>
              <a:gd name="adj" fmla="val 20000"/>
            </a:avLst>
          </a:prstGeom>
          <a:solidFill>
            <a:srgbClr val="FFFFFF"/>
          </a:solidFill>
          <a:ln w="9525">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4" name="Text 20"/>
          <p:cNvSpPr/>
          <p:nvPr/>
        </p:nvSpPr>
        <p:spPr>
          <a:xfrm>
            <a:off x="6507360" y="4480560"/>
            <a:ext cx="201888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100" b="1" u="none" strike="noStrike">
                <a:solidFill>
                  <a:srgbClr val="007D9C"/>
                </a:solidFill>
                <a:effectLst/>
                <a:uFillTx/>
                <a:latin typeface="Courier New"/>
                <a:ea typeface="Courier New"/>
              </a:rPr>
              <a:t>papel REGISTRAR</a:t>
            </a:r>
            <a:endParaRPr lang="en-US" sz="1100" b="0" u="none" strike="noStrike">
              <a:solidFill>
                <a:srgbClr val="000000"/>
              </a:solidFill>
              <a:effectLst/>
              <a:uFillTx/>
              <a:latin typeface="Arial"/>
            </a:endParaRPr>
          </a:p>
        </p:txBody>
      </p:sp>
      <p:sp>
        <p:nvSpPr>
          <p:cNvPr id="145" name="Shape 21"/>
          <p:cNvSpPr/>
          <p:nvPr/>
        </p:nvSpPr>
        <p:spPr>
          <a:xfrm>
            <a:off x="9075240" y="1645920"/>
            <a:ext cx="2567520" cy="3382920"/>
          </a:xfrm>
          <a:prstGeom prst="roundRect">
            <a:avLst>
              <a:gd name="adj" fmla="val 284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6" name="Shape 22"/>
          <p:cNvSpPr/>
          <p:nvPr/>
        </p:nvSpPr>
        <p:spPr>
          <a:xfrm>
            <a:off x="9349560" y="1920240"/>
            <a:ext cx="914040" cy="9140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47" name="Image 3" descr="preencoded.png"/>
          <p:cNvPicPr/>
          <p:nvPr/>
        </p:nvPicPr>
        <p:blipFill>
          <a:blip r:embed="rId4"/>
          <a:stretch/>
        </p:blipFill>
        <p:spPr>
          <a:xfrm>
            <a:off x="9568800" y="2139840"/>
            <a:ext cx="475200" cy="475200"/>
          </a:xfrm>
          <a:prstGeom prst="rect">
            <a:avLst/>
          </a:prstGeom>
          <a:noFill/>
          <a:ln w="0">
            <a:noFill/>
          </a:ln>
        </p:spPr>
      </p:pic>
      <p:sp>
        <p:nvSpPr>
          <p:cNvPr id="148" name="Text 23"/>
          <p:cNvSpPr/>
          <p:nvPr/>
        </p:nvSpPr>
        <p:spPr>
          <a:xfrm>
            <a:off x="9349560" y="3017520"/>
            <a:ext cx="201888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Vistoriador</a:t>
            </a:r>
            <a:endParaRPr lang="en-US" sz="1900" b="0" u="none" strike="noStrike">
              <a:solidFill>
                <a:srgbClr val="000000"/>
              </a:solidFill>
              <a:effectLst/>
              <a:uFillTx/>
              <a:latin typeface="Arial"/>
            </a:endParaRPr>
          </a:p>
        </p:txBody>
      </p:sp>
      <p:sp>
        <p:nvSpPr>
          <p:cNvPr id="149" name="Text 24"/>
          <p:cNvSpPr/>
          <p:nvPr/>
        </p:nvSpPr>
        <p:spPr>
          <a:xfrm>
            <a:off x="9349560" y="3474720"/>
            <a:ext cx="201888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5F6B76"/>
                </a:solidFill>
                <a:effectLst/>
                <a:uFillTx/>
                <a:latin typeface="Calibri"/>
                <a:ea typeface="Calibri"/>
              </a:rPr>
              <a:t>Parte neutra que registra a devolução do carro e a cobrança por danos.</a:t>
            </a:r>
            <a:endParaRPr lang="en-US" sz="1400" b="0" u="none" strike="noStrike">
              <a:solidFill>
                <a:srgbClr val="000000"/>
              </a:solidFill>
              <a:effectLst/>
              <a:uFillTx/>
              <a:latin typeface="Arial"/>
            </a:endParaRPr>
          </a:p>
        </p:txBody>
      </p:sp>
      <p:sp>
        <p:nvSpPr>
          <p:cNvPr id="150" name="Shape 25"/>
          <p:cNvSpPr/>
          <p:nvPr/>
        </p:nvSpPr>
        <p:spPr>
          <a:xfrm>
            <a:off x="9349560" y="4480560"/>
            <a:ext cx="2018880" cy="365400"/>
          </a:xfrm>
          <a:prstGeom prst="roundRect">
            <a:avLst>
              <a:gd name="adj" fmla="val 20000"/>
            </a:avLst>
          </a:prstGeom>
          <a:solidFill>
            <a:srgbClr val="FFFFFF"/>
          </a:solidFill>
          <a:ln w="9525">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1" name="Text 26"/>
          <p:cNvSpPr/>
          <p:nvPr/>
        </p:nvSpPr>
        <p:spPr>
          <a:xfrm>
            <a:off x="9349560" y="4480560"/>
            <a:ext cx="201888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100" b="1" u="none" strike="noStrike">
                <a:solidFill>
                  <a:srgbClr val="007D9C"/>
                </a:solidFill>
                <a:effectLst/>
                <a:uFillTx/>
                <a:latin typeface="Courier New"/>
                <a:ea typeface="Courier New"/>
              </a:rPr>
              <a:t>papel INSPECTOR</a:t>
            </a:r>
            <a:endParaRPr lang="en-US" sz="1100" b="0" u="none" strike="noStrike">
              <a:solidFill>
                <a:srgbClr val="000000"/>
              </a:solidFill>
              <a:effectLst/>
              <a:uFillTx/>
              <a:latin typeface="Arial"/>
            </a:endParaRPr>
          </a:p>
        </p:txBody>
      </p:sp>
      <p:pic>
        <p:nvPicPr>
          <p:cNvPr id="152" name="Image 4" descr="preencoded.png"/>
          <p:cNvPicPr/>
          <p:nvPr/>
        </p:nvPicPr>
        <p:blipFill>
          <a:blip r:embed="rId5"/>
          <a:stretch/>
        </p:blipFill>
        <p:spPr>
          <a:xfrm>
            <a:off x="548640" y="5459040"/>
            <a:ext cx="273960" cy="273960"/>
          </a:xfrm>
          <a:prstGeom prst="rect">
            <a:avLst/>
          </a:prstGeom>
          <a:noFill/>
          <a:ln w="0">
            <a:noFill/>
          </a:ln>
        </p:spPr>
      </p:pic>
      <p:sp>
        <p:nvSpPr>
          <p:cNvPr id="153" name="Text 27"/>
          <p:cNvSpPr/>
          <p:nvPr/>
        </p:nvSpPr>
        <p:spPr>
          <a:xfrm>
            <a:off x="960120" y="5431680"/>
            <a:ext cx="1068264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Contas da demo: </a:t>
            </a:r>
            <a:r>
              <a:rPr lang="pt-BR" sz="1500" b="0" u="none" strike="noStrike">
                <a:solidFill>
                  <a:srgbClr val="1E2328"/>
                </a:solidFill>
                <a:effectLst/>
                <a:uFillTx/>
                <a:latin typeface="Calibri"/>
                <a:ea typeface="Calibri"/>
              </a:rPr>
              <a:t>admin é o validador e tem ADMIN, REGISTRAR e INSPECTOR · alice é dona dos carros · bob aluga.</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4"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02 · ARQUITETURA</a:t>
            </a:r>
            <a:endParaRPr lang="en-US" sz="1100" b="0" u="none" strike="noStrike">
              <a:solidFill>
                <a:srgbClr val="000000"/>
              </a:solidFill>
              <a:effectLst/>
              <a:uFillTx/>
              <a:latin typeface="Arial"/>
            </a:endParaRPr>
          </a:p>
        </p:txBody>
      </p:sp>
      <p:sp>
        <p:nvSpPr>
          <p:cNvPr id="155"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Arquitetura do sistema</a:t>
            </a:r>
            <a:endParaRPr lang="en-US" sz="3200" b="0" u="none" strike="noStrike">
              <a:solidFill>
                <a:srgbClr val="000000"/>
              </a:solidFill>
              <a:effectLst/>
              <a:uFillTx/>
              <a:latin typeface="Arial"/>
            </a:endParaRPr>
          </a:p>
        </p:txBody>
      </p:sp>
      <p:sp>
        <p:nvSpPr>
          <p:cNvPr id="156"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7</a:t>
            </a:r>
            <a:endParaRPr lang="en-US" sz="1000" b="0" u="none" strike="noStrike">
              <a:solidFill>
                <a:srgbClr val="000000"/>
              </a:solidFill>
              <a:effectLst/>
              <a:uFillTx/>
              <a:latin typeface="Arial"/>
            </a:endParaRPr>
          </a:p>
        </p:txBody>
      </p:sp>
      <p:sp>
        <p:nvSpPr>
          <p:cNvPr id="157" name="Shape 3"/>
          <p:cNvSpPr/>
          <p:nvPr/>
        </p:nvSpPr>
        <p:spPr>
          <a:xfrm>
            <a:off x="548640" y="1737360"/>
            <a:ext cx="2742840" cy="1599840"/>
          </a:xfrm>
          <a:prstGeom prst="roundRect">
            <a:avLst>
              <a:gd name="adj" fmla="val 4571"/>
            </a:avLst>
          </a:prstGeom>
          <a:solidFill>
            <a:srgbClr val="E3F6FB"/>
          </a:solidFill>
          <a:ln w="1587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58" name="Image 0" descr="preencoded.png"/>
          <p:cNvPicPr/>
          <p:nvPr/>
        </p:nvPicPr>
        <p:blipFill>
          <a:blip r:embed="rId1"/>
          <a:stretch/>
        </p:blipFill>
        <p:spPr>
          <a:xfrm>
            <a:off x="777240" y="1920240"/>
            <a:ext cx="383760" cy="383760"/>
          </a:xfrm>
          <a:prstGeom prst="rect">
            <a:avLst/>
          </a:prstGeom>
          <a:noFill/>
          <a:ln w="0">
            <a:noFill/>
          </a:ln>
        </p:spPr>
      </p:pic>
      <p:sp>
        <p:nvSpPr>
          <p:cNvPr id="159" name="Text 4"/>
          <p:cNvSpPr/>
          <p:nvPr/>
        </p:nvSpPr>
        <p:spPr>
          <a:xfrm>
            <a:off x="1280160" y="1920240"/>
            <a:ext cx="182844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App web</a:t>
            </a:r>
            <a:endParaRPr lang="en-US" sz="1600" b="0" u="none" strike="noStrike">
              <a:solidFill>
                <a:srgbClr val="000000"/>
              </a:solidFill>
              <a:effectLst/>
              <a:uFillTx/>
              <a:latin typeface="Arial"/>
            </a:endParaRPr>
          </a:p>
        </p:txBody>
      </p:sp>
      <p:sp>
        <p:nvSpPr>
          <p:cNvPr id="160" name="Text 5"/>
          <p:cNvSpPr/>
          <p:nvPr/>
        </p:nvSpPr>
        <p:spPr>
          <a:xfrm>
            <a:off x="777240" y="2423160"/>
            <a:ext cx="23313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HTML + fetch + tweetnacl. Assina cada transação com Ed25519.</a:t>
            </a:r>
            <a:endParaRPr lang="en-US" sz="1300" b="0" u="none" strike="noStrike">
              <a:solidFill>
                <a:srgbClr val="000000"/>
              </a:solidFill>
              <a:effectLst/>
              <a:uFillTx/>
              <a:latin typeface="Arial"/>
            </a:endParaRPr>
          </a:p>
        </p:txBody>
      </p:sp>
      <p:sp>
        <p:nvSpPr>
          <p:cNvPr id="161" name="Shape 6"/>
          <p:cNvSpPr/>
          <p:nvPr/>
        </p:nvSpPr>
        <p:spPr>
          <a:xfrm>
            <a:off x="548640" y="4069080"/>
            <a:ext cx="2742840" cy="1462680"/>
          </a:xfrm>
          <a:prstGeom prst="roundRect">
            <a:avLst>
              <a:gd name="adj" fmla="val 5000"/>
            </a:avLst>
          </a:prstGeom>
          <a:solidFill>
            <a:srgbClr val="F2F5F7"/>
          </a:solidFill>
          <a:ln w="12700">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62" name="Image 1" descr="preencoded.png"/>
          <p:cNvPicPr/>
          <p:nvPr/>
        </p:nvPicPr>
        <p:blipFill>
          <a:blip r:embed="rId2"/>
          <a:stretch/>
        </p:blipFill>
        <p:spPr>
          <a:xfrm>
            <a:off x="777240" y="4224600"/>
            <a:ext cx="383760" cy="383760"/>
          </a:xfrm>
          <a:prstGeom prst="rect">
            <a:avLst/>
          </a:prstGeom>
          <a:noFill/>
          <a:ln w="0">
            <a:noFill/>
          </a:ln>
        </p:spPr>
      </p:pic>
      <p:sp>
        <p:nvSpPr>
          <p:cNvPr id="163" name="Text 7"/>
          <p:cNvSpPr/>
          <p:nvPr/>
        </p:nvSpPr>
        <p:spPr>
          <a:xfrm>
            <a:off x="1280160" y="4224600"/>
            <a:ext cx="1965600" cy="383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400" b="1" u="none" strike="noStrike">
                <a:solidFill>
                  <a:srgbClr val="1E2328"/>
                </a:solidFill>
                <a:effectLst/>
                <a:uFillTx/>
                <a:latin typeface="Arial"/>
                <a:ea typeface="Arial"/>
              </a:rPr>
              <a:t>Docs off-chain :3001</a:t>
            </a:r>
            <a:endParaRPr lang="en-US" sz="1400" b="0" u="none" strike="noStrike">
              <a:solidFill>
                <a:srgbClr val="000000"/>
              </a:solidFill>
              <a:effectLst/>
              <a:uFillTx/>
              <a:latin typeface="Arial"/>
            </a:endParaRPr>
          </a:p>
        </p:txBody>
      </p:sp>
      <p:sp>
        <p:nvSpPr>
          <p:cNvPr id="164" name="Text 8"/>
          <p:cNvSpPr/>
          <p:nvPr/>
        </p:nvSpPr>
        <p:spPr>
          <a:xfrm>
            <a:off x="777240" y="4709160"/>
            <a:ext cx="2331360" cy="7311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Documentos JSON: chassi, fotos, laudos de vistoria.</a:t>
            </a:r>
            <a:endParaRPr lang="en-US" sz="1300" b="0" u="none" strike="noStrike">
              <a:solidFill>
                <a:srgbClr val="000000"/>
              </a:solidFill>
              <a:effectLst/>
              <a:uFillTx/>
              <a:latin typeface="Arial"/>
            </a:endParaRPr>
          </a:p>
        </p:txBody>
      </p:sp>
      <p:sp>
        <p:nvSpPr>
          <p:cNvPr id="165" name="Shape 9"/>
          <p:cNvSpPr/>
          <p:nvPr/>
        </p:nvSpPr>
        <p:spPr>
          <a:xfrm>
            <a:off x="1920240" y="3337560"/>
            <a:ext cx="360" cy="731520"/>
          </a:xfrm>
          <a:prstGeom prst="line">
            <a:avLst/>
          </a:prstGeom>
          <a:ln w="22225">
            <a:solidFill>
              <a:srgbClr val="8B96A1"/>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166" name="Text 10"/>
          <p:cNvSpPr/>
          <p:nvPr/>
        </p:nvSpPr>
        <p:spPr>
          <a:xfrm>
            <a:off x="2030040" y="3520440"/>
            <a:ext cx="123408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0" u="none" strike="noStrike">
                <a:solidFill>
                  <a:srgbClr val="5F6B76"/>
                </a:solidFill>
                <a:effectLst/>
                <a:uFillTx/>
                <a:latin typeface="Calibri"/>
                <a:ea typeface="Calibri"/>
              </a:rPr>
              <a:t>busca e hash</a:t>
            </a:r>
            <a:endParaRPr lang="en-US" sz="1100" b="0" u="none" strike="noStrike">
              <a:solidFill>
                <a:srgbClr val="000000"/>
              </a:solidFill>
              <a:effectLst/>
              <a:uFillTx/>
              <a:latin typeface="Arial"/>
            </a:endParaRPr>
          </a:p>
        </p:txBody>
      </p:sp>
      <p:sp>
        <p:nvSpPr>
          <p:cNvPr id="167" name="Shape 11"/>
          <p:cNvSpPr/>
          <p:nvPr/>
        </p:nvSpPr>
        <p:spPr>
          <a:xfrm>
            <a:off x="4069080" y="1645920"/>
            <a:ext cx="4571640" cy="4023000"/>
          </a:xfrm>
          <a:prstGeom prst="roundRect">
            <a:avLst>
              <a:gd name="adj" fmla="val 1818"/>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68" name="Image 2" descr="preencoded.png"/>
          <p:cNvPicPr/>
          <p:nvPr/>
        </p:nvPicPr>
        <p:blipFill>
          <a:blip r:embed="rId3"/>
          <a:stretch/>
        </p:blipFill>
        <p:spPr>
          <a:xfrm>
            <a:off x="4325040" y="1764720"/>
            <a:ext cx="456840" cy="456840"/>
          </a:xfrm>
          <a:prstGeom prst="rect">
            <a:avLst/>
          </a:prstGeom>
          <a:noFill/>
          <a:ln w="0">
            <a:noFill/>
          </a:ln>
        </p:spPr>
      </p:pic>
      <p:sp>
        <p:nvSpPr>
          <p:cNvPr id="169" name="Text 12"/>
          <p:cNvSpPr/>
          <p:nvPr/>
        </p:nvSpPr>
        <p:spPr>
          <a:xfrm>
            <a:off x="4892040" y="1764720"/>
            <a:ext cx="34743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FFFFFF"/>
                </a:solidFill>
                <a:effectLst/>
                <a:uFillTx/>
                <a:latin typeface="Arial"/>
                <a:ea typeface="Arial"/>
              </a:rPr>
              <a:t>Nó Go · um único binário</a:t>
            </a:r>
            <a:endParaRPr lang="en-US" sz="1600" b="0" u="none" strike="noStrike">
              <a:solidFill>
                <a:srgbClr val="000000"/>
              </a:solidFill>
              <a:effectLst/>
              <a:uFillTx/>
              <a:latin typeface="Arial"/>
            </a:endParaRPr>
          </a:p>
        </p:txBody>
      </p:sp>
      <p:sp>
        <p:nvSpPr>
          <p:cNvPr id="170" name="Shape 13"/>
          <p:cNvSpPr/>
          <p:nvPr/>
        </p:nvSpPr>
        <p:spPr>
          <a:xfrm>
            <a:off x="4325040" y="2377440"/>
            <a:ext cx="4059720" cy="658080"/>
          </a:xfrm>
          <a:prstGeom prst="roundRect">
            <a:avLst>
              <a:gd name="adj" fmla="val 11111"/>
            </a:avLst>
          </a:prstGeom>
          <a:solidFill>
            <a:srgbClr val="2A3138"/>
          </a:solidFill>
          <a:ln w="9525">
            <a:solidFill>
              <a:srgbClr val="2A313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1" name="Text 14"/>
          <p:cNvSpPr/>
          <p:nvPr/>
        </p:nvSpPr>
        <p:spPr>
          <a:xfrm>
            <a:off x="4507920" y="2377440"/>
            <a:ext cx="114264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300" b="1" u="none" strike="noStrike">
                <a:solidFill>
                  <a:srgbClr val="00ADD8"/>
                </a:solidFill>
                <a:effectLst/>
                <a:uFillTx/>
                <a:latin typeface="Arial"/>
                <a:ea typeface="Arial"/>
              </a:rPr>
              <a:t>API HTTP</a:t>
            </a:r>
            <a:endParaRPr lang="en-US" sz="1300" b="0" u="none" strike="noStrike">
              <a:solidFill>
                <a:srgbClr val="000000"/>
              </a:solidFill>
              <a:effectLst/>
              <a:uFillTx/>
              <a:latin typeface="Arial"/>
            </a:endParaRPr>
          </a:p>
        </p:txBody>
      </p:sp>
      <p:sp>
        <p:nvSpPr>
          <p:cNvPr id="172" name="Text 15"/>
          <p:cNvSpPr/>
          <p:nvPr/>
        </p:nvSpPr>
        <p:spPr>
          <a:xfrm>
            <a:off x="5669280" y="2377440"/>
            <a:ext cx="25599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300" b="0" u="none" strike="noStrike">
                <a:solidFill>
                  <a:srgbClr val="FFFFFF"/>
                </a:solidFill>
                <a:effectLst/>
                <a:uFillTx/>
                <a:latin typeface="Calibri"/>
                <a:ea typeface="Calibri"/>
              </a:rPr>
              <a:t>net/http, JSON na porta 8080</a:t>
            </a:r>
            <a:endParaRPr lang="en-US" sz="1300" b="0" u="none" strike="noStrike">
              <a:solidFill>
                <a:srgbClr val="000000"/>
              </a:solidFill>
              <a:effectLst/>
              <a:uFillTx/>
              <a:latin typeface="Arial"/>
            </a:endParaRPr>
          </a:p>
        </p:txBody>
      </p:sp>
      <p:sp>
        <p:nvSpPr>
          <p:cNvPr id="173" name="Shape 16"/>
          <p:cNvSpPr/>
          <p:nvPr/>
        </p:nvSpPr>
        <p:spPr>
          <a:xfrm>
            <a:off x="4325040" y="3182040"/>
            <a:ext cx="4059720" cy="658080"/>
          </a:xfrm>
          <a:prstGeom prst="roundRect">
            <a:avLst>
              <a:gd name="adj" fmla="val 11111"/>
            </a:avLst>
          </a:prstGeom>
          <a:solidFill>
            <a:srgbClr val="2A3138"/>
          </a:solidFill>
          <a:ln w="9525">
            <a:solidFill>
              <a:srgbClr val="2A313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4" name="Text 17"/>
          <p:cNvSpPr/>
          <p:nvPr/>
        </p:nvSpPr>
        <p:spPr>
          <a:xfrm>
            <a:off x="4507920" y="3182040"/>
            <a:ext cx="114264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300" b="1" u="none" strike="noStrike">
                <a:solidFill>
                  <a:srgbClr val="00ADD8"/>
                </a:solidFill>
                <a:effectLst/>
                <a:uFillTx/>
                <a:latin typeface="Arial"/>
                <a:ea typeface="Arial"/>
              </a:rPr>
              <a:t>Cadeia</a:t>
            </a:r>
            <a:endParaRPr lang="en-US" sz="1300" b="0" u="none" strike="noStrike">
              <a:solidFill>
                <a:srgbClr val="000000"/>
              </a:solidFill>
              <a:effectLst/>
              <a:uFillTx/>
              <a:latin typeface="Arial"/>
            </a:endParaRPr>
          </a:p>
        </p:txBody>
      </p:sp>
      <p:sp>
        <p:nvSpPr>
          <p:cNvPr id="175" name="Text 18"/>
          <p:cNvSpPr/>
          <p:nvPr/>
        </p:nvSpPr>
        <p:spPr>
          <a:xfrm>
            <a:off x="5669280" y="3182040"/>
            <a:ext cx="25599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300" b="0" u="none" strike="noStrike">
                <a:solidFill>
                  <a:srgbClr val="FFFFFF"/>
                </a:solidFill>
                <a:effectLst/>
                <a:uFillTx/>
                <a:latin typeface="Calibri"/>
                <a:ea typeface="Calibri"/>
              </a:rPr>
              <a:t>verifica assinatura, sela e encadeia blocos</a:t>
            </a:r>
            <a:endParaRPr lang="en-US" sz="1300" b="0" u="none" strike="noStrike">
              <a:solidFill>
                <a:srgbClr val="000000"/>
              </a:solidFill>
              <a:effectLst/>
              <a:uFillTx/>
              <a:latin typeface="Arial"/>
            </a:endParaRPr>
          </a:p>
        </p:txBody>
      </p:sp>
      <p:sp>
        <p:nvSpPr>
          <p:cNvPr id="176" name="Shape 19"/>
          <p:cNvSpPr/>
          <p:nvPr/>
        </p:nvSpPr>
        <p:spPr>
          <a:xfrm>
            <a:off x="4325040" y="3986640"/>
            <a:ext cx="4059720" cy="658080"/>
          </a:xfrm>
          <a:prstGeom prst="roundRect">
            <a:avLst>
              <a:gd name="adj" fmla="val 11111"/>
            </a:avLst>
          </a:prstGeom>
          <a:solidFill>
            <a:srgbClr val="2A3138"/>
          </a:solidFill>
          <a:ln w="9525">
            <a:solidFill>
              <a:srgbClr val="2A313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7" name="Text 20"/>
          <p:cNvSpPr/>
          <p:nvPr/>
        </p:nvSpPr>
        <p:spPr>
          <a:xfrm>
            <a:off x="4507920" y="3986640"/>
            <a:ext cx="114264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300" b="1" u="none" strike="noStrike">
                <a:solidFill>
                  <a:srgbClr val="00ADD8"/>
                </a:solidFill>
                <a:effectLst/>
                <a:uFillTx/>
                <a:latin typeface="Arial"/>
                <a:ea typeface="Arial"/>
              </a:rPr>
              <a:t>Contrato</a:t>
            </a:r>
            <a:endParaRPr lang="en-US" sz="1300" b="0" u="none" strike="noStrike">
              <a:solidFill>
                <a:srgbClr val="000000"/>
              </a:solidFill>
              <a:effectLst/>
              <a:uFillTx/>
              <a:latin typeface="Arial"/>
            </a:endParaRPr>
          </a:p>
        </p:txBody>
      </p:sp>
      <p:sp>
        <p:nvSpPr>
          <p:cNvPr id="178" name="Text 21"/>
          <p:cNvSpPr/>
          <p:nvPr/>
        </p:nvSpPr>
        <p:spPr>
          <a:xfrm>
            <a:off x="5669280" y="3986640"/>
            <a:ext cx="25599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300" b="0" u="none" strike="noStrike">
                <a:solidFill>
                  <a:srgbClr val="FFFFFF"/>
                </a:solidFill>
                <a:effectLst/>
                <a:uFillTx/>
                <a:latin typeface="Calibri"/>
                <a:ea typeface="Calibri"/>
              </a:rPr>
              <a:t>Dispatch(state, blockTime, tx)</a:t>
            </a:r>
            <a:endParaRPr lang="en-US" sz="1300" b="0" u="none" strike="noStrike">
              <a:solidFill>
                <a:srgbClr val="000000"/>
              </a:solidFill>
              <a:effectLst/>
              <a:uFillTx/>
              <a:latin typeface="Arial"/>
            </a:endParaRPr>
          </a:p>
        </p:txBody>
      </p:sp>
      <p:sp>
        <p:nvSpPr>
          <p:cNvPr id="179" name="Shape 22"/>
          <p:cNvSpPr/>
          <p:nvPr/>
        </p:nvSpPr>
        <p:spPr>
          <a:xfrm>
            <a:off x="4325040" y="4791600"/>
            <a:ext cx="4059720" cy="658080"/>
          </a:xfrm>
          <a:prstGeom prst="roundRect">
            <a:avLst>
              <a:gd name="adj" fmla="val 11111"/>
            </a:avLst>
          </a:prstGeom>
          <a:solidFill>
            <a:srgbClr val="2A3138"/>
          </a:solidFill>
          <a:ln w="9525">
            <a:solidFill>
              <a:srgbClr val="2A313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0" name="Text 23"/>
          <p:cNvSpPr/>
          <p:nvPr/>
        </p:nvSpPr>
        <p:spPr>
          <a:xfrm>
            <a:off x="4507920" y="4791600"/>
            <a:ext cx="114264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300" b="1" u="none" strike="noStrike">
                <a:solidFill>
                  <a:srgbClr val="00ADD8"/>
                </a:solidFill>
                <a:effectLst/>
                <a:uFillTx/>
                <a:latin typeface="Arial"/>
                <a:ea typeface="Arial"/>
              </a:rPr>
              <a:t>Estado</a:t>
            </a:r>
            <a:endParaRPr lang="en-US" sz="1300" b="0" u="none" strike="noStrike">
              <a:solidFill>
                <a:srgbClr val="000000"/>
              </a:solidFill>
              <a:effectLst/>
              <a:uFillTx/>
              <a:latin typeface="Arial"/>
            </a:endParaRPr>
          </a:p>
        </p:txBody>
      </p:sp>
      <p:sp>
        <p:nvSpPr>
          <p:cNvPr id="181" name="Text 24"/>
          <p:cNvSpPr/>
          <p:nvPr/>
        </p:nvSpPr>
        <p:spPr>
          <a:xfrm>
            <a:off x="5669280" y="4791600"/>
            <a:ext cx="255996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300" b="0" u="none" strike="noStrike">
                <a:solidFill>
                  <a:srgbClr val="FFFFFF"/>
                </a:solidFill>
                <a:effectLst/>
                <a:uFillTx/>
                <a:latin typeface="Calibri"/>
                <a:ea typeface="Calibri"/>
              </a:rPr>
              <a:t>ledger, ativos, locações, papéis</a:t>
            </a:r>
            <a:endParaRPr lang="en-US" sz="1300" b="0" u="none" strike="noStrike">
              <a:solidFill>
                <a:srgbClr val="000000"/>
              </a:solidFill>
              <a:effectLst/>
              <a:uFillTx/>
              <a:latin typeface="Arial"/>
            </a:endParaRPr>
          </a:p>
        </p:txBody>
      </p:sp>
      <p:sp>
        <p:nvSpPr>
          <p:cNvPr id="182" name="Shape 25"/>
          <p:cNvSpPr/>
          <p:nvPr/>
        </p:nvSpPr>
        <p:spPr>
          <a:xfrm>
            <a:off x="3291840" y="2706480"/>
            <a:ext cx="777240" cy="360"/>
          </a:xfrm>
          <a:prstGeom prst="line">
            <a:avLst/>
          </a:prstGeom>
          <a:ln w="22225">
            <a:solidFill>
              <a:srgbClr val="007D9C"/>
            </a:solidFill>
            <a:round/>
            <a:headEnd len="med" type="triangle" w="me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3" name="Text 26"/>
          <p:cNvSpPr/>
          <p:nvPr/>
        </p:nvSpPr>
        <p:spPr>
          <a:xfrm>
            <a:off x="3346560" y="2103120"/>
            <a:ext cx="7311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050" b="0" u="none" strike="noStrike">
                <a:solidFill>
                  <a:srgbClr val="5F6B76"/>
                </a:solidFill>
                <a:effectLst/>
                <a:uFillTx/>
                <a:latin typeface="Calibri"/>
                <a:ea typeface="Calibri"/>
              </a:rPr>
              <a:t>tx assinada,</a:t>
            </a:r>
            <a:endParaRPr lang="en-US" sz="1050" b="0" u="none" strike="noStrike">
              <a:solidFill>
                <a:srgbClr val="000000"/>
              </a:solidFill>
              <a:effectLst/>
              <a:uFillTx/>
              <a:latin typeface="Arial"/>
            </a:endParaRPr>
          </a:p>
          <a:p>
            <a:pPr defTabSz="914400">
              <a:lnSpc>
                <a:spcPct val="100000"/>
              </a:lnSpc>
              <a:tabLst>
                <a:tab pos="0" algn="l"/>
              </a:tabLst>
            </a:pPr>
            <a:r>
              <a:rPr lang="pt-BR" sz="1050" b="0" u="none" strike="noStrike">
                <a:solidFill>
                  <a:srgbClr val="5F6B76"/>
                </a:solidFill>
                <a:effectLst/>
                <a:uFillTx/>
                <a:latin typeface="Calibri"/>
                <a:ea typeface="Calibri"/>
              </a:rPr>
              <a:t>consultas</a:t>
            </a:r>
            <a:endParaRPr lang="en-US" sz="1050" b="0" u="none" strike="noStrike">
              <a:solidFill>
                <a:srgbClr val="000000"/>
              </a:solidFill>
              <a:effectLst/>
              <a:uFillTx/>
              <a:latin typeface="Arial"/>
            </a:endParaRPr>
          </a:p>
        </p:txBody>
      </p:sp>
      <p:sp>
        <p:nvSpPr>
          <p:cNvPr id="184" name="Shape 27"/>
          <p:cNvSpPr/>
          <p:nvPr/>
        </p:nvSpPr>
        <p:spPr>
          <a:xfrm>
            <a:off x="3291840" y="4315680"/>
            <a:ext cx="777240" cy="360"/>
          </a:xfrm>
          <a:prstGeom prst="line">
            <a:avLst/>
          </a:prstGeom>
          <a:ln w="22225">
            <a:solidFill>
              <a:srgbClr val="F2A900"/>
            </a:solidFill>
            <a:prstDash val="dash"/>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5" name="Text 28"/>
          <p:cNvSpPr/>
          <p:nvPr/>
        </p:nvSpPr>
        <p:spPr>
          <a:xfrm>
            <a:off x="3346560" y="4389120"/>
            <a:ext cx="73116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050" b="0" u="none" strike="noStrike">
                <a:solidFill>
                  <a:srgbClr val="5F6B76"/>
                </a:solidFill>
                <a:effectLst/>
                <a:uFillTx/>
                <a:latin typeface="Calibri"/>
                <a:ea typeface="Calibri"/>
              </a:rPr>
              <a:t>SHA-256</a:t>
            </a:r>
            <a:endParaRPr lang="en-US" sz="1050" b="0" u="none" strike="noStrike">
              <a:solidFill>
                <a:srgbClr val="000000"/>
              </a:solidFill>
              <a:effectLst/>
              <a:uFillTx/>
              <a:latin typeface="Arial"/>
            </a:endParaRPr>
          </a:p>
          <a:p>
            <a:pPr defTabSz="914400">
              <a:lnSpc>
                <a:spcPct val="100000"/>
              </a:lnSpc>
              <a:tabLst>
                <a:tab pos="0" algn="l"/>
              </a:tabLst>
            </a:pPr>
            <a:r>
              <a:rPr lang="pt-BR" sz="1050" b="0" u="none" strike="noStrike">
                <a:solidFill>
                  <a:srgbClr val="5F6B76"/>
                </a:solidFill>
                <a:effectLst/>
                <a:uFillTx/>
                <a:latin typeface="Calibri"/>
                <a:ea typeface="Calibri"/>
              </a:rPr>
              <a:t>nos args</a:t>
            </a:r>
            <a:endParaRPr lang="en-US" sz="1050" b="0" u="none" strike="noStrike">
              <a:solidFill>
                <a:srgbClr val="000000"/>
              </a:solidFill>
              <a:effectLst/>
              <a:uFillTx/>
              <a:latin typeface="Arial"/>
            </a:endParaRPr>
          </a:p>
        </p:txBody>
      </p:sp>
      <p:sp>
        <p:nvSpPr>
          <p:cNvPr id="186" name="Shape 29"/>
          <p:cNvSpPr/>
          <p:nvPr/>
        </p:nvSpPr>
        <p:spPr>
          <a:xfrm>
            <a:off x="9372600" y="2697480"/>
            <a:ext cx="2267280" cy="1737000"/>
          </a:xfrm>
          <a:prstGeom prst="roundRect">
            <a:avLst>
              <a:gd name="adj" fmla="val 4211"/>
            </a:avLst>
          </a:prstGeom>
          <a:solidFill>
            <a:srgbClr val="F2F5F7"/>
          </a:solidFill>
          <a:ln w="12700">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87" name="Image 3" descr="preencoded.png"/>
          <p:cNvPicPr/>
          <p:nvPr/>
        </p:nvPicPr>
        <p:blipFill>
          <a:blip r:embed="rId4"/>
          <a:stretch/>
        </p:blipFill>
        <p:spPr>
          <a:xfrm>
            <a:off x="9555480" y="2853000"/>
            <a:ext cx="365400" cy="365400"/>
          </a:xfrm>
          <a:prstGeom prst="rect">
            <a:avLst/>
          </a:prstGeom>
          <a:noFill/>
          <a:ln w="0">
            <a:noFill/>
          </a:ln>
        </p:spPr>
      </p:pic>
      <p:sp>
        <p:nvSpPr>
          <p:cNvPr id="188" name="Text 30"/>
          <p:cNvSpPr/>
          <p:nvPr/>
        </p:nvSpPr>
        <p:spPr>
          <a:xfrm>
            <a:off x="10040040" y="2853000"/>
            <a:ext cx="15084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400" b="1" u="none" strike="noStrike">
                <a:solidFill>
                  <a:srgbClr val="1E2328"/>
                </a:solidFill>
                <a:effectLst/>
                <a:uFillTx/>
                <a:latin typeface="Arial"/>
                <a:ea typeface="Arial"/>
              </a:rPr>
              <a:t>Log de blocos</a:t>
            </a:r>
            <a:endParaRPr lang="en-US" sz="1400" b="0" u="none" strike="noStrike">
              <a:solidFill>
                <a:srgbClr val="000000"/>
              </a:solidFill>
              <a:effectLst/>
              <a:uFillTx/>
              <a:latin typeface="Arial"/>
            </a:endParaRPr>
          </a:p>
        </p:txBody>
      </p:sp>
      <p:sp>
        <p:nvSpPr>
          <p:cNvPr id="189" name="Text 31"/>
          <p:cNvSpPr/>
          <p:nvPr/>
        </p:nvSpPr>
        <p:spPr>
          <a:xfrm>
            <a:off x="9555480" y="3337560"/>
            <a:ext cx="191988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50" b="0" u="none" strike="noStrike">
                <a:solidFill>
                  <a:srgbClr val="5F6B76"/>
                </a:solidFill>
                <a:effectLst/>
                <a:uFillTx/>
                <a:latin typeface="Calibri"/>
                <a:ea typeface="Calibri"/>
              </a:rPr>
              <a:t>Opcional (--datadir). Reexecutado e verificado a cada reinício.</a:t>
            </a:r>
            <a:endParaRPr lang="en-US" sz="1250" b="0" u="none" strike="noStrike">
              <a:solidFill>
                <a:srgbClr val="000000"/>
              </a:solidFill>
              <a:effectLst/>
              <a:uFillTx/>
              <a:latin typeface="Arial"/>
            </a:endParaRPr>
          </a:p>
        </p:txBody>
      </p:sp>
      <p:sp>
        <p:nvSpPr>
          <p:cNvPr id="190" name="Shape 32"/>
          <p:cNvSpPr/>
          <p:nvPr/>
        </p:nvSpPr>
        <p:spPr>
          <a:xfrm>
            <a:off x="8641080" y="3511080"/>
            <a:ext cx="731520" cy="360"/>
          </a:xfrm>
          <a:prstGeom prst="line">
            <a:avLst/>
          </a:prstGeom>
          <a:ln w="22225">
            <a:solidFill>
              <a:srgbClr val="8B96A1"/>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91" name="Text 33"/>
          <p:cNvSpPr/>
          <p:nvPr/>
        </p:nvSpPr>
        <p:spPr>
          <a:xfrm>
            <a:off x="548640" y="5852160"/>
            <a:ext cx="1109412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i="1" u="none" strike="noStrike">
                <a:solidFill>
                  <a:srgbClr val="5F6B76"/>
                </a:solidFill>
                <a:effectLst/>
                <a:uFillTx/>
                <a:latin typeface="Calibri"/>
                <a:ea typeface="Calibri"/>
              </a:rPr>
              <a:t>Sem bytecode implantado nem endereço de contrato: todo validador roda o mesmo binário, então todos calculam o mesmo estado a partir das mesmas transações.</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2"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02 · ARQUITETURA</a:t>
            </a:r>
            <a:endParaRPr lang="en-US" sz="1100" b="0" u="none" strike="noStrike">
              <a:solidFill>
                <a:srgbClr val="000000"/>
              </a:solidFill>
              <a:effectLst/>
              <a:uFillTx/>
              <a:latin typeface="Arial"/>
            </a:endParaRPr>
          </a:p>
        </p:txBody>
      </p:sp>
      <p:sp>
        <p:nvSpPr>
          <p:cNvPr id="193"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O ciclo de vida de uma transação</a:t>
            </a:r>
            <a:endParaRPr lang="en-US" sz="3200" b="0" u="none" strike="noStrike">
              <a:solidFill>
                <a:srgbClr val="000000"/>
              </a:solidFill>
              <a:effectLst/>
              <a:uFillTx/>
              <a:latin typeface="Arial"/>
            </a:endParaRPr>
          </a:p>
        </p:txBody>
      </p:sp>
      <p:sp>
        <p:nvSpPr>
          <p:cNvPr id="194"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8</a:t>
            </a:r>
            <a:endParaRPr lang="en-US" sz="1000" b="0" u="none" strike="noStrike">
              <a:solidFill>
                <a:srgbClr val="000000"/>
              </a:solidFill>
              <a:effectLst/>
              <a:uFillTx/>
              <a:latin typeface="Arial"/>
            </a:endParaRPr>
          </a:p>
        </p:txBody>
      </p:sp>
      <p:sp>
        <p:nvSpPr>
          <p:cNvPr id="195" name="Shape 3"/>
          <p:cNvSpPr/>
          <p:nvPr/>
        </p:nvSpPr>
        <p:spPr>
          <a:xfrm>
            <a:off x="1280160" y="2057400"/>
            <a:ext cx="1441440" cy="360"/>
          </a:xfrm>
          <a:prstGeom prst="line">
            <a:avLst/>
          </a:prstGeom>
          <a:ln w="25400">
            <a:solidFill>
              <a:srgbClr val="D5DBE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96" name="Shape 4"/>
          <p:cNvSpPr/>
          <p:nvPr/>
        </p:nvSpPr>
        <p:spPr>
          <a:xfrm>
            <a:off x="548640" y="1710000"/>
            <a:ext cx="694440" cy="6944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7" name="Text 5"/>
          <p:cNvSpPr/>
          <p:nvPr/>
        </p:nvSpPr>
        <p:spPr>
          <a:xfrm>
            <a:off x="548640" y="1710000"/>
            <a:ext cx="694440" cy="694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1</a:t>
            </a:r>
            <a:endParaRPr lang="en-US" sz="1800" b="0" u="none" strike="noStrike">
              <a:solidFill>
                <a:srgbClr val="000000"/>
              </a:solidFill>
              <a:effectLst/>
              <a:uFillTx/>
              <a:latin typeface="Arial"/>
            </a:endParaRPr>
          </a:p>
        </p:txBody>
      </p:sp>
      <p:sp>
        <p:nvSpPr>
          <p:cNvPr id="198" name="Text 6"/>
          <p:cNvSpPr/>
          <p:nvPr/>
        </p:nvSpPr>
        <p:spPr>
          <a:xfrm>
            <a:off x="548640" y="2560320"/>
            <a:ext cx="1990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1E2328"/>
                </a:solidFill>
                <a:effectLst/>
                <a:uFillTx/>
                <a:latin typeface="Arial"/>
                <a:ea typeface="Arial"/>
              </a:rPr>
              <a:t>Montar</a:t>
            </a:r>
            <a:endParaRPr lang="en-US" sz="1700" b="0" u="none" strike="noStrike">
              <a:solidFill>
                <a:srgbClr val="000000"/>
              </a:solidFill>
              <a:effectLst/>
              <a:uFillTx/>
              <a:latin typeface="Arial"/>
            </a:endParaRPr>
          </a:p>
        </p:txBody>
      </p:sp>
      <p:sp>
        <p:nvSpPr>
          <p:cNvPr id="199" name="Text 7"/>
          <p:cNvSpPr/>
          <p:nvPr/>
        </p:nvSpPr>
        <p:spPr>
          <a:xfrm>
            <a:off x="548640" y="2971800"/>
            <a:ext cx="194436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JSON com from, method, args e nonce. O campo from é uma chave pública em hex.</a:t>
            </a:r>
            <a:endParaRPr lang="en-US" sz="1350" b="0" u="none" strike="noStrike">
              <a:solidFill>
                <a:srgbClr val="000000"/>
              </a:solidFill>
              <a:effectLst/>
              <a:uFillTx/>
              <a:latin typeface="Arial"/>
            </a:endParaRPr>
          </a:p>
        </p:txBody>
      </p:sp>
      <p:sp>
        <p:nvSpPr>
          <p:cNvPr id="200" name="Shape 8"/>
          <p:cNvSpPr/>
          <p:nvPr/>
        </p:nvSpPr>
        <p:spPr>
          <a:xfrm>
            <a:off x="3498840" y="2057400"/>
            <a:ext cx="1441800" cy="360"/>
          </a:xfrm>
          <a:prstGeom prst="line">
            <a:avLst/>
          </a:prstGeom>
          <a:ln w="25400">
            <a:solidFill>
              <a:srgbClr val="D5DBE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1" name="Shape 9"/>
          <p:cNvSpPr/>
          <p:nvPr/>
        </p:nvSpPr>
        <p:spPr>
          <a:xfrm>
            <a:off x="2767680" y="1710000"/>
            <a:ext cx="694440" cy="6944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2" name="Text 10"/>
          <p:cNvSpPr/>
          <p:nvPr/>
        </p:nvSpPr>
        <p:spPr>
          <a:xfrm>
            <a:off x="2767680" y="1710000"/>
            <a:ext cx="694440" cy="694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2</a:t>
            </a:r>
            <a:endParaRPr lang="en-US" sz="1800" b="0" u="none" strike="noStrike">
              <a:solidFill>
                <a:srgbClr val="000000"/>
              </a:solidFill>
              <a:effectLst/>
              <a:uFillTx/>
              <a:latin typeface="Arial"/>
            </a:endParaRPr>
          </a:p>
        </p:txBody>
      </p:sp>
      <p:sp>
        <p:nvSpPr>
          <p:cNvPr id="203" name="Text 11"/>
          <p:cNvSpPr/>
          <p:nvPr/>
        </p:nvSpPr>
        <p:spPr>
          <a:xfrm>
            <a:off x="2767680" y="2560320"/>
            <a:ext cx="1990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1E2328"/>
                </a:solidFill>
                <a:effectLst/>
                <a:uFillTx/>
                <a:latin typeface="Arial"/>
                <a:ea typeface="Arial"/>
              </a:rPr>
              <a:t>Assinar</a:t>
            </a:r>
            <a:endParaRPr lang="en-US" sz="1700" b="0" u="none" strike="noStrike">
              <a:solidFill>
                <a:srgbClr val="000000"/>
              </a:solidFill>
              <a:effectLst/>
              <a:uFillTx/>
              <a:latin typeface="Arial"/>
            </a:endParaRPr>
          </a:p>
        </p:txBody>
      </p:sp>
      <p:sp>
        <p:nvSpPr>
          <p:cNvPr id="204" name="Text 12"/>
          <p:cNvSpPr/>
          <p:nvPr/>
        </p:nvSpPr>
        <p:spPr>
          <a:xfrm>
            <a:off x="2767680" y="2971800"/>
            <a:ext cx="194436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Ed25519 sobre o SHA-512 desse JSON, no navegador, com tweetnacl.</a:t>
            </a:r>
            <a:endParaRPr lang="en-US" sz="1350" b="0" u="none" strike="noStrike">
              <a:solidFill>
                <a:srgbClr val="000000"/>
              </a:solidFill>
              <a:effectLst/>
              <a:uFillTx/>
              <a:latin typeface="Arial"/>
            </a:endParaRPr>
          </a:p>
        </p:txBody>
      </p:sp>
      <p:sp>
        <p:nvSpPr>
          <p:cNvPr id="205" name="Shape 13"/>
          <p:cNvSpPr/>
          <p:nvPr/>
        </p:nvSpPr>
        <p:spPr>
          <a:xfrm>
            <a:off x="5717880" y="2057400"/>
            <a:ext cx="1441440" cy="360"/>
          </a:xfrm>
          <a:prstGeom prst="line">
            <a:avLst/>
          </a:prstGeom>
          <a:ln w="25400">
            <a:solidFill>
              <a:srgbClr val="D5DBE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6" name="Shape 14"/>
          <p:cNvSpPr/>
          <p:nvPr/>
        </p:nvSpPr>
        <p:spPr>
          <a:xfrm>
            <a:off x="4986360" y="1710000"/>
            <a:ext cx="694440" cy="6944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7" name="Text 15"/>
          <p:cNvSpPr/>
          <p:nvPr/>
        </p:nvSpPr>
        <p:spPr>
          <a:xfrm>
            <a:off x="4986360" y="1710000"/>
            <a:ext cx="694440" cy="694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3</a:t>
            </a:r>
            <a:endParaRPr lang="en-US" sz="1800" b="0" u="none" strike="noStrike">
              <a:solidFill>
                <a:srgbClr val="000000"/>
              </a:solidFill>
              <a:effectLst/>
              <a:uFillTx/>
              <a:latin typeface="Arial"/>
            </a:endParaRPr>
          </a:p>
        </p:txBody>
      </p:sp>
      <p:sp>
        <p:nvSpPr>
          <p:cNvPr id="208" name="Text 16"/>
          <p:cNvSpPr/>
          <p:nvPr/>
        </p:nvSpPr>
        <p:spPr>
          <a:xfrm>
            <a:off x="4986360" y="2560320"/>
            <a:ext cx="1990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1E2328"/>
                </a:solidFill>
                <a:effectLst/>
                <a:uFillTx/>
                <a:latin typeface="Arial"/>
                <a:ea typeface="Arial"/>
              </a:rPr>
              <a:t>Admitir</a:t>
            </a:r>
            <a:endParaRPr lang="en-US" sz="1700" b="0" u="none" strike="noStrike">
              <a:solidFill>
                <a:srgbClr val="000000"/>
              </a:solidFill>
              <a:effectLst/>
              <a:uFillTx/>
              <a:latin typeface="Arial"/>
            </a:endParaRPr>
          </a:p>
        </p:txBody>
      </p:sp>
      <p:sp>
        <p:nvSpPr>
          <p:cNvPr id="209" name="Text 17"/>
          <p:cNvSpPr/>
          <p:nvPr/>
        </p:nvSpPr>
        <p:spPr>
          <a:xfrm>
            <a:off x="4986360" y="2971800"/>
            <a:ext cx="194436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O nó reconstrói os bytes exatos, confere a assinatura e recusa repetições.</a:t>
            </a:r>
            <a:endParaRPr lang="en-US" sz="1350" b="0" u="none" strike="noStrike">
              <a:solidFill>
                <a:srgbClr val="000000"/>
              </a:solidFill>
              <a:effectLst/>
              <a:uFillTx/>
              <a:latin typeface="Arial"/>
            </a:endParaRPr>
          </a:p>
        </p:txBody>
      </p:sp>
      <p:sp>
        <p:nvSpPr>
          <p:cNvPr id="210" name="Shape 18"/>
          <p:cNvSpPr/>
          <p:nvPr/>
        </p:nvSpPr>
        <p:spPr>
          <a:xfrm>
            <a:off x="7936560" y="2057400"/>
            <a:ext cx="1441800" cy="360"/>
          </a:xfrm>
          <a:prstGeom prst="line">
            <a:avLst/>
          </a:prstGeom>
          <a:ln w="25400">
            <a:solidFill>
              <a:srgbClr val="D5DBE1"/>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11" name="Shape 19"/>
          <p:cNvSpPr/>
          <p:nvPr/>
        </p:nvSpPr>
        <p:spPr>
          <a:xfrm>
            <a:off x="7205400" y="1710000"/>
            <a:ext cx="694440" cy="6944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2" name="Text 20"/>
          <p:cNvSpPr/>
          <p:nvPr/>
        </p:nvSpPr>
        <p:spPr>
          <a:xfrm>
            <a:off x="7205400" y="1710000"/>
            <a:ext cx="694440" cy="694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4</a:t>
            </a:r>
            <a:endParaRPr lang="en-US" sz="1800" b="0" u="none" strike="noStrike">
              <a:solidFill>
                <a:srgbClr val="000000"/>
              </a:solidFill>
              <a:effectLst/>
              <a:uFillTx/>
              <a:latin typeface="Arial"/>
            </a:endParaRPr>
          </a:p>
        </p:txBody>
      </p:sp>
      <p:sp>
        <p:nvSpPr>
          <p:cNvPr id="213" name="Text 21"/>
          <p:cNvSpPr/>
          <p:nvPr/>
        </p:nvSpPr>
        <p:spPr>
          <a:xfrm>
            <a:off x="7205400" y="2560320"/>
            <a:ext cx="1990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1E2328"/>
                </a:solidFill>
                <a:effectLst/>
                <a:uFillTx/>
                <a:latin typeface="Arial"/>
                <a:ea typeface="Arial"/>
              </a:rPr>
              <a:t>Executar</a:t>
            </a:r>
            <a:endParaRPr lang="en-US" sz="1700" b="0" u="none" strike="noStrike">
              <a:solidFill>
                <a:srgbClr val="000000"/>
              </a:solidFill>
              <a:effectLst/>
              <a:uFillTx/>
              <a:latin typeface="Arial"/>
            </a:endParaRPr>
          </a:p>
        </p:txBody>
      </p:sp>
      <p:sp>
        <p:nvSpPr>
          <p:cNvPr id="214" name="Text 22"/>
          <p:cNvSpPr/>
          <p:nvPr/>
        </p:nvSpPr>
        <p:spPr>
          <a:xfrm>
            <a:off x="7205400" y="2971800"/>
            <a:ext cx="194436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O Dispatch roda o contrato numa cópia do estado, no horário do bloco.</a:t>
            </a:r>
            <a:endParaRPr lang="en-US" sz="1350" b="0" u="none" strike="noStrike">
              <a:solidFill>
                <a:srgbClr val="000000"/>
              </a:solidFill>
              <a:effectLst/>
              <a:uFillTx/>
              <a:latin typeface="Arial"/>
            </a:endParaRPr>
          </a:p>
        </p:txBody>
      </p:sp>
      <p:sp>
        <p:nvSpPr>
          <p:cNvPr id="215" name="Shape 23"/>
          <p:cNvSpPr/>
          <p:nvPr/>
        </p:nvSpPr>
        <p:spPr>
          <a:xfrm>
            <a:off x="9424080" y="1710000"/>
            <a:ext cx="694440" cy="6944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6" name="Text 24"/>
          <p:cNvSpPr/>
          <p:nvPr/>
        </p:nvSpPr>
        <p:spPr>
          <a:xfrm>
            <a:off x="9424080" y="1710000"/>
            <a:ext cx="694440" cy="694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800" b="1" u="none" strike="noStrike">
                <a:solidFill>
                  <a:srgbClr val="FFFFFF"/>
                </a:solidFill>
                <a:effectLst/>
                <a:uFillTx/>
                <a:latin typeface="Arial"/>
                <a:ea typeface="Arial"/>
              </a:rPr>
              <a:t>5</a:t>
            </a:r>
            <a:endParaRPr lang="en-US" sz="1800" b="0" u="none" strike="noStrike">
              <a:solidFill>
                <a:srgbClr val="000000"/>
              </a:solidFill>
              <a:effectLst/>
              <a:uFillTx/>
              <a:latin typeface="Arial"/>
            </a:endParaRPr>
          </a:p>
        </p:txBody>
      </p:sp>
      <p:sp>
        <p:nvSpPr>
          <p:cNvPr id="217" name="Text 25"/>
          <p:cNvSpPr/>
          <p:nvPr/>
        </p:nvSpPr>
        <p:spPr>
          <a:xfrm>
            <a:off x="9424080" y="2560320"/>
            <a:ext cx="19900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1E2328"/>
                </a:solidFill>
                <a:effectLst/>
                <a:uFillTx/>
                <a:latin typeface="Arial"/>
                <a:ea typeface="Arial"/>
              </a:rPr>
              <a:t>Selar</a:t>
            </a:r>
            <a:endParaRPr lang="en-US" sz="1700" b="0" u="none" strike="noStrike">
              <a:solidFill>
                <a:srgbClr val="000000"/>
              </a:solidFill>
              <a:effectLst/>
              <a:uFillTx/>
              <a:latin typeface="Arial"/>
            </a:endParaRPr>
          </a:p>
        </p:txBody>
      </p:sp>
      <p:sp>
        <p:nvSpPr>
          <p:cNvPr id="218" name="Text 26"/>
          <p:cNvSpPr/>
          <p:nvPr/>
        </p:nvSpPr>
        <p:spPr>
          <a:xfrm>
            <a:off x="9424080" y="2971800"/>
            <a:ext cx="194436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Um bloco por transação, encadeado por hash e assinado pelo validador.</a:t>
            </a:r>
            <a:endParaRPr lang="en-US" sz="1350" b="0" u="none" strike="noStrike">
              <a:solidFill>
                <a:srgbClr val="000000"/>
              </a:solidFill>
              <a:effectLst/>
              <a:uFillTx/>
              <a:latin typeface="Arial"/>
            </a:endParaRPr>
          </a:p>
        </p:txBody>
      </p:sp>
      <p:sp>
        <p:nvSpPr>
          <p:cNvPr id="219" name="Shape 27"/>
          <p:cNvSpPr/>
          <p:nvPr/>
        </p:nvSpPr>
        <p:spPr>
          <a:xfrm>
            <a:off x="548640" y="4389120"/>
            <a:ext cx="11094120" cy="1782720"/>
          </a:xfrm>
          <a:prstGeom prst="roundRect">
            <a:avLst>
              <a:gd name="adj" fmla="val 4103"/>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Text 28"/>
          <p:cNvSpPr/>
          <p:nvPr/>
        </p:nvSpPr>
        <p:spPr>
          <a:xfrm>
            <a:off x="822960" y="4526280"/>
            <a:ext cx="10545480" cy="155412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pt-BR" sz="1300" b="1" u="none" strike="noStrike">
                <a:solidFill>
                  <a:srgbClr val="F2A900"/>
                </a:solidFill>
                <a:effectLst/>
                <a:uFillTx/>
                <a:latin typeface="Courier New"/>
                <a:ea typeface="Courier New"/>
              </a:rPr>
              <a:t>POST /tx</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0" u="none" strike="noStrike">
                <a:solidFill>
                  <a:srgbClr val="FFFFFF"/>
                </a:solidFill>
                <a:effectLst/>
                <a:uFillTx/>
                <a:latin typeface="Courier New"/>
                <a:ea typeface="Courier New"/>
              </a:rPr>
              <a:t>{"from":"949f5f22…ed1a","method":</a:t>
            </a:r>
            <a:r>
              <a:rPr lang="pt-BR" sz="1300" b="0" u="none" strike="noStrike">
                <a:solidFill>
                  <a:srgbClr val="00ADD8"/>
                </a:solidFill>
                <a:effectLst/>
                <a:uFillTx/>
                <a:latin typeface="Courier New"/>
                <a:ea typeface="Courier New"/>
              </a:rPr>
              <a:t>"StartRental"</a:t>
            </a:r>
            <a:r>
              <a:rPr lang="pt-BR" sz="1300" b="0" u="none" strike="noStrike">
                <a:solidFill>
                  <a:srgbClr val="FFFFFF"/>
                </a:solidFill>
                <a:effectLst/>
                <a:uFillTx/>
                <a:latin typeface="Courier New"/>
                <a:ea typeface="Courier New"/>
              </a:rPr>
              <a:t>,</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0" u="none" strike="noStrike">
                <a:solidFill>
                  <a:srgbClr val="FFFFFF"/>
                </a:solidFill>
                <a:effectLst/>
                <a:uFillTx/>
                <a:latin typeface="Courier New"/>
                <a:ea typeface="Courier New"/>
              </a:rPr>
              <a:t> "args":{"CarID":1,"DaysPlanned":3,"Items":[2],"Deposit":500},</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0" u="none" strike="noStrike">
                <a:solidFill>
                  <a:srgbClr val="FFFFFF"/>
                </a:solidFill>
                <a:effectLst/>
                <a:uFillTx/>
                <a:latin typeface="Courier New"/>
                <a:ea typeface="Courier New"/>
              </a:rPr>
              <a:t> "nonce":1790803955260,"signature":"5c1f…9a0e"}</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0" u="none" strike="noStrike">
                <a:solidFill>
                  <a:srgbClr val="F2A900"/>
                </a:solidFill>
                <a:effectLst/>
                <a:uFillTx/>
                <a:latin typeface="Courier New"/>
                <a:ea typeface="Courier New"/>
              </a:rPr>
              <a:t>→ </a:t>
            </a:r>
            <a:r>
              <a:rPr lang="pt-BR" sz="1300" b="0" u="none" strike="noStrike">
                <a:solidFill>
                  <a:srgbClr val="FFFFFF"/>
                </a:solidFill>
                <a:effectLst/>
                <a:uFillTx/>
                <a:latin typeface="Courier New"/>
                <a:ea typeface="Courier New"/>
              </a:rPr>
              <a:t>{"txHash":"0x1e56…52f6","block":</a:t>
            </a:r>
            <a:r>
              <a:rPr lang="pt-BR" sz="1300" b="1" u="none" strike="noStrike">
                <a:solidFill>
                  <a:srgbClr val="00ADD8"/>
                </a:solidFill>
                <a:effectLst/>
                <a:uFillTx/>
                <a:latin typeface="Courier New"/>
                <a:ea typeface="Courier New"/>
              </a:rPr>
              <a:t>5</a:t>
            </a:r>
            <a:r>
              <a:rPr lang="pt-BR" sz="1300" b="0" u="none" strike="noStrike">
                <a:solidFill>
                  <a:srgbClr val="FFFFFF"/>
                </a:solidFill>
                <a:effectLst/>
                <a:uFillTx/>
                <a:latin typeface="Courier New"/>
                <a:ea typeface="Courier New"/>
              </a:rPr>
              <a:t>,"receipt":{"events":[{"name":"RentalStarted",…}]}}</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1"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02 · ARQUITETURA</a:t>
            </a:r>
            <a:endParaRPr lang="en-US" sz="1100" b="0" u="none" strike="noStrike">
              <a:solidFill>
                <a:srgbClr val="000000"/>
              </a:solidFill>
              <a:effectLst/>
              <a:uFillTx/>
              <a:latin typeface="Arial"/>
            </a:endParaRPr>
          </a:p>
        </p:txBody>
      </p:sp>
      <p:sp>
        <p:nvSpPr>
          <p:cNvPr id="222"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Duas formas de uma transação falhar</a:t>
            </a:r>
            <a:endParaRPr lang="en-US" sz="3200" b="0" u="none" strike="noStrike">
              <a:solidFill>
                <a:srgbClr val="000000"/>
              </a:solidFill>
              <a:effectLst/>
              <a:uFillTx/>
              <a:latin typeface="Arial"/>
            </a:endParaRPr>
          </a:p>
        </p:txBody>
      </p:sp>
      <p:sp>
        <p:nvSpPr>
          <p:cNvPr id="223"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9</a:t>
            </a:r>
            <a:endParaRPr lang="en-US" sz="1000" b="0" u="none" strike="noStrike">
              <a:solidFill>
                <a:srgbClr val="000000"/>
              </a:solidFill>
              <a:effectLst/>
              <a:uFillTx/>
              <a:latin typeface="Arial"/>
            </a:endParaRPr>
          </a:p>
        </p:txBody>
      </p:sp>
      <p:sp>
        <p:nvSpPr>
          <p:cNvPr id="224" name="Shape 3"/>
          <p:cNvSpPr/>
          <p:nvPr/>
        </p:nvSpPr>
        <p:spPr>
          <a:xfrm>
            <a:off x="548640" y="1645920"/>
            <a:ext cx="5350320" cy="3885840"/>
          </a:xfrm>
          <a:prstGeom prst="roundRect">
            <a:avLst>
              <a:gd name="adj" fmla="val 188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5" name="Shape 4"/>
          <p:cNvSpPr/>
          <p:nvPr/>
        </p:nvSpPr>
        <p:spPr>
          <a:xfrm>
            <a:off x="868680" y="1920240"/>
            <a:ext cx="731160" cy="731160"/>
          </a:xfrm>
          <a:prstGeom prst="ellipse">
            <a:avLst/>
          </a:prstGeom>
          <a:solidFill>
            <a:srgbClr val="C8412E"/>
          </a:solidFill>
          <a:ln w="9525">
            <a:solidFill>
              <a:srgbClr val="C8412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26" name="Image 0" descr="preencoded.png"/>
          <p:cNvPicPr/>
          <p:nvPr/>
        </p:nvPicPr>
        <p:blipFill>
          <a:blip r:embed="rId1"/>
          <a:stretch/>
        </p:blipFill>
        <p:spPr>
          <a:xfrm>
            <a:off x="1044360" y="2095920"/>
            <a:ext cx="380160" cy="380160"/>
          </a:xfrm>
          <a:prstGeom prst="rect">
            <a:avLst/>
          </a:prstGeom>
          <a:noFill/>
          <a:ln w="0">
            <a:noFill/>
          </a:ln>
        </p:spPr>
      </p:pic>
      <p:sp>
        <p:nvSpPr>
          <p:cNvPr id="227" name="Text 5"/>
          <p:cNvSpPr/>
          <p:nvPr/>
        </p:nvSpPr>
        <p:spPr>
          <a:xfrm>
            <a:off x="1783080" y="1920240"/>
            <a:ext cx="38872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2000" b="1" u="none" strike="noStrike">
                <a:solidFill>
                  <a:srgbClr val="1E2328"/>
                </a:solidFill>
                <a:effectLst/>
                <a:uFillTx/>
                <a:latin typeface="Arial"/>
                <a:ea typeface="Arial"/>
              </a:rPr>
              <a:t>Recusada na porta</a:t>
            </a:r>
            <a:endParaRPr lang="en-US" sz="2000" b="0" u="none" strike="noStrike">
              <a:solidFill>
                <a:srgbClr val="000000"/>
              </a:solidFill>
              <a:effectLst/>
              <a:uFillTx/>
              <a:latin typeface="Arial"/>
            </a:endParaRPr>
          </a:p>
        </p:txBody>
      </p:sp>
      <p:sp>
        <p:nvSpPr>
          <p:cNvPr id="228" name="Text 6"/>
          <p:cNvSpPr/>
          <p:nvPr/>
        </p:nvSpPr>
        <p:spPr>
          <a:xfrm>
            <a:off x="868680" y="2834640"/>
            <a:ext cx="47102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Assinatura inválida, corpo malformado ou uma transação que já está na cadeia.</a:t>
            </a:r>
            <a:endParaRPr lang="en-US" sz="1500" b="0" u="none" strike="noStrike">
              <a:solidFill>
                <a:srgbClr val="000000"/>
              </a:solidFill>
              <a:effectLst/>
              <a:uFillTx/>
              <a:latin typeface="Arial"/>
            </a:endParaRPr>
          </a:p>
        </p:txBody>
      </p:sp>
      <p:sp>
        <p:nvSpPr>
          <p:cNvPr id="229" name="Text 7"/>
          <p:cNvSpPr/>
          <p:nvPr/>
        </p:nvSpPr>
        <p:spPr>
          <a:xfrm>
            <a:off x="868680" y="3566160"/>
            <a:ext cx="4710240" cy="1005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400"/>
              </a:spcAft>
              <a:buClr>
                <a:srgbClr val="1E2328"/>
              </a:buClr>
              <a:buFont typeface="Symbol" charset="2"/>
              <a:buChar char=""/>
            </a:pPr>
            <a:r>
              <a:rPr lang="pt-BR" sz="1500" b="0" u="none" strike="noStrike">
                <a:solidFill>
                  <a:srgbClr val="1E2328"/>
                </a:solidFill>
                <a:effectLst/>
                <a:uFillTx/>
                <a:latin typeface="Calibri"/>
                <a:ea typeface="Calibri"/>
              </a:rPr>
              <a:t>HTTP 400 ou 409</a:t>
            </a:r>
            <a:endParaRPr lang="en-US" sz="1500" b="0" u="none" strike="noStrike">
              <a:solidFill>
                <a:srgbClr val="000000"/>
              </a:solidFill>
              <a:effectLst/>
              <a:uFillTx/>
              <a:latin typeface="Arial"/>
            </a:endParaRPr>
          </a:p>
          <a:p>
            <a:pPr marL="343080" indent="-343080" defTabSz="914400">
              <a:lnSpc>
                <a:spcPct val="100000"/>
              </a:lnSpc>
              <a:spcAft>
                <a:spcPts val="400"/>
              </a:spcAft>
              <a:buClr>
                <a:srgbClr val="1E2328"/>
              </a:buClr>
              <a:buFont typeface="Symbol" charset="2"/>
              <a:buChar char=""/>
            </a:pPr>
            <a:r>
              <a:rPr lang="pt-BR" sz="1500" b="0" u="none" strike="noStrike">
                <a:solidFill>
                  <a:srgbClr val="1E2328"/>
                </a:solidFill>
                <a:effectLst/>
                <a:uFillTx/>
                <a:latin typeface="Calibri"/>
                <a:ea typeface="Calibri"/>
              </a:rPr>
              <a:t>Nunca chega ao contrato</a:t>
            </a:r>
            <a:endParaRPr lang="en-US" sz="1500" b="0" u="none" strike="noStrike">
              <a:solidFill>
                <a:srgbClr val="000000"/>
              </a:solidFill>
              <a:effectLst/>
              <a:uFillTx/>
              <a:latin typeface="Arial"/>
            </a:endParaRPr>
          </a:p>
          <a:p>
            <a:pPr marL="343080" indent="-343080" defTabSz="914400">
              <a:lnSpc>
                <a:spcPct val="100000"/>
              </a:lnSpc>
              <a:spcAft>
                <a:spcPts val="400"/>
              </a:spcAft>
              <a:buClr>
                <a:srgbClr val="1E2328"/>
              </a:buClr>
              <a:buFont typeface="Symbol" charset="2"/>
              <a:buChar char=""/>
            </a:pPr>
            <a:r>
              <a:rPr lang="pt-BR" sz="1500" b="0" u="none" strike="noStrike">
                <a:solidFill>
                  <a:srgbClr val="1E2328"/>
                </a:solidFill>
                <a:effectLst/>
                <a:uFillTx/>
                <a:latin typeface="Calibri"/>
                <a:ea typeface="Calibri"/>
              </a:rPr>
              <a:t>Nenhum bloco, nenhum rastro na cadeia</a:t>
            </a:r>
            <a:endParaRPr lang="en-US" sz="1500" b="0" u="none" strike="noStrike">
              <a:solidFill>
                <a:srgbClr val="000000"/>
              </a:solidFill>
              <a:effectLst/>
              <a:uFillTx/>
              <a:latin typeface="Arial"/>
            </a:endParaRPr>
          </a:p>
        </p:txBody>
      </p:sp>
      <p:sp>
        <p:nvSpPr>
          <p:cNvPr id="230" name="Shape 8"/>
          <p:cNvSpPr/>
          <p:nvPr/>
        </p:nvSpPr>
        <p:spPr>
          <a:xfrm>
            <a:off x="868680" y="4663440"/>
            <a:ext cx="4710240" cy="685440"/>
          </a:xfrm>
          <a:prstGeom prst="roundRect">
            <a:avLst>
              <a:gd name="adj" fmla="val 10667"/>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1" name="Text 9"/>
          <p:cNvSpPr/>
          <p:nvPr/>
        </p:nvSpPr>
        <p:spPr>
          <a:xfrm>
            <a:off x="1051560" y="4700160"/>
            <a:ext cx="434448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250" b="0" u="none" strike="noStrike">
                <a:solidFill>
                  <a:srgbClr val="FFFFFF"/>
                </a:solidFill>
                <a:effectLst/>
                <a:uFillTx/>
                <a:latin typeface="Courier New"/>
                <a:ea typeface="Courier New"/>
              </a:rPr>
              <a:t>"signature":"0000garbage"</a:t>
            </a:r>
            <a:endParaRPr lang="en-US" sz="1250" b="0" u="none" strike="noStrike">
              <a:solidFill>
                <a:srgbClr val="000000"/>
              </a:solidFill>
              <a:effectLst/>
              <a:uFillTx/>
              <a:latin typeface="Arial"/>
            </a:endParaRPr>
          </a:p>
          <a:p>
            <a:pPr defTabSz="914400">
              <a:lnSpc>
                <a:spcPct val="100000"/>
              </a:lnSpc>
              <a:tabLst>
                <a:tab pos="0" algn="l"/>
              </a:tabLst>
            </a:pPr>
            <a:r>
              <a:rPr lang="pt-BR" sz="1250" b="0" u="none" strike="noStrike">
                <a:solidFill>
                  <a:srgbClr val="FF8A7A"/>
                </a:solidFill>
                <a:effectLst/>
                <a:uFillTx/>
                <a:latin typeface="Courier New"/>
                <a:ea typeface="Courier New"/>
              </a:rPr>
              <a:t>→ 400 invalid signature</a:t>
            </a:r>
            <a:endParaRPr lang="en-US" sz="1250" b="0" u="none" strike="noStrike">
              <a:solidFill>
                <a:srgbClr val="000000"/>
              </a:solidFill>
              <a:effectLst/>
              <a:uFillTx/>
              <a:latin typeface="Arial"/>
            </a:endParaRPr>
          </a:p>
        </p:txBody>
      </p:sp>
      <p:sp>
        <p:nvSpPr>
          <p:cNvPr id="232" name="Shape 10"/>
          <p:cNvSpPr/>
          <p:nvPr/>
        </p:nvSpPr>
        <p:spPr>
          <a:xfrm>
            <a:off x="6292440" y="1645920"/>
            <a:ext cx="5350320" cy="3885840"/>
          </a:xfrm>
          <a:prstGeom prst="roundRect">
            <a:avLst>
              <a:gd name="adj" fmla="val 188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3" name="Shape 11"/>
          <p:cNvSpPr/>
          <p:nvPr/>
        </p:nvSpPr>
        <p:spPr>
          <a:xfrm>
            <a:off x="6612480" y="1920240"/>
            <a:ext cx="731160" cy="731160"/>
          </a:xfrm>
          <a:prstGeom prst="ellipse">
            <a:avLst/>
          </a:prstGeom>
          <a:solidFill>
            <a:srgbClr val="F2A900"/>
          </a:solidFill>
          <a:ln w="9525">
            <a:solidFill>
              <a:srgbClr val="F2A9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34" name="Image 1" descr="preencoded.png"/>
          <p:cNvPicPr/>
          <p:nvPr/>
        </p:nvPicPr>
        <p:blipFill>
          <a:blip r:embed="rId2"/>
          <a:stretch/>
        </p:blipFill>
        <p:spPr>
          <a:xfrm>
            <a:off x="6788160" y="2095920"/>
            <a:ext cx="380160" cy="380160"/>
          </a:xfrm>
          <a:prstGeom prst="rect">
            <a:avLst/>
          </a:prstGeom>
          <a:noFill/>
          <a:ln w="0">
            <a:noFill/>
          </a:ln>
        </p:spPr>
      </p:pic>
      <p:sp>
        <p:nvSpPr>
          <p:cNvPr id="235" name="Text 12"/>
          <p:cNvSpPr/>
          <p:nvPr/>
        </p:nvSpPr>
        <p:spPr>
          <a:xfrm>
            <a:off x="7526880" y="1920240"/>
            <a:ext cx="388728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2000" b="1" u="none" strike="noStrike">
                <a:solidFill>
                  <a:srgbClr val="1E2328"/>
                </a:solidFill>
                <a:effectLst/>
                <a:uFillTx/>
                <a:latin typeface="Arial"/>
                <a:ea typeface="Arial"/>
              </a:rPr>
              <a:t>Rejeitada pelo contrato</a:t>
            </a:r>
            <a:endParaRPr lang="en-US" sz="2000" b="0" u="none" strike="noStrike">
              <a:solidFill>
                <a:srgbClr val="000000"/>
              </a:solidFill>
              <a:effectLst/>
              <a:uFillTx/>
              <a:latin typeface="Arial"/>
            </a:endParaRPr>
          </a:p>
        </p:txBody>
      </p:sp>
      <p:sp>
        <p:nvSpPr>
          <p:cNvPr id="236" name="Text 13"/>
          <p:cNvSpPr/>
          <p:nvPr/>
        </p:nvSpPr>
        <p:spPr>
          <a:xfrm>
            <a:off x="6612480" y="2834640"/>
            <a:ext cx="47102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Assinatura válida, mas uma regra de negócio diz não: papel ausente, carro indisponível, garantia insuficiente.</a:t>
            </a:r>
            <a:endParaRPr lang="en-US" sz="1500" b="0" u="none" strike="noStrike">
              <a:solidFill>
                <a:srgbClr val="000000"/>
              </a:solidFill>
              <a:effectLst/>
              <a:uFillTx/>
              <a:latin typeface="Arial"/>
            </a:endParaRPr>
          </a:p>
        </p:txBody>
      </p:sp>
      <p:sp>
        <p:nvSpPr>
          <p:cNvPr id="237" name="Text 14"/>
          <p:cNvSpPr/>
          <p:nvPr/>
        </p:nvSpPr>
        <p:spPr>
          <a:xfrm>
            <a:off x="6612480" y="3566160"/>
            <a:ext cx="4710240" cy="100548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400"/>
              </a:spcAft>
              <a:buClr>
                <a:srgbClr val="1E2328"/>
              </a:buClr>
              <a:buFont typeface="Symbol" charset="2"/>
              <a:buChar char=""/>
            </a:pPr>
            <a:r>
              <a:rPr lang="pt-BR" sz="1500" b="0" u="none" strike="noStrike">
                <a:solidFill>
                  <a:srgbClr val="1E2328"/>
                </a:solidFill>
                <a:effectLst/>
                <a:uFillTx/>
                <a:latin typeface="Calibri"/>
                <a:ea typeface="Calibri"/>
              </a:rPr>
              <a:t>Incluída no bloco seguinte</a:t>
            </a:r>
            <a:endParaRPr lang="en-US" sz="1500" b="0" u="none" strike="noStrike">
              <a:solidFill>
                <a:srgbClr val="000000"/>
              </a:solidFill>
              <a:effectLst/>
              <a:uFillTx/>
              <a:latin typeface="Arial"/>
            </a:endParaRPr>
          </a:p>
          <a:p>
            <a:pPr marL="343080" indent="-343080" defTabSz="914400">
              <a:lnSpc>
                <a:spcPct val="100000"/>
              </a:lnSpc>
              <a:spcAft>
                <a:spcPts val="400"/>
              </a:spcAft>
              <a:buClr>
                <a:srgbClr val="1E2328"/>
              </a:buClr>
              <a:buFont typeface="Symbol" charset="2"/>
              <a:buChar char=""/>
            </a:pPr>
            <a:r>
              <a:rPr lang="pt-BR" sz="1500" b="0" u="none" strike="noStrike">
                <a:solidFill>
                  <a:srgbClr val="1E2328"/>
                </a:solidFill>
                <a:effectLst/>
                <a:uFillTx/>
                <a:latin typeface="Calibri"/>
                <a:ea typeface="Calibri"/>
              </a:rPr>
              <a:t>Erro no recibo; estado inalterado</a:t>
            </a:r>
            <a:endParaRPr lang="en-US" sz="1500" b="0" u="none" strike="noStrike">
              <a:solidFill>
                <a:srgbClr val="000000"/>
              </a:solidFill>
              <a:effectLst/>
              <a:uFillTx/>
              <a:latin typeface="Arial"/>
            </a:endParaRPr>
          </a:p>
          <a:p>
            <a:pPr marL="343080" indent="-343080" defTabSz="914400">
              <a:lnSpc>
                <a:spcPct val="100000"/>
              </a:lnSpc>
              <a:spcAft>
                <a:spcPts val="400"/>
              </a:spcAft>
              <a:buClr>
                <a:srgbClr val="1E2328"/>
              </a:buClr>
              <a:buFont typeface="Symbol" charset="2"/>
              <a:buChar char=""/>
            </a:pPr>
            <a:r>
              <a:rPr lang="pt-BR" sz="1500" b="0" u="none" strike="noStrike">
                <a:solidFill>
                  <a:srgbClr val="1E2328"/>
                </a:solidFill>
                <a:effectLst/>
                <a:uFillTx/>
                <a:latin typeface="Calibri"/>
                <a:ea typeface="Calibri"/>
              </a:rPr>
              <a:t>Registro permanente da tentativa recusada</a:t>
            </a:r>
            <a:endParaRPr lang="en-US" sz="1500" b="0" u="none" strike="noStrike">
              <a:solidFill>
                <a:srgbClr val="000000"/>
              </a:solidFill>
              <a:effectLst/>
              <a:uFillTx/>
              <a:latin typeface="Arial"/>
            </a:endParaRPr>
          </a:p>
        </p:txBody>
      </p:sp>
      <p:sp>
        <p:nvSpPr>
          <p:cNvPr id="238" name="Shape 15"/>
          <p:cNvSpPr/>
          <p:nvPr/>
        </p:nvSpPr>
        <p:spPr>
          <a:xfrm>
            <a:off x="6612480" y="4663440"/>
            <a:ext cx="4710240" cy="685440"/>
          </a:xfrm>
          <a:prstGeom prst="roundRect">
            <a:avLst>
              <a:gd name="adj" fmla="val 10667"/>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9" name="Text 16"/>
          <p:cNvSpPr/>
          <p:nvPr/>
        </p:nvSpPr>
        <p:spPr>
          <a:xfrm>
            <a:off x="6795360" y="4700160"/>
            <a:ext cx="4344480" cy="621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250" b="0" u="none" strike="noStrike">
                <a:solidFill>
                  <a:srgbClr val="FFFFFF"/>
                </a:solidFill>
                <a:effectLst/>
                <a:uFillTx/>
                <a:latin typeface="Courier New"/>
                <a:ea typeface="Courier New"/>
              </a:rPr>
              <a:t>bob → RegisterCar</a:t>
            </a:r>
            <a:endParaRPr lang="en-US" sz="1250" b="0" u="none" strike="noStrike">
              <a:solidFill>
                <a:srgbClr val="000000"/>
              </a:solidFill>
              <a:effectLst/>
              <a:uFillTx/>
              <a:latin typeface="Arial"/>
            </a:endParaRPr>
          </a:p>
          <a:p>
            <a:pPr defTabSz="914400">
              <a:lnSpc>
                <a:spcPct val="100000"/>
              </a:lnSpc>
              <a:tabLst>
                <a:tab pos="0" algn="l"/>
              </a:tabLst>
            </a:pPr>
            <a:r>
              <a:rPr lang="pt-BR" sz="1250" b="0" u="none" strike="noStrike">
                <a:solidFill>
                  <a:srgbClr val="F2A900"/>
                </a:solidFill>
                <a:effectLst/>
                <a:uFillTx/>
                <a:latin typeface="Courier New"/>
                <a:ea typeface="Courier New"/>
              </a:rPr>
              <a:t>→ bloco 8: missing role REGISTRAR</a:t>
            </a:r>
            <a:endParaRPr lang="en-US" sz="1250" b="0" u="none" strike="noStrike">
              <a:solidFill>
                <a:srgbClr val="000000"/>
              </a:solidFill>
              <a:effectLst/>
              <a:uFillTx/>
              <a:latin typeface="Arial"/>
            </a:endParaRPr>
          </a:p>
        </p:txBody>
      </p:sp>
      <p:sp>
        <p:nvSpPr>
          <p:cNvPr id="240" name="Text 17"/>
          <p:cNvSpPr/>
          <p:nvPr/>
        </p:nvSpPr>
        <p:spPr>
          <a:xfrm>
            <a:off x="548640" y="5760720"/>
            <a:ext cx="11094120" cy="411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i="1" u="none" strike="noStrike">
                <a:solidFill>
                  <a:srgbClr val="5F6B76"/>
                </a:solidFill>
                <a:effectLst/>
                <a:uFillTx/>
                <a:latin typeface="Calibri"/>
                <a:ea typeface="Calibri"/>
              </a:rPr>
              <a:t>É a mesma distinção que uma rede EVM faz entre uma transação que a rede descarta e uma que chega ao contrato e é revertida.</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1"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02 · ARQUITETURA</a:t>
            </a:r>
            <a:endParaRPr lang="en-US" sz="1100" b="0" u="none" strike="noStrike">
              <a:solidFill>
                <a:srgbClr val="000000"/>
              </a:solidFill>
              <a:effectLst/>
              <a:uFillTx/>
              <a:latin typeface="Arial"/>
            </a:endParaRPr>
          </a:p>
        </p:txBody>
      </p:sp>
      <p:sp>
        <p:nvSpPr>
          <p:cNvPr id="242"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Blocos: encadeados, selados, verificáveis</a:t>
            </a:r>
            <a:endParaRPr lang="en-US" sz="3200" b="0" u="none" strike="noStrike">
              <a:solidFill>
                <a:srgbClr val="000000"/>
              </a:solidFill>
              <a:effectLst/>
              <a:uFillTx/>
              <a:latin typeface="Arial"/>
            </a:endParaRPr>
          </a:p>
        </p:txBody>
      </p:sp>
      <p:sp>
        <p:nvSpPr>
          <p:cNvPr id="243"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10</a:t>
            </a:r>
            <a:endParaRPr lang="en-US" sz="1000" b="0" u="none" strike="noStrike">
              <a:solidFill>
                <a:srgbClr val="000000"/>
              </a:solidFill>
              <a:effectLst/>
              <a:uFillTx/>
              <a:latin typeface="Arial"/>
            </a:endParaRPr>
          </a:p>
        </p:txBody>
      </p:sp>
      <p:sp>
        <p:nvSpPr>
          <p:cNvPr id="244" name="Shape 3"/>
          <p:cNvSpPr/>
          <p:nvPr/>
        </p:nvSpPr>
        <p:spPr>
          <a:xfrm>
            <a:off x="548640" y="1645920"/>
            <a:ext cx="3245760" cy="2514240"/>
          </a:xfrm>
          <a:prstGeom prst="roundRect">
            <a:avLst>
              <a:gd name="adj" fmla="val 2909"/>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5" name="Text 4"/>
          <p:cNvSpPr/>
          <p:nvPr/>
        </p:nvSpPr>
        <p:spPr>
          <a:xfrm>
            <a:off x="822960" y="1783080"/>
            <a:ext cx="269712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FFFFFF"/>
                </a:solidFill>
                <a:effectLst/>
                <a:uFillTx/>
                <a:latin typeface="Arial"/>
                <a:ea typeface="Arial"/>
              </a:rPr>
              <a:t>Bloco #4</a:t>
            </a:r>
            <a:endParaRPr lang="en-US" sz="1700" b="0" u="none" strike="noStrike">
              <a:solidFill>
                <a:srgbClr val="000000"/>
              </a:solidFill>
              <a:effectLst/>
              <a:uFillTx/>
              <a:latin typeface="Arial"/>
            </a:endParaRPr>
          </a:p>
        </p:txBody>
      </p:sp>
      <p:sp>
        <p:nvSpPr>
          <p:cNvPr id="246" name="Text 5"/>
          <p:cNvSpPr/>
          <p:nvPr/>
        </p:nvSpPr>
        <p:spPr>
          <a:xfrm>
            <a:off x="822960" y="228600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prevHash</a:t>
            </a:r>
            <a:endParaRPr lang="en-US" sz="1150" b="0" u="none" strike="noStrike">
              <a:solidFill>
                <a:srgbClr val="000000"/>
              </a:solidFill>
              <a:effectLst/>
              <a:uFillTx/>
              <a:latin typeface="Arial"/>
            </a:endParaRPr>
          </a:p>
        </p:txBody>
      </p:sp>
      <p:sp>
        <p:nvSpPr>
          <p:cNvPr id="247" name="Text 6"/>
          <p:cNvSpPr/>
          <p:nvPr/>
        </p:nvSpPr>
        <p:spPr>
          <a:xfrm>
            <a:off x="1810440" y="228600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00ADD8"/>
                </a:solidFill>
                <a:effectLst/>
                <a:uFillTx/>
                <a:latin typeface="Courier New"/>
                <a:ea typeface="Courier New"/>
              </a:rPr>
              <a:t>0xcc0b…beff</a:t>
            </a:r>
            <a:endParaRPr lang="en-US" sz="1150" b="0" u="none" strike="noStrike">
              <a:solidFill>
                <a:srgbClr val="000000"/>
              </a:solidFill>
              <a:effectLst/>
              <a:uFillTx/>
              <a:latin typeface="Arial"/>
            </a:endParaRPr>
          </a:p>
        </p:txBody>
      </p:sp>
      <p:sp>
        <p:nvSpPr>
          <p:cNvPr id="248" name="Text 7"/>
          <p:cNvSpPr/>
          <p:nvPr/>
        </p:nvSpPr>
        <p:spPr>
          <a:xfrm>
            <a:off x="822960" y="264276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stateHash</a:t>
            </a:r>
            <a:endParaRPr lang="en-US" sz="1150" b="0" u="none" strike="noStrike">
              <a:solidFill>
                <a:srgbClr val="000000"/>
              </a:solidFill>
              <a:effectLst/>
              <a:uFillTx/>
              <a:latin typeface="Arial"/>
            </a:endParaRPr>
          </a:p>
        </p:txBody>
      </p:sp>
      <p:sp>
        <p:nvSpPr>
          <p:cNvPr id="249" name="Text 8"/>
          <p:cNvSpPr/>
          <p:nvPr/>
        </p:nvSpPr>
        <p:spPr>
          <a:xfrm>
            <a:off x="1810440" y="264276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FFFFF"/>
                </a:solidFill>
                <a:effectLst/>
                <a:uFillTx/>
                <a:latin typeface="Courier New"/>
                <a:ea typeface="Courier New"/>
              </a:rPr>
              <a:t>0xfc1c…93b1</a:t>
            </a:r>
            <a:endParaRPr lang="en-US" sz="1150" b="0" u="none" strike="noStrike">
              <a:solidFill>
                <a:srgbClr val="000000"/>
              </a:solidFill>
              <a:effectLst/>
              <a:uFillTx/>
              <a:latin typeface="Arial"/>
            </a:endParaRPr>
          </a:p>
        </p:txBody>
      </p:sp>
      <p:sp>
        <p:nvSpPr>
          <p:cNvPr id="250" name="Text 9"/>
          <p:cNvSpPr/>
          <p:nvPr/>
        </p:nvSpPr>
        <p:spPr>
          <a:xfrm>
            <a:off x="822960" y="299916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tx</a:t>
            </a:r>
            <a:endParaRPr lang="en-US" sz="1150" b="0" u="none" strike="noStrike">
              <a:solidFill>
                <a:srgbClr val="000000"/>
              </a:solidFill>
              <a:effectLst/>
              <a:uFillTx/>
              <a:latin typeface="Arial"/>
            </a:endParaRPr>
          </a:p>
        </p:txBody>
      </p:sp>
      <p:sp>
        <p:nvSpPr>
          <p:cNvPr id="251" name="Text 10"/>
          <p:cNvSpPr/>
          <p:nvPr/>
        </p:nvSpPr>
        <p:spPr>
          <a:xfrm>
            <a:off x="1810440" y="299916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FFFFF"/>
                </a:solidFill>
                <a:effectLst/>
                <a:uFillTx/>
                <a:latin typeface="Courier New"/>
                <a:ea typeface="Courier New"/>
              </a:rPr>
              <a:t>MintDeposit  ✓</a:t>
            </a:r>
            <a:endParaRPr lang="en-US" sz="1150" b="0" u="none" strike="noStrike">
              <a:solidFill>
                <a:srgbClr val="000000"/>
              </a:solidFill>
              <a:effectLst/>
              <a:uFillTx/>
              <a:latin typeface="Arial"/>
            </a:endParaRPr>
          </a:p>
        </p:txBody>
      </p:sp>
      <p:sp>
        <p:nvSpPr>
          <p:cNvPr id="252" name="Text 11"/>
          <p:cNvSpPr/>
          <p:nvPr/>
        </p:nvSpPr>
        <p:spPr>
          <a:xfrm>
            <a:off x="822960" y="335592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selado</a:t>
            </a:r>
            <a:endParaRPr lang="en-US" sz="1150" b="0" u="none" strike="noStrike">
              <a:solidFill>
                <a:srgbClr val="000000"/>
              </a:solidFill>
              <a:effectLst/>
              <a:uFillTx/>
              <a:latin typeface="Arial"/>
            </a:endParaRPr>
          </a:p>
        </p:txBody>
      </p:sp>
      <p:sp>
        <p:nvSpPr>
          <p:cNvPr id="253" name="Text 12"/>
          <p:cNvSpPr/>
          <p:nvPr/>
        </p:nvSpPr>
        <p:spPr>
          <a:xfrm>
            <a:off x="1810440" y="335592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FFFFF"/>
                </a:solidFill>
                <a:effectLst/>
                <a:uFillTx/>
                <a:latin typeface="Courier New"/>
                <a:ea typeface="Courier New"/>
              </a:rPr>
              <a:t>admin (Ed25519)</a:t>
            </a:r>
            <a:endParaRPr lang="en-US" sz="1150" b="0" u="none" strike="noStrike">
              <a:solidFill>
                <a:srgbClr val="000000"/>
              </a:solidFill>
              <a:effectLst/>
              <a:uFillTx/>
              <a:latin typeface="Arial"/>
            </a:endParaRPr>
          </a:p>
        </p:txBody>
      </p:sp>
      <p:sp>
        <p:nvSpPr>
          <p:cNvPr id="254" name="Text 13"/>
          <p:cNvSpPr/>
          <p:nvPr/>
        </p:nvSpPr>
        <p:spPr>
          <a:xfrm>
            <a:off x="822960" y="371232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hash</a:t>
            </a:r>
            <a:endParaRPr lang="en-US" sz="1150" b="0" u="none" strike="noStrike">
              <a:solidFill>
                <a:srgbClr val="000000"/>
              </a:solidFill>
              <a:effectLst/>
              <a:uFillTx/>
              <a:latin typeface="Arial"/>
            </a:endParaRPr>
          </a:p>
        </p:txBody>
      </p:sp>
      <p:sp>
        <p:nvSpPr>
          <p:cNvPr id="255" name="Text 14"/>
          <p:cNvSpPr/>
          <p:nvPr/>
        </p:nvSpPr>
        <p:spPr>
          <a:xfrm>
            <a:off x="1810440" y="371232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1" u="none" strike="noStrike">
                <a:solidFill>
                  <a:srgbClr val="00ADD8"/>
                </a:solidFill>
                <a:effectLst/>
                <a:uFillTx/>
                <a:latin typeface="Courier New"/>
                <a:ea typeface="Courier New"/>
              </a:rPr>
              <a:t>0x7693…1685</a:t>
            </a:r>
            <a:endParaRPr lang="en-US" sz="1150" b="0" u="none" strike="noStrike">
              <a:solidFill>
                <a:srgbClr val="000000"/>
              </a:solidFill>
              <a:effectLst/>
              <a:uFillTx/>
              <a:latin typeface="Arial"/>
            </a:endParaRPr>
          </a:p>
        </p:txBody>
      </p:sp>
      <p:sp>
        <p:nvSpPr>
          <p:cNvPr id="256" name="Shape 15"/>
          <p:cNvSpPr/>
          <p:nvPr/>
        </p:nvSpPr>
        <p:spPr>
          <a:xfrm>
            <a:off x="4472640" y="1645920"/>
            <a:ext cx="3245760" cy="2514240"/>
          </a:xfrm>
          <a:prstGeom prst="roundRect">
            <a:avLst>
              <a:gd name="adj" fmla="val 2909"/>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7" name="Text 16"/>
          <p:cNvSpPr/>
          <p:nvPr/>
        </p:nvSpPr>
        <p:spPr>
          <a:xfrm>
            <a:off x="4746960" y="1783080"/>
            <a:ext cx="269712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FFFFFF"/>
                </a:solidFill>
                <a:effectLst/>
                <a:uFillTx/>
                <a:latin typeface="Arial"/>
                <a:ea typeface="Arial"/>
              </a:rPr>
              <a:t>Bloco #5</a:t>
            </a:r>
            <a:endParaRPr lang="en-US" sz="1700" b="0" u="none" strike="noStrike">
              <a:solidFill>
                <a:srgbClr val="000000"/>
              </a:solidFill>
              <a:effectLst/>
              <a:uFillTx/>
              <a:latin typeface="Arial"/>
            </a:endParaRPr>
          </a:p>
        </p:txBody>
      </p:sp>
      <p:sp>
        <p:nvSpPr>
          <p:cNvPr id="258" name="Text 17"/>
          <p:cNvSpPr/>
          <p:nvPr/>
        </p:nvSpPr>
        <p:spPr>
          <a:xfrm>
            <a:off x="4746960" y="228600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prevHash</a:t>
            </a:r>
            <a:endParaRPr lang="en-US" sz="1150" b="0" u="none" strike="noStrike">
              <a:solidFill>
                <a:srgbClr val="000000"/>
              </a:solidFill>
              <a:effectLst/>
              <a:uFillTx/>
              <a:latin typeface="Arial"/>
            </a:endParaRPr>
          </a:p>
        </p:txBody>
      </p:sp>
      <p:sp>
        <p:nvSpPr>
          <p:cNvPr id="259" name="Text 18"/>
          <p:cNvSpPr/>
          <p:nvPr/>
        </p:nvSpPr>
        <p:spPr>
          <a:xfrm>
            <a:off x="5734800" y="228600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00ADD8"/>
                </a:solidFill>
                <a:effectLst/>
                <a:uFillTx/>
                <a:latin typeface="Courier New"/>
                <a:ea typeface="Courier New"/>
              </a:rPr>
              <a:t>0x7693…1685</a:t>
            </a:r>
            <a:endParaRPr lang="en-US" sz="1150" b="0" u="none" strike="noStrike">
              <a:solidFill>
                <a:srgbClr val="000000"/>
              </a:solidFill>
              <a:effectLst/>
              <a:uFillTx/>
              <a:latin typeface="Arial"/>
            </a:endParaRPr>
          </a:p>
        </p:txBody>
      </p:sp>
      <p:sp>
        <p:nvSpPr>
          <p:cNvPr id="260" name="Text 19"/>
          <p:cNvSpPr/>
          <p:nvPr/>
        </p:nvSpPr>
        <p:spPr>
          <a:xfrm>
            <a:off x="4746960" y="264276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stateHash</a:t>
            </a:r>
            <a:endParaRPr lang="en-US" sz="1150" b="0" u="none" strike="noStrike">
              <a:solidFill>
                <a:srgbClr val="000000"/>
              </a:solidFill>
              <a:effectLst/>
              <a:uFillTx/>
              <a:latin typeface="Arial"/>
            </a:endParaRPr>
          </a:p>
        </p:txBody>
      </p:sp>
      <p:sp>
        <p:nvSpPr>
          <p:cNvPr id="261" name="Text 20"/>
          <p:cNvSpPr/>
          <p:nvPr/>
        </p:nvSpPr>
        <p:spPr>
          <a:xfrm>
            <a:off x="5734800" y="264276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FFFFF"/>
                </a:solidFill>
                <a:effectLst/>
                <a:uFillTx/>
                <a:latin typeface="Courier New"/>
                <a:ea typeface="Courier New"/>
              </a:rPr>
              <a:t>0xad7d…c905</a:t>
            </a:r>
            <a:endParaRPr lang="en-US" sz="1150" b="0" u="none" strike="noStrike">
              <a:solidFill>
                <a:srgbClr val="000000"/>
              </a:solidFill>
              <a:effectLst/>
              <a:uFillTx/>
              <a:latin typeface="Arial"/>
            </a:endParaRPr>
          </a:p>
        </p:txBody>
      </p:sp>
      <p:sp>
        <p:nvSpPr>
          <p:cNvPr id="262" name="Text 21"/>
          <p:cNvSpPr/>
          <p:nvPr/>
        </p:nvSpPr>
        <p:spPr>
          <a:xfrm>
            <a:off x="4746960" y="299916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tx</a:t>
            </a:r>
            <a:endParaRPr lang="en-US" sz="1150" b="0" u="none" strike="noStrike">
              <a:solidFill>
                <a:srgbClr val="000000"/>
              </a:solidFill>
              <a:effectLst/>
              <a:uFillTx/>
              <a:latin typeface="Arial"/>
            </a:endParaRPr>
          </a:p>
        </p:txBody>
      </p:sp>
      <p:sp>
        <p:nvSpPr>
          <p:cNvPr id="263" name="Text 22"/>
          <p:cNvSpPr/>
          <p:nvPr/>
        </p:nvSpPr>
        <p:spPr>
          <a:xfrm>
            <a:off x="5734800" y="299916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FFFFF"/>
                </a:solidFill>
                <a:effectLst/>
                <a:uFillTx/>
                <a:latin typeface="Courier New"/>
                <a:ea typeface="Courier New"/>
              </a:rPr>
              <a:t>StartRental  ✓</a:t>
            </a:r>
            <a:endParaRPr lang="en-US" sz="1150" b="0" u="none" strike="noStrike">
              <a:solidFill>
                <a:srgbClr val="000000"/>
              </a:solidFill>
              <a:effectLst/>
              <a:uFillTx/>
              <a:latin typeface="Arial"/>
            </a:endParaRPr>
          </a:p>
        </p:txBody>
      </p:sp>
      <p:sp>
        <p:nvSpPr>
          <p:cNvPr id="264" name="Text 23"/>
          <p:cNvSpPr/>
          <p:nvPr/>
        </p:nvSpPr>
        <p:spPr>
          <a:xfrm>
            <a:off x="4746960" y="335592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selado</a:t>
            </a:r>
            <a:endParaRPr lang="en-US" sz="1150" b="0" u="none" strike="noStrike">
              <a:solidFill>
                <a:srgbClr val="000000"/>
              </a:solidFill>
              <a:effectLst/>
              <a:uFillTx/>
              <a:latin typeface="Arial"/>
            </a:endParaRPr>
          </a:p>
        </p:txBody>
      </p:sp>
      <p:sp>
        <p:nvSpPr>
          <p:cNvPr id="265" name="Text 24"/>
          <p:cNvSpPr/>
          <p:nvPr/>
        </p:nvSpPr>
        <p:spPr>
          <a:xfrm>
            <a:off x="5734800" y="335592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FFFFF"/>
                </a:solidFill>
                <a:effectLst/>
                <a:uFillTx/>
                <a:latin typeface="Courier New"/>
                <a:ea typeface="Courier New"/>
              </a:rPr>
              <a:t>admin (Ed25519)</a:t>
            </a:r>
            <a:endParaRPr lang="en-US" sz="1150" b="0" u="none" strike="noStrike">
              <a:solidFill>
                <a:srgbClr val="000000"/>
              </a:solidFill>
              <a:effectLst/>
              <a:uFillTx/>
              <a:latin typeface="Arial"/>
            </a:endParaRPr>
          </a:p>
        </p:txBody>
      </p:sp>
      <p:sp>
        <p:nvSpPr>
          <p:cNvPr id="266" name="Text 25"/>
          <p:cNvSpPr/>
          <p:nvPr/>
        </p:nvSpPr>
        <p:spPr>
          <a:xfrm>
            <a:off x="4746960" y="371232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hash</a:t>
            </a:r>
            <a:endParaRPr lang="en-US" sz="1150" b="0" u="none" strike="noStrike">
              <a:solidFill>
                <a:srgbClr val="000000"/>
              </a:solidFill>
              <a:effectLst/>
              <a:uFillTx/>
              <a:latin typeface="Arial"/>
            </a:endParaRPr>
          </a:p>
        </p:txBody>
      </p:sp>
      <p:sp>
        <p:nvSpPr>
          <p:cNvPr id="267" name="Text 26"/>
          <p:cNvSpPr/>
          <p:nvPr/>
        </p:nvSpPr>
        <p:spPr>
          <a:xfrm>
            <a:off x="5734800" y="371232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1" u="none" strike="noStrike">
                <a:solidFill>
                  <a:srgbClr val="00ADD8"/>
                </a:solidFill>
                <a:effectLst/>
                <a:uFillTx/>
                <a:latin typeface="Courier New"/>
                <a:ea typeface="Courier New"/>
              </a:rPr>
              <a:t>0x889a…ccc5</a:t>
            </a:r>
            <a:endParaRPr lang="en-US" sz="1150" b="0" u="none" strike="noStrike">
              <a:solidFill>
                <a:srgbClr val="000000"/>
              </a:solidFill>
              <a:effectLst/>
              <a:uFillTx/>
              <a:latin typeface="Arial"/>
            </a:endParaRPr>
          </a:p>
        </p:txBody>
      </p:sp>
      <p:sp>
        <p:nvSpPr>
          <p:cNvPr id="268" name="Shape 27"/>
          <p:cNvSpPr/>
          <p:nvPr/>
        </p:nvSpPr>
        <p:spPr>
          <a:xfrm>
            <a:off x="3849480" y="2651760"/>
            <a:ext cx="568440" cy="360"/>
          </a:xfrm>
          <a:prstGeom prst="line">
            <a:avLst/>
          </a:prstGeom>
          <a:ln w="25400">
            <a:solidFill>
              <a:srgbClr val="00ADD8"/>
            </a:solidFill>
            <a:round/>
            <a:head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69" name="Shape 28"/>
          <p:cNvSpPr/>
          <p:nvPr/>
        </p:nvSpPr>
        <p:spPr>
          <a:xfrm>
            <a:off x="8397000" y="1645920"/>
            <a:ext cx="3245760" cy="2514240"/>
          </a:xfrm>
          <a:prstGeom prst="roundRect">
            <a:avLst>
              <a:gd name="adj" fmla="val 2909"/>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0" name="Text 29"/>
          <p:cNvSpPr/>
          <p:nvPr/>
        </p:nvSpPr>
        <p:spPr>
          <a:xfrm>
            <a:off x="8671320" y="1783080"/>
            <a:ext cx="269712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700" b="1" u="none" strike="noStrike">
                <a:solidFill>
                  <a:srgbClr val="FFFFFF"/>
                </a:solidFill>
                <a:effectLst/>
                <a:uFillTx/>
                <a:latin typeface="Arial"/>
                <a:ea typeface="Arial"/>
              </a:rPr>
              <a:t>Bloco #6</a:t>
            </a:r>
            <a:endParaRPr lang="en-US" sz="1700" b="0" u="none" strike="noStrike">
              <a:solidFill>
                <a:srgbClr val="000000"/>
              </a:solidFill>
              <a:effectLst/>
              <a:uFillTx/>
              <a:latin typeface="Arial"/>
            </a:endParaRPr>
          </a:p>
        </p:txBody>
      </p:sp>
      <p:sp>
        <p:nvSpPr>
          <p:cNvPr id="271" name="Text 30"/>
          <p:cNvSpPr/>
          <p:nvPr/>
        </p:nvSpPr>
        <p:spPr>
          <a:xfrm>
            <a:off x="8671320" y="228600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prevHash</a:t>
            </a:r>
            <a:endParaRPr lang="en-US" sz="1150" b="0" u="none" strike="noStrike">
              <a:solidFill>
                <a:srgbClr val="000000"/>
              </a:solidFill>
              <a:effectLst/>
              <a:uFillTx/>
              <a:latin typeface="Arial"/>
            </a:endParaRPr>
          </a:p>
        </p:txBody>
      </p:sp>
      <p:sp>
        <p:nvSpPr>
          <p:cNvPr id="272" name="Text 31"/>
          <p:cNvSpPr/>
          <p:nvPr/>
        </p:nvSpPr>
        <p:spPr>
          <a:xfrm>
            <a:off x="9658800" y="228600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00ADD8"/>
                </a:solidFill>
                <a:effectLst/>
                <a:uFillTx/>
                <a:latin typeface="Courier New"/>
                <a:ea typeface="Courier New"/>
              </a:rPr>
              <a:t>0x889a…ccc5</a:t>
            </a:r>
            <a:endParaRPr lang="en-US" sz="1150" b="0" u="none" strike="noStrike">
              <a:solidFill>
                <a:srgbClr val="000000"/>
              </a:solidFill>
              <a:effectLst/>
              <a:uFillTx/>
              <a:latin typeface="Arial"/>
            </a:endParaRPr>
          </a:p>
        </p:txBody>
      </p:sp>
      <p:sp>
        <p:nvSpPr>
          <p:cNvPr id="273" name="Text 32"/>
          <p:cNvSpPr/>
          <p:nvPr/>
        </p:nvSpPr>
        <p:spPr>
          <a:xfrm>
            <a:off x="8671320" y="264276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stateHash</a:t>
            </a:r>
            <a:endParaRPr lang="en-US" sz="1150" b="0" u="none" strike="noStrike">
              <a:solidFill>
                <a:srgbClr val="000000"/>
              </a:solidFill>
              <a:effectLst/>
              <a:uFillTx/>
              <a:latin typeface="Arial"/>
            </a:endParaRPr>
          </a:p>
        </p:txBody>
      </p:sp>
      <p:sp>
        <p:nvSpPr>
          <p:cNvPr id="274" name="Text 33"/>
          <p:cNvSpPr/>
          <p:nvPr/>
        </p:nvSpPr>
        <p:spPr>
          <a:xfrm>
            <a:off x="9658800" y="264276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2A900"/>
                </a:solidFill>
                <a:effectLst/>
                <a:uFillTx/>
                <a:latin typeface="Courier New"/>
                <a:ea typeface="Courier New"/>
              </a:rPr>
              <a:t>0xad7d…c905</a:t>
            </a:r>
            <a:endParaRPr lang="en-US" sz="1150" b="0" u="none" strike="noStrike">
              <a:solidFill>
                <a:srgbClr val="000000"/>
              </a:solidFill>
              <a:effectLst/>
              <a:uFillTx/>
              <a:latin typeface="Arial"/>
            </a:endParaRPr>
          </a:p>
        </p:txBody>
      </p:sp>
      <p:sp>
        <p:nvSpPr>
          <p:cNvPr id="275" name="Text 34"/>
          <p:cNvSpPr/>
          <p:nvPr/>
        </p:nvSpPr>
        <p:spPr>
          <a:xfrm>
            <a:off x="8671320" y="299916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tx</a:t>
            </a:r>
            <a:endParaRPr lang="en-US" sz="1150" b="0" u="none" strike="noStrike">
              <a:solidFill>
                <a:srgbClr val="000000"/>
              </a:solidFill>
              <a:effectLst/>
              <a:uFillTx/>
              <a:latin typeface="Arial"/>
            </a:endParaRPr>
          </a:p>
        </p:txBody>
      </p:sp>
      <p:sp>
        <p:nvSpPr>
          <p:cNvPr id="276" name="Text 35"/>
          <p:cNvSpPr/>
          <p:nvPr/>
        </p:nvSpPr>
        <p:spPr>
          <a:xfrm>
            <a:off x="9658800" y="299916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F8A7A"/>
                </a:solidFill>
                <a:effectLst/>
                <a:uFillTx/>
                <a:latin typeface="Courier New"/>
                <a:ea typeface="Courier New"/>
              </a:rPr>
              <a:t>StartRental  ✕</a:t>
            </a:r>
            <a:endParaRPr lang="en-US" sz="1150" b="0" u="none" strike="noStrike">
              <a:solidFill>
                <a:srgbClr val="000000"/>
              </a:solidFill>
              <a:effectLst/>
              <a:uFillTx/>
              <a:latin typeface="Arial"/>
            </a:endParaRPr>
          </a:p>
        </p:txBody>
      </p:sp>
      <p:sp>
        <p:nvSpPr>
          <p:cNvPr id="277" name="Text 36"/>
          <p:cNvSpPr/>
          <p:nvPr/>
        </p:nvSpPr>
        <p:spPr>
          <a:xfrm>
            <a:off x="8671320" y="335592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selado</a:t>
            </a:r>
            <a:endParaRPr lang="en-US" sz="1150" b="0" u="none" strike="noStrike">
              <a:solidFill>
                <a:srgbClr val="000000"/>
              </a:solidFill>
              <a:effectLst/>
              <a:uFillTx/>
              <a:latin typeface="Arial"/>
            </a:endParaRPr>
          </a:p>
        </p:txBody>
      </p:sp>
      <p:sp>
        <p:nvSpPr>
          <p:cNvPr id="278" name="Text 37"/>
          <p:cNvSpPr/>
          <p:nvPr/>
        </p:nvSpPr>
        <p:spPr>
          <a:xfrm>
            <a:off x="9658800" y="335592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FFFFFF"/>
                </a:solidFill>
                <a:effectLst/>
                <a:uFillTx/>
                <a:latin typeface="Courier New"/>
                <a:ea typeface="Courier New"/>
              </a:rPr>
              <a:t>admin (Ed25519)</a:t>
            </a:r>
            <a:endParaRPr lang="en-US" sz="1150" b="0" u="none" strike="noStrike">
              <a:solidFill>
                <a:srgbClr val="000000"/>
              </a:solidFill>
              <a:effectLst/>
              <a:uFillTx/>
              <a:latin typeface="Arial"/>
            </a:endParaRPr>
          </a:p>
        </p:txBody>
      </p:sp>
      <p:sp>
        <p:nvSpPr>
          <p:cNvPr id="279" name="Text 38"/>
          <p:cNvSpPr/>
          <p:nvPr/>
        </p:nvSpPr>
        <p:spPr>
          <a:xfrm>
            <a:off x="8671320" y="3712320"/>
            <a:ext cx="9597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0" u="none" strike="noStrike">
                <a:solidFill>
                  <a:srgbClr val="8B96A1"/>
                </a:solidFill>
                <a:effectLst/>
                <a:uFillTx/>
                <a:latin typeface="Courier New"/>
                <a:ea typeface="Courier New"/>
              </a:rPr>
              <a:t>hash</a:t>
            </a:r>
            <a:endParaRPr lang="en-US" sz="1150" b="0" u="none" strike="noStrike">
              <a:solidFill>
                <a:srgbClr val="000000"/>
              </a:solidFill>
              <a:effectLst/>
              <a:uFillTx/>
              <a:latin typeface="Arial"/>
            </a:endParaRPr>
          </a:p>
        </p:txBody>
      </p:sp>
      <p:sp>
        <p:nvSpPr>
          <p:cNvPr id="280" name="Text 39"/>
          <p:cNvSpPr/>
          <p:nvPr/>
        </p:nvSpPr>
        <p:spPr>
          <a:xfrm>
            <a:off x="9658800" y="3712320"/>
            <a:ext cx="182844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150" b="1" u="none" strike="noStrike">
                <a:solidFill>
                  <a:srgbClr val="00ADD8"/>
                </a:solidFill>
                <a:effectLst/>
                <a:uFillTx/>
                <a:latin typeface="Courier New"/>
                <a:ea typeface="Courier New"/>
              </a:rPr>
              <a:t>0x0d30…0b9d</a:t>
            </a:r>
            <a:endParaRPr lang="en-US" sz="1150" b="0" u="none" strike="noStrike">
              <a:solidFill>
                <a:srgbClr val="000000"/>
              </a:solidFill>
              <a:effectLst/>
              <a:uFillTx/>
              <a:latin typeface="Arial"/>
            </a:endParaRPr>
          </a:p>
        </p:txBody>
      </p:sp>
      <p:sp>
        <p:nvSpPr>
          <p:cNvPr id="281" name="Shape 40"/>
          <p:cNvSpPr/>
          <p:nvPr/>
        </p:nvSpPr>
        <p:spPr>
          <a:xfrm>
            <a:off x="7773480" y="2651760"/>
            <a:ext cx="568440" cy="360"/>
          </a:xfrm>
          <a:prstGeom prst="line">
            <a:avLst/>
          </a:prstGeom>
          <a:ln w="25400">
            <a:solidFill>
              <a:srgbClr val="00ADD8"/>
            </a:solidFill>
            <a:round/>
            <a:head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82" name="Text 41"/>
          <p:cNvSpPr/>
          <p:nvPr/>
        </p:nvSpPr>
        <p:spPr>
          <a:xfrm>
            <a:off x="548640" y="4297680"/>
            <a:ext cx="110941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1" u="none" strike="noStrike">
                <a:solidFill>
                  <a:srgbClr val="1E2328"/>
                </a:solidFill>
                <a:effectLst/>
                <a:uFillTx/>
                <a:latin typeface="Calibri"/>
                <a:ea typeface="Calibri"/>
              </a:rPr>
              <a:t>O bloco #6 guardou uma transação rejeitada, </a:t>
            </a:r>
            <a:r>
              <a:rPr lang="pt-BR" sz="1400" b="0" u="none" strike="noStrike">
                <a:solidFill>
                  <a:srgbClr val="1E2328"/>
                </a:solidFill>
                <a:effectLst/>
                <a:uFillTx/>
                <a:latin typeface="Calibri"/>
                <a:ea typeface="Calibri"/>
              </a:rPr>
              <a:t>então seu stateHash é igual ao do bloco #5: nada mudou, mas a tentativa está na cadeia.</a:t>
            </a:r>
            <a:endParaRPr lang="en-US" sz="1400" b="0" u="none" strike="noStrike">
              <a:solidFill>
                <a:srgbClr val="000000"/>
              </a:solidFill>
              <a:effectLst/>
              <a:uFillTx/>
              <a:latin typeface="Arial"/>
            </a:endParaRPr>
          </a:p>
        </p:txBody>
      </p:sp>
      <p:sp>
        <p:nvSpPr>
          <p:cNvPr id="283" name="Shape 42"/>
          <p:cNvSpPr/>
          <p:nvPr/>
        </p:nvSpPr>
        <p:spPr>
          <a:xfrm>
            <a:off x="548640" y="4892040"/>
            <a:ext cx="566640" cy="5666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84" name="Image 0" descr="preencoded.png"/>
          <p:cNvPicPr/>
          <p:nvPr/>
        </p:nvPicPr>
        <p:blipFill>
          <a:blip r:embed="rId1"/>
          <a:stretch/>
        </p:blipFill>
        <p:spPr>
          <a:xfrm>
            <a:off x="684720" y="5028120"/>
            <a:ext cx="294480" cy="294480"/>
          </a:xfrm>
          <a:prstGeom prst="rect">
            <a:avLst/>
          </a:prstGeom>
          <a:noFill/>
          <a:ln w="0">
            <a:noFill/>
          </a:ln>
        </p:spPr>
      </p:pic>
      <p:sp>
        <p:nvSpPr>
          <p:cNvPr id="285" name="Text 43"/>
          <p:cNvSpPr/>
          <p:nvPr/>
        </p:nvSpPr>
        <p:spPr>
          <a:xfrm>
            <a:off x="1280160" y="4873680"/>
            <a:ext cx="275292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Arial"/>
                <a:ea typeface="Arial"/>
              </a:rPr>
              <a:t>Encadeados por hash</a:t>
            </a:r>
            <a:endParaRPr lang="en-US" sz="1500" b="0" u="none" strike="noStrike">
              <a:solidFill>
                <a:srgbClr val="000000"/>
              </a:solidFill>
              <a:effectLst/>
              <a:uFillTx/>
              <a:latin typeface="Arial"/>
            </a:endParaRPr>
          </a:p>
        </p:txBody>
      </p:sp>
      <p:sp>
        <p:nvSpPr>
          <p:cNvPr id="286" name="Text 44"/>
          <p:cNvSpPr/>
          <p:nvPr/>
        </p:nvSpPr>
        <p:spPr>
          <a:xfrm>
            <a:off x="1280160" y="5230440"/>
            <a:ext cx="27529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Cada bloco guarda o hash do anterior; alterar um bloco quebra todos os elos seguintes.</a:t>
            </a:r>
            <a:endParaRPr lang="en-US" sz="1300" b="0" u="none" strike="noStrike">
              <a:solidFill>
                <a:srgbClr val="000000"/>
              </a:solidFill>
              <a:effectLst/>
              <a:uFillTx/>
              <a:latin typeface="Arial"/>
            </a:endParaRPr>
          </a:p>
        </p:txBody>
      </p:sp>
      <p:sp>
        <p:nvSpPr>
          <p:cNvPr id="287" name="Shape 45"/>
          <p:cNvSpPr/>
          <p:nvPr/>
        </p:nvSpPr>
        <p:spPr>
          <a:xfrm>
            <a:off x="4353480" y="4892040"/>
            <a:ext cx="566640" cy="5666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88" name="Image 1" descr="preencoded.png"/>
          <p:cNvPicPr/>
          <p:nvPr/>
        </p:nvPicPr>
        <p:blipFill>
          <a:blip r:embed="rId2"/>
          <a:stretch/>
        </p:blipFill>
        <p:spPr>
          <a:xfrm>
            <a:off x="4489560" y="5028120"/>
            <a:ext cx="294480" cy="294480"/>
          </a:xfrm>
          <a:prstGeom prst="rect">
            <a:avLst/>
          </a:prstGeom>
          <a:noFill/>
          <a:ln w="0">
            <a:noFill/>
          </a:ln>
        </p:spPr>
      </p:pic>
      <p:sp>
        <p:nvSpPr>
          <p:cNvPr id="289" name="Text 46"/>
          <p:cNvSpPr/>
          <p:nvPr/>
        </p:nvSpPr>
        <p:spPr>
          <a:xfrm>
            <a:off x="5085000" y="4873680"/>
            <a:ext cx="275292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Arial"/>
                <a:ea typeface="Arial"/>
              </a:rPr>
              <a:t>Selados</a:t>
            </a:r>
            <a:endParaRPr lang="en-US" sz="1500" b="0" u="none" strike="noStrike">
              <a:solidFill>
                <a:srgbClr val="000000"/>
              </a:solidFill>
              <a:effectLst/>
              <a:uFillTx/>
              <a:latin typeface="Arial"/>
            </a:endParaRPr>
          </a:p>
        </p:txBody>
      </p:sp>
      <p:sp>
        <p:nvSpPr>
          <p:cNvPr id="290" name="Text 47"/>
          <p:cNvSpPr/>
          <p:nvPr/>
        </p:nvSpPr>
        <p:spPr>
          <a:xfrm>
            <a:off x="5085000" y="5230440"/>
            <a:ext cx="27529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O validador assina o hash de cada bloco: prova de autoridade com um único validador.</a:t>
            </a:r>
            <a:endParaRPr lang="en-US" sz="1300" b="0" u="none" strike="noStrike">
              <a:solidFill>
                <a:srgbClr val="000000"/>
              </a:solidFill>
              <a:effectLst/>
              <a:uFillTx/>
              <a:latin typeface="Arial"/>
            </a:endParaRPr>
          </a:p>
        </p:txBody>
      </p:sp>
      <p:sp>
        <p:nvSpPr>
          <p:cNvPr id="291" name="Shape 48"/>
          <p:cNvSpPr/>
          <p:nvPr/>
        </p:nvSpPr>
        <p:spPr>
          <a:xfrm>
            <a:off x="8158320" y="4892040"/>
            <a:ext cx="566640" cy="5666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92" name="Image 2" descr="preencoded.png"/>
          <p:cNvPicPr/>
          <p:nvPr/>
        </p:nvPicPr>
        <p:blipFill>
          <a:blip r:embed="rId3"/>
          <a:stretch/>
        </p:blipFill>
        <p:spPr>
          <a:xfrm>
            <a:off x="8294400" y="5028120"/>
            <a:ext cx="294480" cy="294480"/>
          </a:xfrm>
          <a:prstGeom prst="rect">
            <a:avLst/>
          </a:prstGeom>
          <a:noFill/>
          <a:ln w="0">
            <a:noFill/>
          </a:ln>
        </p:spPr>
      </p:pic>
      <p:sp>
        <p:nvSpPr>
          <p:cNvPr id="293" name="Text 49"/>
          <p:cNvSpPr/>
          <p:nvPr/>
        </p:nvSpPr>
        <p:spPr>
          <a:xfrm>
            <a:off x="8889840" y="4873680"/>
            <a:ext cx="275292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Arial"/>
                <a:ea typeface="Arial"/>
              </a:rPr>
              <a:t>Reexecutados ao reiniciar</a:t>
            </a:r>
            <a:endParaRPr lang="en-US" sz="1500" b="0" u="none" strike="noStrike">
              <a:solidFill>
                <a:srgbClr val="000000"/>
              </a:solidFill>
              <a:effectLst/>
              <a:uFillTx/>
              <a:latin typeface="Arial"/>
            </a:endParaRPr>
          </a:p>
        </p:txBody>
      </p:sp>
      <p:sp>
        <p:nvSpPr>
          <p:cNvPr id="294" name="Text 50"/>
          <p:cNvSpPr/>
          <p:nvPr/>
        </p:nvSpPr>
        <p:spPr>
          <a:xfrm>
            <a:off x="8889840" y="5230440"/>
            <a:ext cx="275292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O nó reexecuta seu log. Args editados, um bloco removido ou um recibo reescrito são recusados.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5"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03 · TOKENIZAÇÃO</a:t>
            </a:r>
            <a:endParaRPr lang="en-US" sz="1100" b="0" u="none" strike="noStrike">
              <a:solidFill>
                <a:srgbClr val="000000"/>
              </a:solidFill>
              <a:effectLst/>
              <a:uFillTx/>
              <a:latin typeface="Arial"/>
            </a:endParaRPr>
          </a:p>
        </p:txBody>
      </p:sp>
      <p:sp>
        <p:nvSpPr>
          <p:cNvPr id="296"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O que é tokenização?</a:t>
            </a:r>
            <a:endParaRPr lang="en-US" sz="3200" b="0" u="none" strike="noStrike">
              <a:solidFill>
                <a:srgbClr val="000000"/>
              </a:solidFill>
              <a:effectLst/>
              <a:uFillTx/>
              <a:latin typeface="Arial"/>
            </a:endParaRPr>
          </a:p>
        </p:txBody>
      </p:sp>
      <p:sp>
        <p:nvSpPr>
          <p:cNvPr id="297"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11</a:t>
            </a:r>
            <a:endParaRPr lang="en-US" sz="1000" b="0" u="none" strike="noStrike">
              <a:solidFill>
                <a:srgbClr val="000000"/>
              </a:solidFill>
              <a:effectLst/>
              <a:uFillTx/>
              <a:latin typeface="Arial"/>
            </a:endParaRPr>
          </a:p>
        </p:txBody>
      </p:sp>
      <p:sp>
        <p:nvSpPr>
          <p:cNvPr id="298" name="Text 3"/>
          <p:cNvSpPr/>
          <p:nvPr/>
        </p:nvSpPr>
        <p:spPr>
          <a:xfrm>
            <a:off x="548640" y="1645920"/>
            <a:ext cx="630900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800" b="1" u="none" strike="noStrike">
                <a:solidFill>
                  <a:srgbClr val="1E2328"/>
                </a:solidFill>
                <a:effectLst/>
                <a:uFillTx/>
                <a:latin typeface="Calibri"/>
                <a:ea typeface="Calibri"/>
              </a:rPr>
              <a:t>Tokenizar é representar um ativo ou um direito como um registro num livro-razão compartilhado, que pode ser detido, transferido e bloqueado por regras que todos os nós aplicam.</a:t>
            </a:r>
            <a:endParaRPr lang="en-US" sz="1800" b="0" u="none" strike="noStrike">
              <a:solidFill>
                <a:srgbClr val="000000"/>
              </a:solidFill>
              <a:effectLst/>
              <a:uFillTx/>
              <a:latin typeface="Arial"/>
            </a:endParaRPr>
          </a:p>
        </p:txBody>
      </p:sp>
      <p:sp>
        <p:nvSpPr>
          <p:cNvPr id="299" name="Shape 4"/>
          <p:cNvSpPr/>
          <p:nvPr/>
        </p:nvSpPr>
        <p:spPr>
          <a:xfrm>
            <a:off x="548640" y="3017520"/>
            <a:ext cx="639720" cy="639720"/>
          </a:xfrm>
          <a:prstGeom prst="ellipse">
            <a:avLst/>
          </a:prstGeom>
          <a:solidFill>
            <a:srgbClr val="F2A900"/>
          </a:solidFill>
          <a:ln w="9525">
            <a:solidFill>
              <a:srgbClr val="F2A9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00" name="Image 0" descr="preencoded.png"/>
          <p:cNvPicPr/>
          <p:nvPr/>
        </p:nvPicPr>
        <p:blipFill>
          <a:blip r:embed="rId1"/>
          <a:stretch/>
        </p:blipFill>
        <p:spPr>
          <a:xfrm>
            <a:off x="702360" y="3171240"/>
            <a:ext cx="332640" cy="332640"/>
          </a:xfrm>
          <a:prstGeom prst="rect">
            <a:avLst/>
          </a:prstGeom>
          <a:noFill/>
          <a:ln w="0">
            <a:noFill/>
          </a:ln>
        </p:spPr>
      </p:pic>
      <p:sp>
        <p:nvSpPr>
          <p:cNvPr id="301" name="Text 5"/>
          <p:cNvSpPr/>
          <p:nvPr/>
        </p:nvSpPr>
        <p:spPr>
          <a:xfrm>
            <a:off x="1417320" y="2999160"/>
            <a:ext cx="544032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Fungível</a:t>
            </a:r>
            <a:endParaRPr lang="en-US" sz="1600" b="0" u="none" strike="noStrike">
              <a:solidFill>
                <a:srgbClr val="000000"/>
              </a:solidFill>
              <a:effectLst/>
              <a:uFillTx/>
              <a:latin typeface="Arial"/>
            </a:endParaRPr>
          </a:p>
        </p:txBody>
      </p:sp>
      <p:sp>
        <p:nvSpPr>
          <p:cNvPr id="302" name="Text 6"/>
          <p:cNvSpPr/>
          <p:nvPr/>
        </p:nvSpPr>
        <p:spPr>
          <a:xfrm>
            <a:off x="1417320" y="3319200"/>
            <a:ext cx="54403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5F6B76"/>
                </a:solidFill>
                <a:effectLst/>
                <a:uFillTx/>
                <a:latin typeface="Calibri"/>
                <a:ea typeface="Calibri"/>
              </a:rPr>
              <a:t>Unidades intercambiáveis: um token de depósito vale o mesmo que outro. Oferta: muitos.</a:t>
            </a:r>
            <a:endParaRPr lang="en-US" sz="1400" b="0" u="none" strike="noStrike">
              <a:solidFill>
                <a:srgbClr val="000000"/>
              </a:solidFill>
              <a:effectLst/>
              <a:uFillTx/>
              <a:latin typeface="Arial"/>
            </a:endParaRPr>
          </a:p>
        </p:txBody>
      </p:sp>
      <p:sp>
        <p:nvSpPr>
          <p:cNvPr id="303" name="Shape 7"/>
          <p:cNvSpPr/>
          <p:nvPr/>
        </p:nvSpPr>
        <p:spPr>
          <a:xfrm>
            <a:off x="548640" y="3931920"/>
            <a:ext cx="639720" cy="6397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04" name="Image 1" descr="preencoded.png"/>
          <p:cNvPicPr/>
          <p:nvPr/>
        </p:nvPicPr>
        <p:blipFill>
          <a:blip r:embed="rId2"/>
          <a:stretch/>
        </p:blipFill>
        <p:spPr>
          <a:xfrm>
            <a:off x="702360" y="4085640"/>
            <a:ext cx="332640" cy="332640"/>
          </a:xfrm>
          <a:prstGeom prst="rect">
            <a:avLst/>
          </a:prstGeom>
          <a:noFill/>
          <a:ln w="0">
            <a:noFill/>
          </a:ln>
        </p:spPr>
      </p:pic>
      <p:sp>
        <p:nvSpPr>
          <p:cNvPr id="305" name="Text 8"/>
          <p:cNvSpPr/>
          <p:nvPr/>
        </p:nvSpPr>
        <p:spPr>
          <a:xfrm>
            <a:off x="1417320" y="3913560"/>
            <a:ext cx="544032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Não fungível</a:t>
            </a:r>
            <a:endParaRPr lang="en-US" sz="1600" b="0" u="none" strike="noStrike">
              <a:solidFill>
                <a:srgbClr val="000000"/>
              </a:solidFill>
              <a:effectLst/>
              <a:uFillTx/>
              <a:latin typeface="Arial"/>
            </a:endParaRPr>
          </a:p>
        </p:txBody>
      </p:sp>
      <p:sp>
        <p:nvSpPr>
          <p:cNvPr id="306" name="Text 9"/>
          <p:cNvSpPr/>
          <p:nvPr/>
        </p:nvSpPr>
        <p:spPr>
          <a:xfrm>
            <a:off x="1417320" y="4233600"/>
            <a:ext cx="54403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5F6B76"/>
                </a:solidFill>
                <a:effectLst/>
                <a:uFillTx/>
                <a:latin typeface="Calibri"/>
                <a:ea typeface="Calibri"/>
              </a:rPr>
              <a:t>Itens únicos, com oferta de um: este carro, este relógio.</a:t>
            </a:r>
            <a:endParaRPr lang="en-US" sz="1400" b="0" u="none" strike="noStrike">
              <a:solidFill>
                <a:srgbClr val="000000"/>
              </a:solidFill>
              <a:effectLst/>
              <a:uFillTx/>
              <a:latin typeface="Arial"/>
            </a:endParaRPr>
          </a:p>
        </p:txBody>
      </p:sp>
      <p:sp>
        <p:nvSpPr>
          <p:cNvPr id="307" name="Shape 10"/>
          <p:cNvSpPr/>
          <p:nvPr/>
        </p:nvSpPr>
        <p:spPr>
          <a:xfrm>
            <a:off x="548640" y="4937760"/>
            <a:ext cx="6309000" cy="1188360"/>
          </a:xfrm>
          <a:prstGeom prst="roundRect">
            <a:avLst>
              <a:gd name="adj" fmla="val 6154"/>
            </a:avLst>
          </a:prstGeom>
          <a:solidFill>
            <a:srgbClr val="FFF4D6"/>
          </a:solidFill>
          <a:ln w="9525">
            <a:solidFill>
              <a:srgbClr val="FFF4D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8" name="Text 11"/>
          <p:cNvSpPr/>
          <p:nvPr/>
        </p:nvSpPr>
        <p:spPr>
          <a:xfrm>
            <a:off x="822960" y="5047560"/>
            <a:ext cx="576036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1" u="none" strike="noStrike">
                <a:solidFill>
                  <a:srgbClr val="1E2328"/>
                </a:solidFill>
                <a:effectLst/>
                <a:uFillTx/>
                <a:latin typeface="Calibri"/>
                <a:ea typeface="Calibri"/>
              </a:rPr>
              <a:t>Um token registra um direito, não o objeto. </a:t>
            </a:r>
            <a:r>
              <a:rPr lang="pt-BR" sz="1400" b="0" u="none" strike="noStrike">
                <a:solidFill>
                  <a:srgbClr val="1E2328"/>
                </a:solidFill>
                <a:effectLst/>
                <a:uFillTx/>
                <a:latin typeface="Calibri"/>
                <a:ea typeface="Calibri"/>
              </a:rPr>
              <a:t>Ele vale plenamente para registros puros, como um cadastro ou um saldo. Um relógio físico ainda precisa de um custodiante para que seu token seja uma garantia real.</a:t>
            </a:r>
            <a:endParaRPr lang="en-US" sz="1400" b="0" u="none" strike="noStrike">
              <a:solidFill>
                <a:srgbClr val="000000"/>
              </a:solidFill>
              <a:effectLst/>
              <a:uFillTx/>
              <a:latin typeface="Arial"/>
            </a:endParaRPr>
          </a:p>
        </p:txBody>
      </p:sp>
      <p:sp>
        <p:nvSpPr>
          <p:cNvPr id="309" name="Text 12"/>
          <p:cNvSpPr/>
          <p:nvPr/>
        </p:nvSpPr>
        <p:spPr>
          <a:xfrm>
            <a:off x="7443360" y="1645920"/>
            <a:ext cx="402300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050" b="1" u="none" spc="201" strike="noStrike">
                <a:solidFill>
                  <a:srgbClr val="5F6B76"/>
                </a:solidFill>
                <a:effectLst/>
                <a:uFillTx/>
                <a:latin typeface="Arial"/>
                <a:ea typeface="Arial"/>
              </a:rPr>
              <a:t>FUNGÍVEL · TOKEN 0</a:t>
            </a:r>
            <a:endParaRPr lang="en-US" sz="1050" b="0" u="none" strike="noStrike">
              <a:solidFill>
                <a:srgbClr val="000000"/>
              </a:solidFill>
              <a:effectLst/>
              <a:uFillTx/>
              <a:latin typeface="Arial"/>
            </a:endParaRPr>
          </a:p>
        </p:txBody>
      </p:sp>
      <p:sp>
        <p:nvSpPr>
          <p:cNvPr id="310" name="Shape 13"/>
          <p:cNvSpPr/>
          <p:nvPr/>
        </p:nvSpPr>
        <p:spPr>
          <a:xfrm>
            <a:off x="8586360" y="2697480"/>
            <a:ext cx="1737000" cy="585000"/>
          </a:xfrm>
          <a:prstGeom prst="ellipse">
            <a:avLst/>
          </a:prstGeom>
          <a:solidFill>
            <a:srgbClr val="D99700"/>
          </a:solidFill>
          <a:ln w="12700">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1" name="Shape 14"/>
          <p:cNvSpPr/>
          <p:nvPr/>
        </p:nvSpPr>
        <p:spPr>
          <a:xfrm>
            <a:off x="8586360" y="2496240"/>
            <a:ext cx="1737000" cy="585000"/>
          </a:xfrm>
          <a:prstGeom prst="ellipse">
            <a:avLst/>
          </a:prstGeom>
          <a:solidFill>
            <a:srgbClr val="D99700"/>
          </a:solidFill>
          <a:ln w="12700">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2" name="Shape 15"/>
          <p:cNvSpPr/>
          <p:nvPr/>
        </p:nvSpPr>
        <p:spPr>
          <a:xfrm>
            <a:off x="8586360" y="2295000"/>
            <a:ext cx="1737000" cy="585000"/>
          </a:xfrm>
          <a:prstGeom prst="ellipse">
            <a:avLst/>
          </a:prstGeom>
          <a:solidFill>
            <a:srgbClr val="D99700"/>
          </a:solidFill>
          <a:ln w="12700">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3" name="Shape 16"/>
          <p:cNvSpPr/>
          <p:nvPr/>
        </p:nvSpPr>
        <p:spPr>
          <a:xfrm>
            <a:off x="8586360" y="2094120"/>
            <a:ext cx="1737000" cy="585000"/>
          </a:xfrm>
          <a:prstGeom prst="ellipse">
            <a:avLst/>
          </a:prstGeom>
          <a:solidFill>
            <a:srgbClr val="F2A900"/>
          </a:solidFill>
          <a:ln w="12700">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4" name="Text 17"/>
          <p:cNvSpPr/>
          <p:nvPr/>
        </p:nvSpPr>
        <p:spPr>
          <a:xfrm>
            <a:off x="8586360" y="2094120"/>
            <a:ext cx="1737000" cy="5850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200" b="1" u="none" strike="noStrike">
                <a:solidFill>
                  <a:srgbClr val="1E2328"/>
                </a:solidFill>
                <a:effectLst/>
                <a:uFillTx/>
                <a:latin typeface="Arial"/>
                <a:ea typeface="Arial"/>
              </a:rPr>
              <a:t>DEPÓSITO</a:t>
            </a:r>
            <a:endParaRPr lang="en-US" sz="1200" b="0" u="none" strike="noStrike">
              <a:solidFill>
                <a:srgbClr val="000000"/>
              </a:solidFill>
              <a:effectLst/>
              <a:uFillTx/>
              <a:latin typeface="Arial"/>
            </a:endParaRPr>
          </a:p>
        </p:txBody>
      </p:sp>
      <p:sp>
        <p:nvSpPr>
          <p:cNvPr id="315" name="Text 18"/>
          <p:cNvSpPr/>
          <p:nvPr/>
        </p:nvSpPr>
        <p:spPr>
          <a:xfrm>
            <a:off x="7443360" y="3383280"/>
            <a:ext cx="402300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300" b="0" u="none" strike="noStrike">
                <a:solidFill>
                  <a:srgbClr val="5F6B76"/>
                </a:solidFill>
                <a:effectLst/>
                <a:uFillTx/>
                <a:latin typeface="Calibri"/>
                <a:ea typeface="Calibri"/>
              </a:rPr>
              <a:t>1000 unidades intercambiáveis</a:t>
            </a:r>
            <a:endParaRPr lang="en-US" sz="1300" b="0" u="none" strike="noStrike">
              <a:solidFill>
                <a:srgbClr val="000000"/>
              </a:solidFill>
              <a:effectLst/>
              <a:uFillTx/>
              <a:latin typeface="Arial"/>
            </a:endParaRPr>
          </a:p>
        </p:txBody>
      </p:sp>
      <p:sp>
        <p:nvSpPr>
          <p:cNvPr id="316" name="Text 19"/>
          <p:cNvSpPr/>
          <p:nvPr/>
        </p:nvSpPr>
        <p:spPr>
          <a:xfrm>
            <a:off x="7443360" y="3931920"/>
            <a:ext cx="4023000" cy="255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050" b="1" u="none" spc="201" strike="noStrike">
                <a:solidFill>
                  <a:srgbClr val="5F6B76"/>
                </a:solidFill>
                <a:effectLst/>
                <a:uFillTx/>
                <a:latin typeface="Arial"/>
                <a:ea typeface="Arial"/>
              </a:rPr>
              <a:t>NÃO FUNGÍVEL · OFERTA DE 1</a:t>
            </a:r>
            <a:endParaRPr lang="en-US" sz="1050" b="0" u="none" strike="noStrike">
              <a:solidFill>
                <a:srgbClr val="000000"/>
              </a:solidFill>
              <a:effectLst/>
              <a:uFillTx/>
              <a:latin typeface="Arial"/>
            </a:endParaRPr>
          </a:p>
        </p:txBody>
      </p:sp>
      <p:sp>
        <p:nvSpPr>
          <p:cNvPr id="317" name="Shape 20"/>
          <p:cNvSpPr/>
          <p:nvPr/>
        </p:nvSpPr>
        <p:spPr>
          <a:xfrm>
            <a:off x="8129160" y="4316040"/>
            <a:ext cx="1096920" cy="10969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18" name="Image 2" descr="preencoded.png"/>
          <p:cNvPicPr/>
          <p:nvPr/>
        </p:nvPicPr>
        <p:blipFill>
          <a:blip r:embed="rId3"/>
          <a:stretch/>
        </p:blipFill>
        <p:spPr>
          <a:xfrm>
            <a:off x="8392320" y="4579200"/>
            <a:ext cx="570240" cy="570240"/>
          </a:xfrm>
          <a:prstGeom prst="rect">
            <a:avLst/>
          </a:prstGeom>
          <a:noFill/>
          <a:ln w="0">
            <a:noFill/>
          </a:ln>
        </p:spPr>
      </p:pic>
      <p:sp>
        <p:nvSpPr>
          <p:cNvPr id="319" name="Text 21"/>
          <p:cNvSpPr/>
          <p:nvPr/>
        </p:nvSpPr>
        <p:spPr>
          <a:xfrm>
            <a:off x="7763400" y="5486400"/>
            <a:ext cx="182844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200" b="1" u="none" strike="noStrike">
                <a:solidFill>
                  <a:srgbClr val="007D9C"/>
                </a:solidFill>
                <a:effectLst/>
                <a:uFillTx/>
                <a:latin typeface="Courier New"/>
                <a:ea typeface="Courier New"/>
              </a:rPr>
              <a:t>CARRO #1</a:t>
            </a:r>
            <a:endParaRPr lang="en-US" sz="1200" b="0" u="none" strike="noStrike">
              <a:solidFill>
                <a:srgbClr val="000000"/>
              </a:solidFill>
              <a:effectLst/>
              <a:uFillTx/>
              <a:latin typeface="Arial"/>
            </a:endParaRPr>
          </a:p>
        </p:txBody>
      </p:sp>
      <p:sp>
        <p:nvSpPr>
          <p:cNvPr id="320" name="Shape 22"/>
          <p:cNvSpPr/>
          <p:nvPr/>
        </p:nvSpPr>
        <p:spPr>
          <a:xfrm>
            <a:off x="9683640" y="4316040"/>
            <a:ext cx="1096920" cy="10969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21" name="Image 3" descr="preencoded.png"/>
          <p:cNvPicPr/>
          <p:nvPr/>
        </p:nvPicPr>
        <p:blipFill>
          <a:blip r:embed="rId4"/>
          <a:stretch/>
        </p:blipFill>
        <p:spPr>
          <a:xfrm>
            <a:off x="9946800" y="4579200"/>
            <a:ext cx="570240" cy="570240"/>
          </a:xfrm>
          <a:prstGeom prst="rect">
            <a:avLst/>
          </a:prstGeom>
          <a:noFill/>
          <a:ln w="0">
            <a:noFill/>
          </a:ln>
        </p:spPr>
      </p:pic>
      <p:sp>
        <p:nvSpPr>
          <p:cNvPr id="322" name="Text 23"/>
          <p:cNvSpPr/>
          <p:nvPr/>
        </p:nvSpPr>
        <p:spPr>
          <a:xfrm>
            <a:off x="9317880" y="5486400"/>
            <a:ext cx="1828440" cy="292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200" b="1" u="none" strike="noStrike">
                <a:solidFill>
                  <a:srgbClr val="007D9C"/>
                </a:solidFill>
                <a:effectLst/>
                <a:uFillTx/>
                <a:latin typeface="Courier New"/>
                <a:ea typeface="Courier New"/>
              </a:rPr>
              <a:t>RELÓGIO #2</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3"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03 · TOKENIZAÇÃO</a:t>
            </a:r>
            <a:endParaRPr lang="en-US" sz="1100" b="0" u="none" strike="noStrike">
              <a:solidFill>
                <a:srgbClr val="000000"/>
              </a:solidFill>
              <a:effectLst/>
              <a:uFillTx/>
              <a:latin typeface="Arial"/>
            </a:endParaRPr>
          </a:p>
        </p:txBody>
      </p:sp>
      <p:sp>
        <p:nvSpPr>
          <p:cNvPr id="324"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Três tipos de token, um livro-razão</a:t>
            </a:r>
            <a:endParaRPr lang="en-US" sz="3200" b="0" u="none" strike="noStrike">
              <a:solidFill>
                <a:srgbClr val="000000"/>
              </a:solidFill>
              <a:effectLst/>
              <a:uFillTx/>
              <a:latin typeface="Arial"/>
            </a:endParaRPr>
          </a:p>
        </p:txBody>
      </p:sp>
      <p:sp>
        <p:nvSpPr>
          <p:cNvPr id="325"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12</a:t>
            </a:r>
            <a:endParaRPr lang="en-US" sz="1000" b="0" u="none" strike="noStrike">
              <a:solidFill>
                <a:srgbClr val="000000"/>
              </a:solidFill>
              <a:effectLst/>
              <a:uFillTx/>
              <a:latin typeface="Arial"/>
            </a:endParaRPr>
          </a:p>
        </p:txBody>
      </p:sp>
      <p:sp>
        <p:nvSpPr>
          <p:cNvPr id="326" name="Shape 3"/>
          <p:cNvSpPr/>
          <p:nvPr/>
        </p:nvSpPr>
        <p:spPr>
          <a:xfrm>
            <a:off x="548640" y="1645920"/>
            <a:ext cx="3484440" cy="3840120"/>
          </a:xfrm>
          <a:prstGeom prst="roundRect">
            <a:avLst>
              <a:gd name="adj" fmla="val 209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7" name="Shape 4"/>
          <p:cNvSpPr/>
          <p:nvPr/>
        </p:nvSpPr>
        <p:spPr>
          <a:xfrm>
            <a:off x="822960" y="1874520"/>
            <a:ext cx="685440" cy="6854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28" name="Image 0" descr="preencoded.png"/>
          <p:cNvPicPr/>
          <p:nvPr/>
        </p:nvPicPr>
        <p:blipFill>
          <a:blip r:embed="rId1"/>
          <a:stretch/>
        </p:blipFill>
        <p:spPr>
          <a:xfrm>
            <a:off x="987480" y="2039040"/>
            <a:ext cx="356400" cy="356400"/>
          </a:xfrm>
          <a:prstGeom prst="rect">
            <a:avLst/>
          </a:prstGeom>
          <a:noFill/>
          <a:ln w="0">
            <a:noFill/>
          </a:ln>
        </p:spPr>
      </p:pic>
      <p:sp>
        <p:nvSpPr>
          <p:cNvPr id="329" name="Text 5"/>
          <p:cNvSpPr/>
          <p:nvPr/>
        </p:nvSpPr>
        <p:spPr>
          <a:xfrm>
            <a:off x="1691640" y="1874520"/>
            <a:ext cx="211284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900" b="1" u="none" strike="noStrike">
                <a:solidFill>
                  <a:srgbClr val="1E2328"/>
                </a:solidFill>
                <a:effectLst/>
                <a:uFillTx/>
                <a:latin typeface="Arial"/>
                <a:ea typeface="Arial"/>
              </a:rPr>
              <a:t>Carro</a:t>
            </a:r>
            <a:endParaRPr lang="en-US" sz="1900" b="0" u="none" strike="noStrike">
              <a:solidFill>
                <a:srgbClr val="000000"/>
              </a:solidFill>
              <a:effectLst/>
              <a:uFillTx/>
              <a:latin typeface="Arial"/>
            </a:endParaRPr>
          </a:p>
        </p:txBody>
      </p:sp>
      <p:sp>
        <p:nvSpPr>
          <p:cNvPr id="330" name="Text 6"/>
          <p:cNvSpPr/>
          <p:nvPr/>
        </p:nvSpPr>
        <p:spPr>
          <a:xfrm>
            <a:off x="822960" y="278892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ID DO TOKEN</a:t>
            </a:r>
            <a:endParaRPr lang="en-US" sz="950" b="0" u="none" strike="noStrike">
              <a:solidFill>
                <a:srgbClr val="000000"/>
              </a:solidFill>
              <a:effectLst/>
              <a:uFillTx/>
              <a:latin typeface="Arial"/>
            </a:endParaRPr>
          </a:p>
        </p:txBody>
      </p:sp>
      <p:sp>
        <p:nvSpPr>
          <p:cNvPr id="331" name="Text 7"/>
          <p:cNvSpPr/>
          <p:nvPr/>
        </p:nvSpPr>
        <p:spPr>
          <a:xfrm>
            <a:off x="822960" y="299016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1, 2, 3 … (contador compartilhado)</a:t>
            </a:r>
            <a:endParaRPr lang="en-US" sz="1350" b="0" u="none" strike="noStrike">
              <a:solidFill>
                <a:srgbClr val="000000"/>
              </a:solidFill>
              <a:effectLst/>
              <a:uFillTx/>
              <a:latin typeface="Arial"/>
            </a:endParaRPr>
          </a:p>
        </p:txBody>
      </p:sp>
      <p:sp>
        <p:nvSpPr>
          <p:cNvPr id="332" name="Text 8"/>
          <p:cNvSpPr/>
          <p:nvPr/>
        </p:nvSpPr>
        <p:spPr>
          <a:xfrm>
            <a:off x="822960" y="339228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OFERTA</a:t>
            </a:r>
            <a:endParaRPr lang="en-US" sz="950" b="0" u="none" strike="noStrike">
              <a:solidFill>
                <a:srgbClr val="000000"/>
              </a:solidFill>
              <a:effectLst/>
              <a:uFillTx/>
              <a:latin typeface="Arial"/>
            </a:endParaRPr>
          </a:p>
        </p:txBody>
      </p:sp>
      <p:sp>
        <p:nvSpPr>
          <p:cNvPr id="333" name="Text 9"/>
          <p:cNvSpPr/>
          <p:nvPr/>
        </p:nvSpPr>
        <p:spPr>
          <a:xfrm>
            <a:off x="822960" y="359352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1</a:t>
            </a:r>
            <a:endParaRPr lang="en-US" sz="1350" b="0" u="none" strike="noStrike">
              <a:solidFill>
                <a:srgbClr val="000000"/>
              </a:solidFill>
              <a:effectLst/>
              <a:uFillTx/>
              <a:latin typeface="Arial"/>
            </a:endParaRPr>
          </a:p>
        </p:txBody>
      </p:sp>
      <p:sp>
        <p:nvSpPr>
          <p:cNvPr id="334" name="Text 10"/>
          <p:cNvSpPr/>
          <p:nvPr/>
        </p:nvSpPr>
        <p:spPr>
          <a:xfrm>
            <a:off x="822960" y="399600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REPRESENTA</a:t>
            </a:r>
            <a:endParaRPr lang="en-US" sz="950" b="0" u="none" strike="noStrike">
              <a:solidFill>
                <a:srgbClr val="000000"/>
              </a:solidFill>
              <a:effectLst/>
              <a:uFillTx/>
              <a:latin typeface="Arial"/>
            </a:endParaRPr>
          </a:p>
        </p:txBody>
      </p:sp>
      <p:sp>
        <p:nvSpPr>
          <p:cNvPr id="335" name="Text 11"/>
          <p:cNvSpPr/>
          <p:nvPr/>
        </p:nvSpPr>
        <p:spPr>
          <a:xfrm>
            <a:off x="822960" y="419724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Um veículo registrado</a:t>
            </a:r>
            <a:endParaRPr lang="en-US" sz="1350" b="0" u="none" strike="noStrike">
              <a:solidFill>
                <a:srgbClr val="000000"/>
              </a:solidFill>
              <a:effectLst/>
              <a:uFillTx/>
              <a:latin typeface="Arial"/>
            </a:endParaRPr>
          </a:p>
        </p:txBody>
      </p:sp>
      <p:sp>
        <p:nvSpPr>
          <p:cNvPr id="336" name="Text 12"/>
          <p:cNvSpPr/>
          <p:nvPr/>
        </p:nvSpPr>
        <p:spPr>
          <a:xfrm>
            <a:off x="822960" y="480060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EMITIDO POR</a:t>
            </a:r>
            <a:endParaRPr lang="en-US" sz="950" b="0" u="none" strike="noStrike">
              <a:solidFill>
                <a:srgbClr val="000000"/>
              </a:solidFill>
              <a:effectLst/>
              <a:uFillTx/>
              <a:latin typeface="Arial"/>
            </a:endParaRPr>
          </a:p>
        </p:txBody>
      </p:sp>
      <p:sp>
        <p:nvSpPr>
          <p:cNvPr id="337" name="Text 13"/>
          <p:cNvSpPr/>
          <p:nvPr/>
        </p:nvSpPr>
        <p:spPr>
          <a:xfrm>
            <a:off x="822960" y="500184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Registrador, para o proprietário</a:t>
            </a:r>
            <a:endParaRPr lang="en-US" sz="1350" b="0" u="none" strike="noStrike">
              <a:solidFill>
                <a:srgbClr val="000000"/>
              </a:solidFill>
              <a:effectLst/>
              <a:uFillTx/>
              <a:latin typeface="Arial"/>
            </a:endParaRPr>
          </a:p>
        </p:txBody>
      </p:sp>
      <p:sp>
        <p:nvSpPr>
          <p:cNvPr id="338" name="Shape 14"/>
          <p:cNvSpPr/>
          <p:nvPr/>
        </p:nvSpPr>
        <p:spPr>
          <a:xfrm>
            <a:off x="4353480" y="1645920"/>
            <a:ext cx="3484440" cy="3840120"/>
          </a:xfrm>
          <a:prstGeom prst="roundRect">
            <a:avLst>
              <a:gd name="adj" fmla="val 209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9" name="Shape 15"/>
          <p:cNvSpPr/>
          <p:nvPr/>
        </p:nvSpPr>
        <p:spPr>
          <a:xfrm>
            <a:off x="4627800" y="1874520"/>
            <a:ext cx="685440" cy="6854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40" name="Image 1" descr="preencoded.png"/>
          <p:cNvPicPr/>
          <p:nvPr/>
        </p:nvPicPr>
        <p:blipFill>
          <a:blip r:embed="rId2"/>
          <a:stretch/>
        </p:blipFill>
        <p:spPr>
          <a:xfrm>
            <a:off x="4792320" y="2039040"/>
            <a:ext cx="356400" cy="356400"/>
          </a:xfrm>
          <a:prstGeom prst="rect">
            <a:avLst/>
          </a:prstGeom>
          <a:noFill/>
          <a:ln w="0">
            <a:noFill/>
          </a:ln>
        </p:spPr>
      </p:pic>
      <p:sp>
        <p:nvSpPr>
          <p:cNvPr id="341" name="Text 16"/>
          <p:cNvSpPr/>
          <p:nvPr/>
        </p:nvSpPr>
        <p:spPr>
          <a:xfrm>
            <a:off x="5496480" y="1874520"/>
            <a:ext cx="211284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900" b="1" u="none" strike="noStrike">
                <a:solidFill>
                  <a:srgbClr val="1E2328"/>
                </a:solidFill>
                <a:effectLst/>
                <a:uFillTx/>
                <a:latin typeface="Arial"/>
                <a:ea typeface="Arial"/>
              </a:rPr>
              <a:t>Item de garantia</a:t>
            </a:r>
            <a:endParaRPr lang="en-US" sz="1900" b="0" u="none" strike="noStrike">
              <a:solidFill>
                <a:srgbClr val="000000"/>
              </a:solidFill>
              <a:effectLst/>
              <a:uFillTx/>
              <a:latin typeface="Arial"/>
            </a:endParaRPr>
          </a:p>
        </p:txBody>
      </p:sp>
      <p:sp>
        <p:nvSpPr>
          <p:cNvPr id="342" name="Text 17"/>
          <p:cNvSpPr/>
          <p:nvPr/>
        </p:nvSpPr>
        <p:spPr>
          <a:xfrm>
            <a:off x="4627800" y="278892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ID DO TOKEN</a:t>
            </a:r>
            <a:endParaRPr lang="en-US" sz="950" b="0" u="none" strike="noStrike">
              <a:solidFill>
                <a:srgbClr val="000000"/>
              </a:solidFill>
              <a:effectLst/>
              <a:uFillTx/>
              <a:latin typeface="Arial"/>
            </a:endParaRPr>
          </a:p>
        </p:txBody>
      </p:sp>
      <p:sp>
        <p:nvSpPr>
          <p:cNvPr id="343" name="Text 18"/>
          <p:cNvSpPr/>
          <p:nvPr/>
        </p:nvSpPr>
        <p:spPr>
          <a:xfrm>
            <a:off x="4627800" y="299016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Mesmo contador dos carros</a:t>
            </a:r>
            <a:endParaRPr lang="en-US" sz="1350" b="0" u="none" strike="noStrike">
              <a:solidFill>
                <a:srgbClr val="000000"/>
              </a:solidFill>
              <a:effectLst/>
              <a:uFillTx/>
              <a:latin typeface="Arial"/>
            </a:endParaRPr>
          </a:p>
        </p:txBody>
      </p:sp>
      <p:sp>
        <p:nvSpPr>
          <p:cNvPr id="344" name="Text 19"/>
          <p:cNvSpPr/>
          <p:nvPr/>
        </p:nvSpPr>
        <p:spPr>
          <a:xfrm>
            <a:off x="4627800" y="339228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OFERTA</a:t>
            </a:r>
            <a:endParaRPr lang="en-US" sz="950" b="0" u="none" strike="noStrike">
              <a:solidFill>
                <a:srgbClr val="000000"/>
              </a:solidFill>
              <a:effectLst/>
              <a:uFillTx/>
              <a:latin typeface="Arial"/>
            </a:endParaRPr>
          </a:p>
        </p:txBody>
      </p:sp>
      <p:sp>
        <p:nvSpPr>
          <p:cNvPr id="345" name="Text 20"/>
          <p:cNvSpPr/>
          <p:nvPr/>
        </p:nvSpPr>
        <p:spPr>
          <a:xfrm>
            <a:off x="4627800" y="359352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1</a:t>
            </a:r>
            <a:endParaRPr lang="en-US" sz="1350" b="0" u="none" strike="noStrike">
              <a:solidFill>
                <a:srgbClr val="000000"/>
              </a:solidFill>
              <a:effectLst/>
              <a:uFillTx/>
              <a:latin typeface="Arial"/>
            </a:endParaRPr>
          </a:p>
        </p:txBody>
      </p:sp>
      <p:sp>
        <p:nvSpPr>
          <p:cNvPr id="346" name="Text 21"/>
          <p:cNvSpPr/>
          <p:nvPr/>
        </p:nvSpPr>
        <p:spPr>
          <a:xfrm>
            <a:off x="4627800" y="399600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REPRESENTA</a:t>
            </a:r>
            <a:endParaRPr lang="en-US" sz="950" b="0" u="none" strike="noStrike">
              <a:solidFill>
                <a:srgbClr val="000000"/>
              </a:solidFill>
              <a:effectLst/>
              <a:uFillTx/>
              <a:latin typeface="Arial"/>
            </a:endParaRPr>
          </a:p>
        </p:txBody>
      </p:sp>
      <p:sp>
        <p:nvSpPr>
          <p:cNvPr id="347" name="Text 22"/>
          <p:cNvSpPr/>
          <p:nvPr/>
        </p:nvSpPr>
        <p:spPr>
          <a:xfrm>
            <a:off x="4627800" y="419724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Um ativo avaliado: relógio, notebook, segundo veículo</a:t>
            </a:r>
            <a:endParaRPr lang="en-US" sz="1350" b="0" u="none" strike="noStrike">
              <a:solidFill>
                <a:srgbClr val="000000"/>
              </a:solidFill>
              <a:effectLst/>
              <a:uFillTx/>
              <a:latin typeface="Arial"/>
            </a:endParaRPr>
          </a:p>
        </p:txBody>
      </p:sp>
      <p:sp>
        <p:nvSpPr>
          <p:cNvPr id="348" name="Text 23"/>
          <p:cNvSpPr/>
          <p:nvPr/>
        </p:nvSpPr>
        <p:spPr>
          <a:xfrm>
            <a:off x="4627800" y="480060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EMITIDO POR</a:t>
            </a:r>
            <a:endParaRPr lang="en-US" sz="950" b="0" u="none" strike="noStrike">
              <a:solidFill>
                <a:srgbClr val="000000"/>
              </a:solidFill>
              <a:effectLst/>
              <a:uFillTx/>
              <a:latin typeface="Arial"/>
            </a:endParaRPr>
          </a:p>
        </p:txBody>
      </p:sp>
      <p:sp>
        <p:nvSpPr>
          <p:cNvPr id="349" name="Text 24"/>
          <p:cNvSpPr/>
          <p:nvPr/>
        </p:nvSpPr>
        <p:spPr>
          <a:xfrm>
            <a:off x="4627800" y="500184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Registrador, para o detentor</a:t>
            </a:r>
            <a:endParaRPr lang="en-US" sz="1350" b="0" u="none" strike="noStrike">
              <a:solidFill>
                <a:srgbClr val="000000"/>
              </a:solidFill>
              <a:effectLst/>
              <a:uFillTx/>
              <a:latin typeface="Arial"/>
            </a:endParaRPr>
          </a:p>
        </p:txBody>
      </p:sp>
      <p:sp>
        <p:nvSpPr>
          <p:cNvPr id="350" name="Shape 25"/>
          <p:cNvSpPr/>
          <p:nvPr/>
        </p:nvSpPr>
        <p:spPr>
          <a:xfrm>
            <a:off x="8158320" y="1645920"/>
            <a:ext cx="3484440" cy="3840120"/>
          </a:xfrm>
          <a:prstGeom prst="roundRect">
            <a:avLst>
              <a:gd name="adj" fmla="val 209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1" name="Shape 26"/>
          <p:cNvSpPr/>
          <p:nvPr/>
        </p:nvSpPr>
        <p:spPr>
          <a:xfrm>
            <a:off x="8432640" y="1874520"/>
            <a:ext cx="685440" cy="685440"/>
          </a:xfrm>
          <a:prstGeom prst="ellipse">
            <a:avLst/>
          </a:prstGeom>
          <a:solidFill>
            <a:srgbClr val="F2A900"/>
          </a:solidFill>
          <a:ln w="9525">
            <a:solidFill>
              <a:srgbClr val="F2A9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52" name="Image 2" descr="preencoded.png"/>
          <p:cNvPicPr/>
          <p:nvPr/>
        </p:nvPicPr>
        <p:blipFill>
          <a:blip r:embed="rId3"/>
          <a:stretch/>
        </p:blipFill>
        <p:spPr>
          <a:xfrm>
            <a:off x="8597160" y="2039040"/>
            <a:ext cx="356400" cy="356400"/>
          </a:xfrm>
          <a:prstGeom prst="rect">
            <a:avLst/>
          </a:prstGeom>
          <a:noFill/>
          <a:ln w="0">
            <a:noFill/>
          </a:ln>
        </p:spPr>
      </p:pic>
      <p:sp>
        <p:nvSpPr>
          <p:cNvPr id="353" name="Text 27"/>
          <p:cNvSpPr/>
          <p:nvPr/>
        </p:nvSpPr>
        <p:spPr>
          <a:xfrm>
            <a:off x="9301320" y="1874520"/>
            <a:ext cx="211284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900" b="1" u="none" strike="noStrike">
                <a:solidFill>
                  <a:srgbClr val="1E2328"/>
                </a:solidFill>
                <a:effectLst/>
                <a:uFillTx/>
                <a:latin typeface="Arial"/>
                <a:ea typeface="Arial"/>
              </a:rPr>
              <a:t>Depósito</a:t>
            </a:r>
            <a:endParaRPr lang="en-US" sz="1900" b="0" u="none" strike="noStrike">
              <a:solidFill>
                <a:srgbClr val="000000"/>
              </a:solidFill>
              <a:effectLst/>
              <a:uFillTx/>
              <a:latin typeface="Arial"/>
            </a:endParaRPr>
          </a:p>
        </p:txBody>
      </p:sp>
      <p:sp>
        <p:nvSpPr>
          <p:cNvPr id="354" name="Text 28"/>
          <p:cNvSpPr/>
          <p:nvPr/>
        </p:nvSpPr>
        <p:spPr>
          <a:xfrm>
            <a:off x="8432640" y="278892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ID DO TOKEN</a:t>
            </a:r>
            <a:endParaRPr lang="en-US" sz="950" b="0" u="none" strike="noStrike">
              <a:solidFill>
                <a:srgbClr val="000000"/>
              </a:solidFill>
              <a:effectLst/>
              <a:uFillTx/>
              <a:latin typeface="Arial"/>
            </a:endParaRPr>
          </a:p>
        </p:txBody>
      </p:sp>
      <p:sp>
        <p:nvSpPr>
          <p:cNvPr id="355" name="Text 29"/>
          <p:cNvSpPr/>
          <p:nvPr/>
        </p:nvSpPr>
        <p:spPr>
          <a:xfrm>
            <a:off x="8432640" y="299016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0 (fixo)</a:t>
            </a:r>
            <a:endParaRPr lang="en-US" sz="1350" b="0" u="none" strike="noStrike">
              <a:solidFill>
                <a:srgbClr val="000000"/>
              </a:solidFill>
              <a:effectLst/>
              <a:uFillTx/>
              <a:latin typeface="Arial"/>
            </a:endParaRPr>
          </a:p>
        </p:txBody>
      </p:sp>
      <p:sp>
        <p:nvSpPr>
          <p:cNvPr id="356" name="Text 30"/>
          <p:cNvSpPr/>
          <p:nvPr/>
        </p:nvSpPr>
        <p:spPr>
          <a:xfrm>
            <a:off x="8432640" y="339228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OFERTA</a:t>
            </a:r>
            <a:endParaRPr lang="en-US" sz="950" b="0" u="none" strike="noStrike">
              <a:solidFill>
                <a:srgbClr val="000000"/>
              </a:solidFill>
              <a:effectLst/>
              <a:uFillTx/>
              <a:latin typeface="Arial"/>
            </a:endParaRPr>
          </a:p>
        </p:txBody>
      </p:sp>
      <p:sp>
        <p:nvSpPr>
          <p:cNvPr id="357" name="Text 31"/>
          <p:cNvSpPr/>
          <p:nvPr/>
        </p:nvSpPr>
        <p:spPr>
          <a:xfrm>
            <a:off x="8432640" y="359352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Muitos</a:t>
            </a:r>
            <a:endParaRPr lang="en-US" sz="1350" b="0" u="none" strike="noStrike">
              <a:solidFill>
                <a:srgbClr val="000000"/>
              </a:solidFill>
              <a:effectLst/>
              <a:uFillTx/>
              <a:latin typeface="Arial"/>
            </a:endParaRPr>
          </a:p>
        </p:txBody>
      </p:sp>
      <p:sp>
        <p:nvSpPr>
          <p:cNvPr id="358" name="Text 32"/>
          <p:cNvSpPr/>
          <p:nvPr/>
        </p:nvSpPr>
        <p:spPr>
          <a:xfrm>
            <a:off x="8432640" y="399600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REPRESENTA</a:t>
            </a:r>
            <a:endParaRPr lang="en-US" sz="950" b="0" u="none" strike="noStrike">
              <a:solidFill>
                <a:srgbClr val="000000"/>
              </a:solidFill>
              <a:effectLst/>
              <a:uFillTx/>
              <a:latin typeface="Arial"/>
            </a:endParaRPr>
          </a:p>
        </p:txBody>
      </p:sp>
      <p:sp>
        <p:nvSpPr>
          <p:cNvPr id="359" name="Text 33"/>
          <p:cNvSpPr/>
          <p:nvPr/>
        </p:nvSpPr>
        <p:spPr>
          <a:xfrm>
            <a:off x="8432640" y="419724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Crédito pré-pago para aluguel, depósitos e multas</a:t>
            </a:r>
            <a:endParaRPr lang="en-US" sz="1350" b="0" u="none" strike="noStrike">
              <a:solidFill>
                <a:srgbClr val="000000"/>
              </a:solidFill>
              <a:effectLst/>
              <a:uFillTx/>
              <a:latin typeface="Arial"/>
            </a:endParaRPr>
          </a:p>
        </p:txBody>
      </p:sp>
      <p:sp>
        <p:nvSpPr>
          <p:cNvPr id="360" name="Text 34"/>
          <p:cNvSpPr/>
          <p:nvPr/>
        </p:nvSpPr>
        <p:spPr>
          <a:xfrm>
            <a:off x="8432640" y="4800600"/>
            <a:ext cx="2935800" cy="200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5F6B76"/>
                </a:solidFill>
                <a:effectLst/>
                <a:uFillTx/>
                <a:latin typeface="Arial"/>
                <a:ea typeface="Arial"/>
              </a:rPr>
              <a:t>EMITIDO POR</a:t>
            </a:r>
            <a:endParaRPr lang="en-US" sz="950" b="0" u="none" strike="noStrike">
              <a:solidFill>
                <a:srgbClr val="000000"/>
              </a:solidFill>
              <a:effectLst/>
              <a:uFillTx/>
              <a:latin typeface="Arial"/>
            </a:endParaRPr>
          </a:p>
        </p:txBody>
      </p:sp>
      <p:sp>
        <p:nvSpPr>
          <p:cNvPr id="361" name="Text 35"/>
          <p:cNvSpPr/>
          <p:nvPr/>
        </p:nvSpPr>
        <p:spPr>
          <a:xfrm>
            <a:off x="8432640" y="5001840"/>
            <a:ext cx="2935800" cy="38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1E2328"/>
                </a:solidFill>
                <a:effectLst/>
                <a:uFillTx/>
                <a:latin typeface="Calibri"/>
                <a:ea typeface="Calibri"/>
              </a:rPr>
              <a:t>Admin (faucet de teste)</a:t>
            </a:r>
            <a:endParaRPr lang="en-US" sz="1350" b="0" u="none" strike="noStrike">
              <a:solidFill>
                <a:srgbClr val="000000"/>
              </a:solidFill>
              <a:effectLst/>
              <a:uFillTx/>
              <a:latin typeface="Arial"/>
            </a:endParaRPr>
          </a:p>
        </p:txBody>
      </p:sp>
      <p:sp>
        <p:nvSpPr>
          <p:cNvPr id="362" name="Shape 36"/>
          <p:cNvSpPr/>
          <p:nvPr/>
        </p:nvSpPr>
        <p:spPr>
          <a:xfrm>
            <a:off x="548640" y="5650920"/>
            <a:ext cx="11094120" cy="548280"/>
          </a:xfrm>
          <a:prstGeom prst="roundRect">
            <a:avLst>
              <a:gd name="adj" fmla="val 13333"/>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3" name="Text 37"/>
          <p:cNvSpPr/>
          <p:nvPr/>
        </p:nvSpPr>
        <p:spPr>
          <a:xfrm>
            <a:off x="822960" y="5650920"/>
            <a:ext cx="105454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250" b="1" u="none" strike="noStrike">
                <a:solidFill>
                  <a:srgbClr val="00ADD8"/>
                </a:solidFill>
                <a:effectLst/>
                <a:uFillTx/>
                <a:latin typeface="Courier New"/>
                <a:ea typeface="Courier New"/>
              </a:rPr>
              <a:t>Ledger  </a:t>
            </a:r>
            <a:r>
              <a:rPr lang="pt-BR" sz="1250" b="0" u="none" strike="noStrike">
                <a:solidFill>
                  <a:srgbClr val="FFFFFF"/>
                </a:solidFill>
                <a:effectLst/>
                <a:uFillTx/>
                <a:latin typeface="Courier New"/>
                <a:ea typeface="Courier New"/>
              </a:rPr>
              <a:t>map[tokenID]map[address]balance</a:t>
            </a:r>
            <a:r>
              <a:rPr lang="pt-BR" sz="1250" b="0" u="none" strike="noStrike">
                <a:solidFill>
                  <a:srgbClr val="8B96A1"/>
                </a:solidFill>
                <a:effectLst/>
                <a:uFillTx/>
                <a:latin typeface="Courier New"/>
                <a:ea typeface="Courier New"/>
              </a:rPr>
              <a:t>   // tokenID → endereço → saldo: um espaço de IDs, como no ERC-1155</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4"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03 · TOKENIZAÇÃO</a:t>
            </a:r>
            <a:endParaRPr lang="en-US" sz="1100" b="0" u="none" strike="noStrike">
              <a:solidFill>
                <a:srgbClr val="000000"/>
              </a:solidFill>
              <a:effectLst/>
              <a:uFillTx/>
              <a:latin typeface="Arial"/>
            </a:endParaRPr>
          </a:p>
        </p:txBody>
      </p:sp>
      <p:sp>
        <p:nvSpPr>
          <p:cNvPr id="365"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Como os tokens se movem na locação</a:t>
            </a:r>
            <a:endParaRPr lang="en-US" sz="3200" b="0" u="none" strike="noStrike">
              <a:solidFill>
                <a:srgbClr val="000000"/>
              </a:solidFill>
              <a:effectLst/>
              <a:uFillTx/>
              <a:latin typeface="Arial"/>
            </a:endParaRPr>
          </a:p>
        </p:txBody>
      </p:sp>
      <p:sp>
        <p:nvSpPr>
          <p:cNvPr id="366"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13</a:t>
            </a:r>
            <a:endParaRPr lang="en-US" sz="1000" b="0" u="none" strike="noStrike">
              <a:solidFill>
                <a:srgbClr val="000000"/>
              </a:solidFill>
              <a:effectLst/>
              <a:uFillTx/>
              <a:latin typeface="Arial"/>
            </a:endParaRPr>
          </a:p>
        </p:txBody>
      </p:sp>
      <p:sp>
        <p:nvSpPr>
          <p:cNvPr id="367" name="Shape 3"/>
          <p:cNvSpPr/>
          <p:nvPr/>
        </p:nvSpPr>
        <p:spPr>
          <a:xfrm>
            <a:off x="960120" y="1783080"/>
            <a:ext cx="1325520" cy="13255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68" name="Image 0" descr="preencoded.png"/>
          <p:cNvPicPr/>
          <p:nvPr/>
        </p:nvPicPr>
        <p:blipFill>
          <a:blip r:embed="rId1"/>
          <a:stretch/>
        </p:blipFill>
        <p:spPr>
          <a:xfrm>
            <a:off x="1278360" y="2101320"/>
            <a:ext cx="689040" cy="689040"/>
          </a:xfrm>
          <a:prstGeom prst="rect">
            <a:avLst/>
          </a:prstGeom>
          <a:noFill/>
          <a:ln w="0">
            <a:noFill/>
          </a:ln>
        </p:spPr>
      </p:pic>
      <p:sp>
        <p:nvSpPr>
          <p:cNvPr id="369" name="Text 4"/>
          <p:cNvSpPr/>
          <p:nvPr/>
        </p:nvSpPr>
        <p:spPr>
          <a:xfrm>
            <a:off x="502920" y="3173040"/>
            <a:ext cx="2239920" cy="319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400" b="1" u="none" strike="noStrike">
                <a:solidFill>
                  <a:srgbClr val="1E2328"/>
                </a:solidFill>
                <a:effectLst/>
                <a:uFillTx/>
                <a:latin typeface="Arial"/>
                <a:ea typeface="Arial"/>
              </a:rPr>
              <a:t>Locatário (bob)</a:t>
            </a:r>
            <a:endParaRPr lang="en-US" sz="1400" b="0" u="none" strike="noStrike">
              <a:solidFill>
                <a:srgbClr val="000000"/>
              </a:solidFill>
              <a:effectLst/>
              <a:uFillTx/>
              <a:latin typeface="Arial"/>
            </a:endParaRPr>
          </a:p>
        </p:txBody>
      </p:sp>
      <p:sp>
        <p:nvSpPr>
          <p:cNvPr id="370" name="Shape 5"/>
          <p:cNvSpPr/>
          <p:nvPr/>
        </p:nvSpPr>
        <p:spPr>
          <a:xfrm>
            <a:off x="4892040" y="1691640"/>
            <a:ext cx="2422800" cy="1508400"/>
          </a:xfrm>
          <a:prstGeom prst="roundRect">
            <a:avLst>
              <a:gd name="adj" fmla="val 4848"/>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71" name="Image 1" descr="preencoded.png"/>
          <p:cNvPicPr/>
          <p:nvPr/>
        </p:nvPicPr>
        <p:blipFill>
          <a:blip r:embed="rId2"/>
          <a:stretch/>
        </p:blipFill>
        <p:spPr>
          <a:xfrm>
            <a:off x="5852160" y="1828800"/>
            <a:ext cx="502560" cy="502560"/>
          </a:xfrm>
          <a:prstGeom prst="rect">
            <a:avLst/>
          </a:prstGeom>
          <a:noFill/>
          <a:ln w="0">
            <a:noFill/>
          </a:ln>
        </p:spPr>
      </p:pic>
      <p:sp>
        <p:nvSpPr>
          <p:cNvPr id="372" name="Text 6"/>
          <p:cNvSpPr/>
          <p:nvPr/>
        </p:nvSpPr>
        <p:spPr>
          <a:xfrm>
            <a:off x="4892040" y="2377440"/>
            <a:ext cx="2422800" cy="3654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600" b="1" u="none" strike="noStrike">
                <a:solidFill>
                  <a:srgbClr val="FFFFFF"/>
                </a:solidFill>
                <a:effectLst/>
                <a:uFillTx/>
                <a:latin typeface="Arial"/>
                <a:ea typeface="Arial"/>
              </a:rPr>
              <a:t>ESCROW</a:t>
            </a:r>
            <a:endParaRPr lang="en-US" sz="1600" b="0" u="none" strike="noStrike">
              <a:solidFill>
                <a:srgbClr val="000000"/>
              </a:solidFill>
              <a:effectLst/>
              <a:uFillTx/>
              <a:latin typeface="Arial"/>
            </a:endParaRPr>
          </a:p>
        </p:txBody>
      </p:sp>
      <p:sp>
        <p:nvSpPr>
          <p:cNvPr id="373" name="Text 7"/>
          <p:cNvSpPr/>
          <p:nvPr/>
        </p:nvSpPr>
        <p:spPr>
          <a:xfrm>
            <a:off x="4892040" y="2724840"/>
            <a:ext cx="2422800" cy="319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250" b="0" u="none" strike="noStrike">
                <a:solidFill>
                  <a:srgbClr val="C9D1D9"/>
                </a:solidFill>
                <a:effectLst/>
                <a:uFillTx/>
                <a:latin typeface="Calibri"/>
                <a:ea typeface="Calibri"/>
              </a:rPr>
              <a:t>custódia do contrato</a:t>
            </a:r>
            <a:endParaRPr lang="en-US" sz="1250" b="0" u="none" strike="noStrike">
              <a:solidFill>
                <a:srgbClr val="000000"/>
              </a:solidFill>
              <a:effectLst/>
              <a:uFillTx/>
              <a:latin typeface="Arial"/>
            </a:endParaRPr>
          </a:p>
        </p:txBody>
      </p:sp>
      <p:sp>
        <p:nvSpPr>
          <p:cNvPr id="374" name="Shape 8"/>
          <p:cNvSpPr/>
          <p:nvPr/>
        </p:nvSpPr>
        <p:spPr>
          <a:xfrm>
            <a:off x="9921240" y="1783080"/>
            <a:ext cx="1325520" cy="13255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75" name="Image 2" descr="preencoded.png"/>
          <p:cNvPicPr/>
          <p:nvPr/>
        </p:nvPicPr>
        <p:blipFill>
          <a:blip r:embed="rId3"/>
          <a:stretch/>
        </p:blipFill>
        <p:spPr>
          <a:xfrm>
            <a:off x="10239480" y="2101320"/>
            <a:ext cx="689040" cy="689040"/>
          </a:xfrm>
          <a:prstGeom prst="rect">
            <a:avLst/>
          </a:prstGeom>
          <a:noFill/>
          <a:ln w="0">
            <a:noFill/>
          </a:ln>
        </p:spPr>
      </p:pic>
      <p:sp>
        <p:nvSpPr>
          <p:cNvPr id="376" name="Text 9"/>
          <p:cNvSpPr/>
          <p:nvPr/>
        </p:nvSpPr>
        <p:spPr>
          <a:xfrm>
            <a:off x="9372600" y="3173040"/>
            <a:ext cx="2422800" cy="319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400" b="1" u="none" strike="noStrike">
                <a:solidFill>
                  <a:srgbClr val="1E2328"/>
                </a:solidFill>
                <a:effectLst/>
                <a:uFillTx/>
                <a:latin typeface="Arial"/>
                <a:ea typeface="Arial"/>
              </a:rPr>
              <a:t>Proprietário (alice)</a:t>
            </a:r>
            <a:endParaRPr lang="en-US" sz="1400" b="0" u="none" strike="noStrike">
              <a:solidFill>
                <a:srgbClr val="000000"/>
              </a:solidFill>
              <a:effectLst/>
              <a:uFillTx/>
              <a:latin typeface="Arial"/>
            </a:endParaRPr>
          </a:p>
        </p:txBody>
      </p:sp>
      <p:sp>
        <p:nvSpPr>
          <p:cNvPr id="377" name="Shape 10"/>
          <p:cNvSpPr/>
          <p:nvPr/>
        </p:nvSpPr>
        <p:spPr>
          <a:xfrm>
            <a:off x="9464040" y="3566160"/>
            <a:ext cx="2239920" cy="383760"/>
          </a:xfrm>
          <a:prstGeom prst="roundRect">
            <a:avLst>
              <a:gd name="adj" fmla="val 19048"/>
            </a:avLst>
          </a:prstGeom>
          <a:solidFill>
            <a:srgbClr val="FFF4D6"/>
          </a:solidFill>
          <a:ln w="9525">
            <a:solidFill>
              <a:srgbClr val="FFF4D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8" name="Text 11"/>
          <p:cNvSpPr/>
          <p:nvPr/>
        </p:nvSpPr>
        <p:spPr>
          <a:xfrm>
            <a:off x="9464040" y="3566160"/>
            <a:ext cx="223992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200" b="1" u="none" strike="noStrike">
                <a:solidFill>
                  <a:srgbClr val="1E2328"/>
                </a:solidFill>
                <a:effectLst/>
                <a:uFillTx/>
                <a:latin typeface="Calibri"/>
                <a:ea typeface="Calibri"/>
              </a:rPr>
              <a:t>token do carro: bloqueado</a:t>
            </a:r>
            <a:endParaRPr lang="en-US" sz="1200" b="0" u="none" strike="noStrike">
              <a:solidFill>
                <a:srgbClr val="000000"/>
              </a:solidFill>
              <a:effectLst/>
              <a:uFillTx/>
              <a:latin typeface="Arial"/>
            </a:endParaRPr>
          </a:p>
        </p:txBody>
      </p:sp>
      <p:sp>
        <p:nvSpPr>
          <p:cNvPr id="379" name="Shape 12"/>
          <p:cNvSpPr/>
          <p:nvPr/>
        </p:nvSpPr>
        <p:spPr>
          <a:xfrm>
            <a:off x="2377440" y="2103120"/>
            <a:ext cx="2468880" cy="360"/>
          </a:xfrm>
          <a:prstGeom prst="line">
            <a:avLst/>
          </a:prstGeom>
          <a:ln w="28575">
            <a:solidFill>
              <a:srgbClr val="007D9C"/>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0" name="Text 13"/>
          <p:cNvSpPr/>
          <p:nvPr/>
        </p:nvSpPr>
        <p:spPr>
          <a:xfrm>
            <a:off x="2286000" y="1737360"/>
            <a:ext cx="2651400" cy="310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250" b="1" u="none" strike="noStrike">
                <a:solidFill>
                  <a:srgbClr val="1E2328"/>
                </a:solidFill>
                <a:effectLst/>
                <a:uFillTx/>
                <a:latin typeface="Calibri"/>
                <a:ea typeface="Calibri"/>
              </a:rPr>
              <a:t>① depósito 500 + relógio #2</a:t>
            </a:r>
            <a:endParaRPr lang="en-US" sz="1250" b="0" u="none" strike="noStrike">
              <a:solidFill>
                <a:srgbClr val="000000"/>
              </a:solidFill>
              <a:effectLst/>
              <a:uFillTx/>
              <a:latin typeface="Arial"/>
            </a:endParaRPr>
          </a:p>
        </p:txBody>
      </p:sp>
      <p:sp>
        <p:nvSpPr>
          <p:cNvPr id="381" name="Shape 14"/>
          <p:cNvSpPr/>
          <p:nvPr/>
        </p:nvSpPr>
        <p:spPr>
          <a:xfrm>
            <a:off x="2377440" y="2834640"/>
            <a:ext cx="2468880" cy="360"/>
          </a:xfrm>
          <a:prstGeom prst="line">
            <a:avLst/>
          </a:prstGeom>
          <a:ln w="28575">
            <a:solidFill>
              <a:srgbClr val="F2A900"/>
            </a:solidFill>
            <a:round/>
            <a:head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2" name="Text 15"/>
          <p:cNvSpPr/>
          <p:nvPr/>
        </p:nvSpPr>
        <p:spPr>
          <a:xfrm>
            <a:off x="2286000" y="2907720"/>
            <a:ext cx="2651400" cy="310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250" b="1" u="none" strike="noStrike">
                <a:solidFill>
                  <a:srgbClr val="1E2328"/>
                </a:solidFill>
                <a:effectLst/>
                <a:uFillTx/>
                <a:latin typeface="Calibri"/>
                <a:ea typeface="Calibri"/>
              </a:rPr>
              <a:t>② reembolso + itens de volta</a:t>
            </a:r>
            <a:endParaRPr lang="en-US" sz="1250" b="0" u="none" strike="noStrike">
              <a:solidFill>
                <a:srgbClr val="000000"/>
              </a:solidFill>
              <a:effectLst/>
              <a:uFillTx/>
              <a:latin typeface="Arial"/>
            </a:endParaRPr>
          </a:p>
        </p:txBody>
      </p:sp>
      <p:sp>
        <p:nvSpPr>
          <p:cNvPr id="383" name="Shape 16"/>
          <p:cNvSpPr/>
          <p:nvPr/>
        </p:nvSpPr>
        <p:spPr>
          <a:xfrm>
            <a:off x="7360920" y="2103120"/>
            <a:ext cx="2514600" cy="360"/>
          </a:xfrm>
          <a:prstGeom prst="line">
            <a:avLst/>
          </a:prstGeom>
          <a:ln w="28575">
            <a:solidFill>
              <a:srgbClr val="F2A900"/>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4" name="Text 17"/>
          <p:cNvSpPr/>
          <p:nvPr/>
        </p:nvSpPr>
        <p:spPr>
          <a:xfrm>
            <a:off x="7360920" y="1737360"/>
            <a:ext cx="2514240" cy="310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250" b="1" u="none" strike="noStrike">
                <a:solidFill>
                  <a:srgbClr val="1E2328"/>
                </a:solidFill>
                <a:effectLst/>
                <a:uFillTx/>
                <a:latin typeface="Calibri"/>
                <a:ea typeface="Calibri"/>
              </a:rPr>
              <a:t>② aluguel + cobranças</a:t>
            </a:r>
            <a:endParaRPr lang="en-US" sz="1250" b="0" u="none" strike="noStrike">
              <a:solidFill>
                <a:srgbClr val="000000"/>
              </a:solidFill>
              <a:effectLst/>
              <a:uFillTx/>
              <a:latin typeface="Arial"/>
            </a:endParaRPr>
          </a:p>
        </p:txBody>
      </p:sp>
      <p:sp>
        <p:nvSpPr>
          <p:cNvPr id="385" name="Shape 18"/>
          <p:cNvSpPr/>
          <p:nvPr/>
        </p:nvSpPr>
        <p:spPr>
          <a:xfrm>
            <a:off x="7360920" y="2834640"/>
            <a:ext cx="2514600" cy="360"/>
          </a:xfrm>
          <a:prstGeom prst="line">
            <a:avLst/>
          </a:prstGeom>
          <a:ln w="28575">
            <a:solidFill>
              <a:srgbClr val="C8412E"/>
            </a:solidFill>
            <a:prstDash val="dash"/>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86" name="Text 19"/>
          <p:cNvSpPr/>
          <p:nvPr/>
        </p:nvSpPr>
        <p:spPr>
          <a:xfrm>
            <a:off x="7360920" y="2907720"/>
            <a:ext cx="2514240" cy="3106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pt-BR" sz="1250" b="1" u="none" strike="noStrike">
                <a:solidFill>
                  <a:srgbClr val="1E2328"/>
                </a:solidFill>
                <a:effectLst/>
                <a:uFillTx/>
                <a:latin typeface="Calibri"/>
                <a:ea typeface="Calibri"/>
              </a:rPr>
              <a:t>③ itens confiscados</a:t>
            </a:r>
            <a:endParaRPr lang="en-US" sz="1250" b="0" u="none" strike="noStrike">
              <a:solidFill>
                <a:srgbClr val="000000"/>
              </a:solidFill>
              <a:effectLst/>
              <a:uFillTx/>
              <a:latin typeface="Arial"/>
            </a:endParaRPr>
          </a:p>
        </p:txBody>
      </p:sp>
      <p:sp>
        <p:nvSpPr>
          <p:cNvPr id="387" name="Shape 20"/>
          <p:cNvSpPr/>
          <p:nvPr/>
        </p:nvSpPr>
        <p:spPr>
          <a:xfrm>
            <a:off x="548640" y="4297680"/>
            <a:ext cx="3484440" cy="1828440"/>
          </a:xfrm>
          <a:prstGeom prst="roundRect">
            <a:avLst>
              <a:gd name="adj" fmla="val 4000"/>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8" name="Text 21"/>
          <p:cNvSpPr/>
          <p:nvPr/>
        </p:nvSpPr>
        <p:spPr>
          <a:xfrm>
            <a:off x="804600" y="4462200"/>
            <a:ext cx="297252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① Retirada</a:t>
            </a:r>
            <a:endParaRPr lang="en-US" sz="1600" b="0" u="none" strike="noStrike">
              <a:solidFill>
                <a:srgbClr val="000000"/>
              </a:solidFill>
              <a:effectLst/>
              <a:uFillTx/>
              <a:latin typeface="Arial"/>
            </a:endParaRPr>
          </a:p>
        </p:txBody>
      </p:sp>
      <p:sp>
        <p:nvSpPr>
          <p:cNvPr id="389" name="Text 22"/>
          <p:cNvSpPr/>
          <p:nvPr/>
        </p:nvSpPr>
        <p:spPr>
          <a:xfrm>
            <a:off x="804600" y="4846320"/>
            <a:ext cx="297252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Os tokens de depósito e os itens empenhados do locatário vão para o escrow. O token do carro fica com o proprietário, bloqueado com Rented = true.</a:t>
            </a:r>
            <a:endParaRPr lang="en-US" sz="1350" b="0" u="none" strike="noStrike">
              <a:solidFill>
                <a:srgbClr val="000000"/>
              </a:solidFill>
              <a:effectLst/>
              <a:uFillTx/>
              <a:latin typeface="Arial"/>
            </a:endParaRPr>
          </a:p>
        </p:txBody>
      </p:sp>
      <p:sp>
        <p:nvSpPr>
          <p:cNvPr id="390" name="Shape 23"/>
          <p:cNvSpPr/>
          <p:nvPr/>
        </p:nvSpPr>
        <p:spPr>
          <a:xfrm>
            <a:off x="4353480" y="4297680"/>
            <a:ext cx="3484440" cy="1828440"/>
          </a:xfrm>
          <a:prstGeom prst="roundRect">
            <a:avLst>
              <a:gd name="adj" fmla="val 4000"/>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1" name="Text 24"/>
          <p:cNvSpPr/>
          <p:nvPr/>
        </p:nvSpPr>
        <p:spPr>
          <a:xfrm>
            <a:off x="4609440" y="4462200"/>
            <a:ext cx="297252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② Devolução</a:t>
            </a:r>
            <a:endParaRPr lang="en-US" sz="1600" b="0" u="none" strike="noStrike">
              <a:solidFill>
                <a:srgbClr val="000000"/>
              </a:solidFill>
              <a:effectLst/>
              <a:uFillTx/>
              <a:latin typeface="Arial"/>
            </a:endParaRPr>
          </a:p>
        </p:txBody>
      </p:sp>
      <p:sp>
        <p:nvSpPr>
          <p:cNvPr id="392" name="Text 25"/>
          <p:cNvSpPr/>
          <p:nvPr/>
        </p:nvSpPr>
        <p:spPr>
          <a:xfrm>
            <a:off x="4609440" y="4846320"/>
            <a:ext cx="297252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O vistoriador liquida. Aluguel e cobranças vão para o proprietário; o depósito não usado e os itens não confiscados voltam ao locatário.</a:t>
            </a:r>
            <a:endParaRPr lang="en-US" sz="1350" b="0" u="none" strike="noStrike">
              <a:solidFill>
                <a:srgbClr val="000000"/>
              </a:solidFill>
              <a:effectLst/>
              <a:uFillTx/>
              <a:latin typeface="Arial"/>
            </a:endParaRPr>
          </a:p>
        </p:txBody>
      </p:sp>
      <p:sp>
        <p:nvSpPr>
          <p:cNvPr id="393" name="Shape 26"/>
          <p:cNvSpPr/>
          <p:nvPr/>
        </p:nvSpPr>
        <p:spPr>
          <a:xfrm>
            <a:off x="8158320" y="4297680"/>
            <a:ext cx="3484440" cy="1828440"/>
          </a:xfrm>
          <a:prstGeom prst="roundRect">
            <a:avLst>
              <a:gd name="adj" fmla="val 4000"/>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4" name="Text 27"/>
          <p:cNvSpPr/>
          <p:nvPr/>
        </p:nvSpPr>
        <p:spPr>
          <a:xfrm>
            <a:off x="8414280" y="4462200"/>
            <a:ext cx="2972520" cy="347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③ Déficit</a:t>
            </a:r>
            <a:endParaRPr lang="en-US" sz="1600" b="0" u="none" strike="noStrike">
              <a:solidFill>
                <a:srgbClr val="000000"/>
              </a:solidFill>
              <a:effectLst/>
              <a:uFillTx/>
              <a:latin typeface="Arial"/>
            </a:endParaRPr>
          </a:p>
        </p:txBody>
      </p:sp>
      <p:sp>
        <p:nvSpPr>
          <p:cNvPr id="395" name="Text 28"/>
          <p:cNvSpPr/>
          <p:nvPr/>
        </p:nvSpPr>
        <p:spPr>
          <a:xfrm>
            <a:off x="8414280" y="4846320"/>
            <a:ext cx="297252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Se as cobranças superam o depósito excedente, os itens empenhados vão para o proprietário, na ordem de penhor, até cobrir a dívida.</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6"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03 · TOKENIZAÇÃO</a:t>
            </a:r>
            <a:endParaRPr lang="en-US" sz="1100" b="0" u="none" strike="noStrike">
              <a:solidFill>
                <a:srgbClr val="000000"/>
              </a:solidFill>
              <a:effectLst/>
              <a:uFillTx/>
              <a:latin typeface="Arial"/>
            </a:endParaRPr>
          </a:p>
        </p:txBody>
      </p:sp>
      <p:sp>
        <p:nvSpPr>
          <p:cNvPr id="397"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Exemplo: liquidação por regras fixas</a:t>
            </a:r>
            <a:endParaRPr lang="en-US" sz="3200" b="0" u="none" strike="noStrike">
              <a:solidFill>
                <a:srgbClr val="000000"/>
              </a:solidFill>
              <a:effectLst/>
              <a:uFillTx/>
              <a:latin typeface="Arial"/>
            </a:endParaRPr>
          </a:p>
        </p:txBody>
      </p:sp>
      <p:sp>
        <p:nvSpPr>
          <p:cNvPr id="398"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14</a:t>
            </a:r>
            <a:endParaRPr lang="en-US" sz="1000" b="0" u="none" strike="noStrike">
              <a:solidFill>
                <a:srgbClr val="000000"/>
              </a:solidFill>
              <a:effectLst/>
              <a:uFillTx/>
              <a:latin typeface="Arial"/>
            </a:endParaRPr>
          </a:p>
        </p:txBody>
      </p:sp>
      <p:sp>
        <p:nvSpPr>
          <p:cNvPr id="399" name="Text 3"/>
          <p:cNvSpPr/>
          <p:nvPr/>
        </p:nvSpPr>
        <p:spPr>
          <a:xfrm>
            <a:off x="548640" y="1481400"/>
            <a:ext cx="11094120" cy="566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Carro #1: </a:t>
            </a:r>
            <a:r>
              <a:rPr lang="pt-BR" sz="1500" b="0" u="none" strike="noStrike">
                <a:solidFill>
                  <a:srgbClr val="1E2328"/>
                </a:solidFill>
                <a:effectLst/>
                <a:uFillTx/>
                <a:latin typeface="Calibri"/>
                <a:ea typeface="Calibri"/>
              </a:rPr>
              <a:t>100/dia, garantia mínima 1000. Uma locação de 3 dias paga 300 de aluguel adiantado. Bob bloqueia 500 tokens de depósito e um relógio avaliado em 800, então a cobertura é 200 + 800 = 1000.</a:t>
            </a:r>
            <a:endParaRPr lang="en-US" sz="1500" b="0" u="none" strike="noStrike">
              <a:solidFill>
                <a:srgbClr val="000000"/>
              </a:solidFill>
              <a:effectLst/>
              <a:uFillTx/>
              <a:latin typeface="Arial"/>
            </a:endParaRPr>
          </a:p>
        </p:txBody>
      </p:sp>
      <p:graphicFrame>
        <p:nvGraphicFramePr>
          <p:cNvPr id="400" name="Chart 0"/>
          <p:cNvGraphicFramePr/>
          <p:nvPr/>
        </p:nvGraphicFramePr>
        <p:xfrm>
          <a:off x="548640" y="2194560"/>
          <a:ext cx="6674760" cy="39772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01" name="Table 0"/>
          <p:cNvGraphicFramePr/>
          <p:nvPr/>
        </p:nvGraphicFramePr>
        <p:xfrm>
          <a:off x="7589520" y="2240280"/>
          <a:ext cx="4053240" cy="1914120"/>
        </p:xfrm>
        <a:graphic>
          <a:graphicData uri="http://schemas.openxmlformats.org/drawingml/2006/table">
            <a:tbl>
              <a:tblPr/>
              <a:tblGrid>
                <a:gridCol w="1783080"/>
                <a:gridCol w="2270160"/>
              </a:tblGrid>
              <a:tr h="475200">
                <a:tc>
                  <a:txBody>
                    <a:bodyPr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Caso de devolução</a:t>
                      </a:r>
                      <a:endParaRPr lang="en-US" sz="1300" b="0" u="none" strike="noStrike">
                        <a:solidFill>
                          <a:srgbClr val="FFFFFF"/>
                        </a:solidFill>
                        <a:effectLst/>
                        <a:uFillTx/>
                        <a:latin typeface="Arial"/>
                      </a:endParaRPr>
                    </a:p>
                  </a:txBody>
                  <a:tcPr anchor="ctr" marL="91440" marR="91440" marT="45720" marB="45720">
                    <a:lnL w="9360">
                      <a:solidFill>
                        <a:srgbClr val="D5DBE1"/>
                      </a:solidFill>
                      <a:prstDash val="solid"/>
                    </a:lnL>
                    <a:lnR w="9360">
                      <a:solidFill>
                        <a:srgbClr val="D5DBE1"/>
                      </a:solidFill>
                      <a:prstDash val="solid"/>
                    </a:lnR>
                    <a:lnT w="9360">
                      <a:solidFill>
                        <a:srgbClr val="D5DBE1"/>
                      </a:solidFill>
                      <a:prstDash val="solid"/>
                    </a:lnT>
                    <a:lnB w="9360">
                      <a:solidFill>
                        <a:srgbClr val="D5DBE1"/>
                      </a:solidFill>
                      <a:prstDash val="solid"/>
                    </a:lnB>
                    <a:solidFill>
                      <a:srgbClr val="1E2328"/>
                    </a:solidFill>
                  </a:tcPr>
                </a:tc>
                <a:tc>
                  <a:txBody>
                    <a:bodyPr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Relógio (item #2)</a:t>
                      </a:r>
                      <a:endParaRPr lang="en-US" sz="1300" b="0" u="none" strike="noStrike">
                        <a:solidFill>
                          <a:srgbClr val="FFFFFF"/>
                        </a:solidFill>
                        <a:effectLst/>
                        <a:uFillTx/>
                        <a:latin typeface="Arial"/>
                      </a:endParaRPr>
                    </a:p>
                  </a:txBody>
                  <a:tcPr anchor="ctr" marL="91440" marR="91440" marT="45720" marB="45720">
                    <a:lnL w="9360">
                      <a:solidFill>
                        <a:srgbClr val="D5DBE1"/>
                      </a:solidFill>
                      <a:prstDash val="solid"/>
                    </a:lnL>
                    <a:lnR w="9360">
                      <a:solidFill>
                        <a:srgbClr val="D5DBE1"/>
                      </a:solidFill>
                      <a:prstDash val="solid"/>
                    </a:lnR>
                    <a:lnT w="9360">
                      <a:solidFill>
                        <a:srgbClr val="D5DBE1"/>
                      </a:solidFill>
                      <a:prstDash val="solid"/>
                    </a:lnT>
                    <a:lnB w="9360">
                      <a:solidFill>
                        <a:srgbClr val="D5DBE1"/>
                      </a:solidFill>
                      <a:prstDash val="solid"/>
                    </a:lnB>
                    <a:solidFill>
                      <a:srgbClr val="1E2328"/>
                    </a:solidFill>
                  </a:tcPr>
                </a:tc>
              </a:tr>
              <a:tr h="475200">
                <a:tc>
                  <a:txBody>
                    <a:bodyPr anchor="ctr">
                      <a:noAutofit/>
                    </a:bodyPr>
                    <a:p>
                      <a:pPr defTabSz="914400">
                        <a:lnSpc>
                          <a:spcPct val="100000"/>
                        </a:lnSpc>
                        <a:tabLst>
                          <a:tab pos="0" algn="l"/>
                        </a:tabLst>
                      </a:pPr>
                      <a:r>
                        <a:rPr lang="en-US" sz="1300" b="0" u="none" strike="noStrike">
                          <a:solidFill>
                            <a:srgbClr val="1E2328"/>
                          </a:solidFill>
                          <a:effectLst/>
                          <a:uFillTx/>
                          <a:latin typeface="Calibri"/>
                          <a:ea typeface="Calibri"/>
                        </a:rPr>
                        <a:t>No prazo, sem danos</a:t>
                      </a:r>
                      <a:endParaRPr lang="en-US" sz="1300" b="0" u="none" strike="noStrike">
                        <a:solidFill>
                          <a:srgbClr val="000000"/>
                        </a:solidFill>
                        <a:effectLst/>
                        <a:uFillTx/>
                        <a:latin typeface="Arial"/>
                      </a:endParaRPr>
                    </a:p>
                  </a:txBody>
                  <a:tcPr anchor="ctr" marL="91440" marR="91440" marT="45720" marB="45720">
                    <a:lnL w="9360">
                      <a:solidFill>
                        <a:srgbClr val="D5DBE1"/>
                      </a:solidFill>
                      <a:prstDash val="solid"/>
                    </a:lnL>
                    <a:lnR w="9360">
                      <a:solidFill>
                        <a:srgbClr val="D5DBE1"/>
                      </a:solidFill>
                      <a:prstDash val="solid"/>
                    </a:lnR>
                    <a:lnT w="9360">
                      <a:solidFill>
                        <a:srgbClr val="D5DBE1"/>
                      </a:solidFill>
                      <a:prstDash val="solid"/>
                    </a:lnT>
                    <a:lnB w="936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00" b="0" u="none" strike="noStrike">
                          <a:solidFill>
                            <a:srgbClr val="1E2328"/>
                          </a:solidFill>
                          <a:effectLst/>
                          <a:uFillTx/>
                          <a:latin typeface="Calibri"/>
                          <a:ea typeface="Calibri"/>
                        </a:rPr>
                        <a:t>Devolvido ao bob</a:t>
                      </a:r>
                      <a:endParaRPr lang="en-US" sz="1300" b="0" u="none" strike="noStrike">
                        <a:solidFill>
                          <a:srgbClr val="000000"/>
                        </a:solidFill>
                        <a:effectLst/>
                        <a:uFillTx/>
                        <a:latin typeface="Arial"/>
                      </a:endParaRPr>
                    </a:p>
                  </a:txBody>
                  <a:tcPr anchor="ctr" marL="91440" marR="91440" marT="45720" marB="45720">
                    <a:lnL w="9360">
                      <a:solidFill>
                        <a:srgbClr val="D5DBE1"/>
                      </a:solidFill>
                      <a:prstDash val="solid"/>
                    </a:lnL>
                    <a:lnR w="9360">
                      <a:solidFill>
                        <a:srgbClr val="D5DBE1"/>
                      </a:solidFill>
                      <a:prstDash val="solid"/>
                    </a:lnR>
                    <a:lnT w="9360">
                      <a:solidFill>
                        <a:srgbClr val="D5DBE1"/>
                      </a:solidFill>
                      <a:prstDash val="solid"/>
                    </a:lnT>
                    <a:lnB w="9360">
                      <a:solidFill>
                        <a:srgbClr val="D5DBE1"/>
                      </a:solidFill>
                      <a:prstDash val="solid"/>
                    </a:lnB>
                    <a:solidFill>
                      <a:srgbClr val="FFFFFF"/>
                    </a:solidFill>
                  </a:tcPr>
                </a:tc>
              </a:tr>
              <a:tr h="475200">
                <a:tc>
                  <a:txBody>
                    <a:bodyPr anchor="ctr">
                      <a:noAutofit/>
                    </a:bodyPr>
                    <a:p>
                      <a:pPr defTabSz="914400">
                        <a:lnSpc>
                          <a:spcPct val="100000"/>
                        </a:lnSpc>
                        <a:tabLst>
                          <a:tab pos="0" algn="l"/>
                        </a:tabLst>
                      </a:pPr>
                      <a:r>
                        <a:rPr lang="en-US" sz="1300" b="0" u="none" strike="noStrike">
                          <a:solidFill>
                            <a:srgbClr val="1E2328"/>
                          </a:solidFill>
                          <a:effectLst/>
                          <a:uFillTx/>
                          <a:latin typeface="Calibri"/>
                          <a:ea typeface="Calibri"/>
                        </a:rPr>
                        <a:t>Dano de 150</a:t>
                      </a:r>
                      <a:endParaRPr lang="en-US" sz="1300" b="0" u="none" strike="noStrike">
                        <a:solidFill>
                          <a:srgbClr val="000000"/>
                        </a:solidFill>
                        <a:effectLst/>
                        <a:uFillTx/>
                        <a:latin typeface="Arial"/>
                      </a:endParaRPr>
                    </a:p>
                  </a:txBody>
                  <a:tcPr anchor="ctr" marL="91440" marR="91440" marT="45720" marB="45720">
                    <a:lnL w="9360">
                      <a:solidFill>
                        <a:srgbClr val="D5DBE1"/>
                      </a:solidFill>
                      <a:prstDash val="solid"/>
                    </a:lnL>
                    <a:lnR w="9360">
                      <a:solidFill>
                        <a:srgbClr val="D5DBE1"/>
                      </a:solidFill>
                      <a:prstDash val="solid"/>
                    </a:lnR>
                    <a:lnT w="9360">
                      <a:solidFill>
                        <a:srgbClr val="D5DBE1"/>
                      </a:solidFill>
                      <a:prstDash val="solid"/>
                    </a:lnT>
                    <a:lnB w="936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00" b="0" u="none" strike="noStrike">
                          <a:solidFill>
                            <a:srgbClr val="1E2328"/>
                          </a:solidFill>
                          <a:effectLst/>
                          <a:uFillTx/>
                          <a:latin typeface="Calibri"/>
                          <a:ea typeface="Calibri"/>
                        </a:rPr>
                        <a:t>Devolvido ao bob</a:t>
                      </a:r>
                      <a:endParaRPr lang="en-US" sz="1300" b="0" u="none" strike="noStrike">
                        <a:solidFill>
                          <a:srgbClr val="000000"/>
                        </a:solidFill>
                        <a:effectLst/>
                        <a:uFillTx/>
                        <a:latin typeface="Arial"/>
                      </a:endParaRPr>
                    </a:p>
                  </a:txBody>
                  <a:tcPr anchor="ctr" marL="91440" marR="91440" marT="45720" marB="45720">
                    <a:lnL w="9360">
                      <a:solidFill>
                        <a:srgbClr val="D5DBE1"/>
                      </a:solidFill>
                      <a:prstDash val="solid"/>
                    </a:lnL>
                    <a:lnR w="9360">
                      <a:solidFill>
                        <a:srgbClr val="D5DBE1"/>
                      </a:solidFill>
                      <a:prstDash val="solid"/>
                    </a:lnR>
                    <a:lnT w="9360">
                      <a:solidFill>
                        <a:srgbClr val="D5DBE1"/>
                      </a:solidFill>
                      <a:prstDash val="solid"/>
                    </a:lnT>
                    <a:lnB w="9360">
                      <a:solidFill>
                        <a:srgbClr val="D5DBE1"/>
                      </a:solidFill>
                      <a:prstDash val="solid"/>
                    </a:lnB>
                    <a:solidFill>
                      <a:srgbClr val="FFFFFF"/>
                    </a:solidFill>
                  </a:tcPr>
                </a:tc>
              </a:tr>
              <a:tr h="475200">
                <a:tc>
                  <a:txBody>
                    <a:bodyPr anchor="ctr">
                      <a:noAutofit/>
                    </a:bodyPr>
                    <a:p>
                      <a:pPr defTabSz="914400">
                        <a:lnSpc>
                          <a:spcPct val="100000"/>
                        </a:lnSpc>
                        <a:tabLst>
                          <a:tab pos="0" algn="l"/>
                        </a:tabLst>
                      </a:pPr>
                      <a:r>
                        <a:rPr lang="en-US" sz="1300" b="0" u="none" strike="noStrike">
                          <a:solidFill>
                            <a:srgbClr val="1E2328"/>
                          </a:solidFill>
                          <a:effectLst/>
                          <a:uFillTx/>
                          <a:latin typeface="Calibri"/>
                          <a:ea typeface="Calibri"/>
                        </a:rPr>
                        <a:t>Dano de 500</a:t>
                      </a:r>
                      <a:endParaRPr lang="en-US" sz="1300" b="0" u="none" strike="noStrike">
                        <a:solidFill>
                          <a:srgbClr val="000000"/>
                        </a:solidFill>
                        <a:effectLst/>
                        <a:uFillTx/>
                        <a:latin typeface="Arial"/>
                      </a:endParaRPr>
                    </a:p>
                  </a:txBody>
                  <a:tcPr anchor="ctr" marL="91440" marR="91440" marT="45720" marB="45720">
                    <a:lnL w="9360">
                      <a:solidFill>
                        <a:srgbClr val="D5DBE1"/>
                      </a:solidFill>
                      <a:prstDash val="solid"/>
                    </a:lnL>
                    <a:lnR w="9360">
                      <a:solidFill>
                        <a:srgbClr val="D5DBE1"/>
                      </a:solidFill>
                      <a:prstDash val="solid"/>
                    </a:lnR>
                    <a:lnT w="9360">
                      <a:solidFill>
                        <a:srgbClr val="D5DBE1"/>
                      </a:solidFill>
                      <a:prstDash val="solid"/>
                    </a:lnT>
                    <a:lnB w="936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00" b="1" u="none" strike="noStrike">
                          <a:solidFill>
                            <a:srgbClr val="C8412E"/>
                          </a:solidFill>
                          <a:effectLst/>
                          <a:uFillTx/>
                          <a:latin typeface="Calibri"/>
                          <a:ea typeface="Calibri"/>
                        </a:rPr>
                        <a:t>Confiscado: cobre o déficit de 300</a:t>
                      </a:r>
                      <a:endParaRPr lang="en-US" sz="1300" b="0" u="none" strike="noStrike">
                        <a:solidFill>
                          <a:srgbClr val="000000"/>
                        </a:solidFill>
                        <a:effectLst/>
                        <a:uFillTx/>
                        <a:latin typeface="Arial"/>
                      </a:endParaRPr>
                    </a:p>
                  </a:txBody>
                  <a:tcPr anchor="ctr" marL="91440" marR="91440" marT="45720" marB="45720">
                    <a:lnL w="9360">
                      <a:solidFill>
                        <a:srgbClr val="D5DBE1"/>
                      </a:solidFill>
                      <a:prstDash val="solid"/>
                    </a:lnL>
                    <a:lnR w="9360">
                      <a:solidFill>
                        <a:srgbClr val="D5DBE1"/>
                      </a:solidFill>
                      <a:prstDash val="solid"/>
                    </a:lnR>
                    <a:lnT w="9360">
                      <a:solidFill>
                        <a:srgbClr val="D5DBE1"/>
                      </a:solidFill>
                      <a:prstDash val="solid"/>
                    </a:lnT>
                    <a:lnB w="9360">
                      <a:solidFill>
                        <a:srgbClr val="D5DBE1"/>
                      </a:solidFill>
                      <a:prstDash val="solid"/>
                    </a:lnB>
                    <a:solidFill>
                      <a:srgbClr val="FFFFFF"/>
                    </a:solidFill>
                  </a:tcPr>
                </a:tc>
              </a:tr>
            </a:tbl>
          </a:graphicData>
        </a:graphic>
      </p:graphicFrame>
      <p:sp>
        <p:nvSpPr>
          <p:cNvPr id="402" name="Shape 4"/>
          <p:cNvSpPr/>
          <p:nvPr/>
        </p:nvSpPr>
        <p:spPr>
          <a:xfrm>
            <a:off x="7589520" y="4343400"/>
            <a:ext cx="4053240" cy="1188360"/>
          </a:xfrm>
          <a:prstGeom prst="roundRect">
            <a:avLst>
              <a:gd name="adj" fmla="val 6154"/>
            </a:avLst>
          </a:prstGeom>
          <a:solidFill>
            <a:srgbClr val="E3F6FB"/>
          </a:solidFill>
          <a:ln w="9525">
            <a:solidFill>
              <a:srgbClr val="E3F6F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3" name="Text 5"/>
          <p:cNvSpPr/>
          <p:nvPr/>
        </p:nvSpPr>
        <p:spPr>
          <a:xfrm>
            <a:off x="7818120" y="4480560"/>
            <a:ext cx="359604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1" u="none" strike="noStrike">
                <a:solidFill>
                  <a:srgbClr val="1E2328"/>
                </a:solidFill>
                <a:effectLst/>
                <a:uFillTx/>
                <a:latin typeface="Calibri"/>
                <a:ea typeface="Calibri"/>
              </a:rPr>
              <a:t>Atraso custa mais. </a:t>
            </a:r>
            <a:r>
              <a:rPr lang="pt-BR" sz="1400" b="0" u="none" strike="noStrike">
                <a:solidFill>
                  <a:srgbClr val="1E2328"/>
                </a:solidFill>
                <a:effectLst/>
                <a:uFillTx/>
                <a:latin typeface="Calibri"/>
                <a:ea typeface="Calibri"/>
              </a:rPr>
              <a:t>Cada dia de atraso iniciado custa 1,5 × a diária. Uma hora de atraso no carro #1 soma 150, pagos primeiro com o depósito excedente.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4"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04 · STACK TECNOLÓGICA</a:t>
            </a:r>
            <a:endParaRPr lang="en-US" sz="1100" b="0" u="none" strike="noStrike">
              <a:solidFill>
                <a:srgbClr val="000000"/>
              </a:solidFill>
              <a:effectLst/>
              <a:uFillTx/>
              <a:latin typeface="Arial"/>
            </a:endParaRPr>
          </a:p>
        </p:txBody>
      </p:sp>
      <p:sp>
        <p:nvSpPr>
          <p:cNvPr id="405"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Stack tecnológica por camada</a:t>
            </a:r>
            <a:endParaRPr lang="en-US" sz="3200" b="0" u="none" strike="noStrike">
              <a:solidFill>
                <a:srgbClr val="000000"/>
              </a:solidFill>
              <a:effectLst/>
              <a:uFillTx/>
              <a:latin typeface="Arial"/>
            </a:endParaRPr>
          </a:p>
        </p:txBody>
      </p:sp>
      <p:sp>
        <p:nvSpPr>
          <p:cNvPr id="406"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15</a:t>
            </a:r>
            <a:endParaRPr lang="en-US" sz="1000" b="0" u="none" strike="noStrike">
              <a:solidFill>
                <a:srgbClr val="000000"/>
              </a:solidFill>
              <a:effectLst/>
              <a:uFillTx/>
              <a:latin typeface="Arial"/>
            </a:endParaRPr>
          </a:p>
        </p:txBody>
      </p:sp>
      <p:sp>
        <p:nvSpPr>
          <p:cNvPr id="407" name="Shape 3"/>
          <p:cNvSpPr/>
          <p:nvPr/>
        </p:nvSpPr>
        <p:spPr>
          <a:xfrm>
            <a:off x="548640" y="164592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8" name="Shape 4"/>
          <p:cNvSpPr/>
          <p:nvPr/>
        </p:nvSpPr>
        <p:spPr>
          <a:xfrm>
            <a:off x="749880" y="184716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09" name="Image 0" descr="preencoded.png"/>
          <p:cNvPicPr/>
          <p:nvPr/>
        </p:nvPicPr>
        <p:blipFill>
          <a:blip r:embed="rId1"/>
          <a:stretch/>
        </p:blipFill>
        <p:spPr>
          <a:xfrm>
            <a:off x="869040" y="1966320"/>
            <a:ext cx="291240" cy="291240"/>
          </a:xfrm>
          <a:prstGeom prst="rect">
            <a:avLst/>
          </a:prstGeom>
          <a:noFill/>
          <a:ln w="0">
            <a:noFill/>
          </a:ln>
        </p:spPr>
      </p:pic>
      <p:sp>
        <p:nvSpPr>
          <p:cNvPr id="410" name="Text 5"/>
          <p:cNvSpPr/>
          <p:nvPr/>
        </p:nvSpPr>
        <p:spPr>
          <a:xfrm>
            <a:off x="749880" y="248724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BLOCKCHAIN</a:t>
            </a:r>
            <a:endParaRPr lang="en-US" sz="950" b="0" u="none" strike="noStrike">
              <a:solidFill>
                <a:srgbClr val="000000"/>
              </a:solidFill>
              <a:effectLst/>
              <a:uFillTx/>
              <a:latin typeface="Arial"/>
            </a:endParaRPr>
          </a:p>
        </p:txBody>
      </p:sp>
      <p:sp>
        <p:nvSpPr>
          <p:cNvPr id="411" name="Text 6"/>
          <p:cNvSpPr/>
          <p:nvPr/>
        </p:nvSpPr>
        <p:spPr>
          <a:xfrm>
            <a:off x="749880" y="270648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Nó Go</a:t>
            </a:r>
            <a:endParaRPr lang="en-US" sz="1500" b="0" u="none" strike="noStrike">
              <a:solidFill>
                <a:srgbClr val="000000"/>
              </a:solidFill>
              <a:effectLst/>
              <a:uFillTx/>
              <a:latin typeface="Arial"/>
            </a:endParaRPr>
          </a:p>
        </p:txBody>
      </p:sp>
      <p:sp>
        <p:nvSpPr>
          <p:cNvPr id="412" name="Text 7"/>
          <p:cNvSpPr/>
          <p:nvPr/>
        </p:nvSpPr>
        <p:spPr>
          <a:xfrm>
            <a:off x="749880" y="316368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Blocos encadeados por hash, um por transação</a:t>
            </a:r>
            <a:endParaRPr lang="en-US" sz="1200" b="0" u="none" strike="noStrike">
              <a:solidFill>
                <a:srgbClr val="000000"/>
              </a:solidFill>
              <a:effectLst/>
              <a:uFillTx/>
              <a:latin typeface="Arial"/>
            </a:endParaRPr>
          </a:p>
        </p:txBody>
      </p:sp>
      <p:sp>
        <p:nvSpPr>
          <p:cNvPr id="413" name="Shape 8"/>
          <p:cNvSpPr/>
          <p:nvPr/>
        </p:nvSpPr>
        <p:spPr>
          <a:xfrm>
            <a:off x="2813400" y="164592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4" name="Shape 9"/>
          <p:cNvSpPr/>
          <p:nvPr/>
        </p:nvSpPr>
        <p:spPr>
          <a:xfrm>
            <a:off x="3014280" y="184716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15" name="Image 1" descr="preencoded.png"/>
          <p:cNvPicPr/>
          <p:nvPr/>
        </p:nvPicPr>
        <p:blipFill>
          <a:blip r:embed="rId2"/>
          <a:stretch/>
        </p:blipFill>
        <p:spPr>
          <a:xfrm>
            <a:off x="3133800" y="1966320"/>
            <a:ext cx="291240" cy="291240"/>
          </a:xfrm>
          <a:prstGeom prst="rect">
            <a:avLst/>
          </a:prstGeom>
          <a:noFill/>
          <a:ln w="0">
            <a:noFill/>
          </a:ln>
        </p:spPr>
      </p:pic>
      <p:sp>
        <p:nvSpPr>
          <p:cNvPr id="416" name="Text 10"/>
          <p:cNvSpPr/>
          <p:nvPr/>
        </p:nvSpPr>
        <p:spPr>
          <a:xfrm>
            <a:off x="3014280" y="248724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CONTRATO</a:t>
            </a:r>
            <a:endParaRPr lang="en-US" sz="950" b="0" u="none" strike="noStrike">
              <a:solidFill>
                <a:srgbClr val="000000"/>
              </a:solidFill>
              <a:effectLst/>
              <a:uFillTx/>
              <a:latin typeface="Arial"/>
            </a:endParaRPr>
          </a:p>
        </p:txBody>
      </p:sp>
      <p:sp>
        <p:nvSpPr>
          <p:cNvPr id="417" name="Text 11"/>
          <p:cNvSpPr/>
          <p:nvPr/>
        </p:nvSpPr>
        <p:spPr>
          <a:xfrm>
            <a:off x="3014280" y="270648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Go</a:t>
            </a:r>
            <a:endParaRPr lang="en-US" sz="1500" b="0" u="none" strike="noStrike">
              <a:solidFill>
                <a:srgbClr val="000000"/>
              </a:solidFill>
              <a:effectLst/>
              <a:uFillTx/>
              <a:latin typeface="Arial"/>
            </a:endParaRPr>
          </a:p>
        </p:txBody>
      </p:sp>
      <p:sp>
        <p:nvSpPr>
          <p:cNvPr id="418" name="Text 12"/>
          <p:cNvSpPr/>
          <p:nvPr/>
        </p:nvSpPr>
        <p:spPr>
          <a:xfrm>
            <a:off x="3014280" y="316368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Uma função Dispatch decide cada tx</a:t>
            </a:r>
            <a:endParaRPr lang="en-US" sz="1200" b="0" u="none" strike="noStrike">
              <a:solidFill>
                <a:srgbClr val="000000"/>
              </a:solidFill>
              <a:effectLst/>
              <a:uFillTx/>
              <a:latin typeface="Arial"/>
            </a:endParaRPr>
          </a:p>
        </p:txBody>
      </p:sp>
      <p:sp>
        <p:nvSpPr>
          <p:cNvPr id="419" name="Shape 13"/>
          <p:cNvSpPr/>
          <p:nvPr/>
        </p:nvSpPr>
        <p:spPr>
          <a:xfrm>
            <a:off x="5077800" y="164592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0" name="Shape 14"/>
          <p:cNvSpPr/>
          <p:nvPr/>
        </p:nvSpPr>
        <p:spPr>
          <a:xfrm>
            <a:off x="5279040" y="184716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21" name="Image 2" descr="preencoded.png"/>
          <p:cNvPicPr/>
          <p:nvPr/>
        </p:nvPicPr>
        <p:blipFill>
          <a:blip r:embed="rId3"/>
          <a:stretch/>
        </p:blipFill>
        <p:spPr>
          <a:xfrm>
            <a:off x="5398200" y="1966320"/>
            <a:ext cx="291240" cy="291240"/>
          </a:xfrm>
          <a:prstGeom prst="rect">
            <a:avLst/>
          </a:prstGeom>
          <a:noFill/>
          <a:ln w="0">
            <a:noFill/>
          </a:ln>
        </p:spPr>
      </p:pic>
      <p:sp>
        <p:nvSpPr>
          <p:cNvPr id="422" name="Text 15"/>
          <p:cNvSpPr/>
          <p:nvPr/>
        </p:nvSpPr>
        <p:spPr>
          <a:xfrm>
            <a:off x="5279040" y="248724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CONSENSO</a:t>
            </a:r>
            <a:endParaRPr lang="en-US" sz="950" b="0" u="none" strike="noStrike">
              <a:solidFill>
                <a:srgbClr val="000000"/>
              </a:solidFill>
              <a:effectLst/>
              <a:uFillTx/>
              <a:latin typeface="Arial"/>
            </a:endParaRPr>
          </a:p>
        </p:txBody>
      </p:sp>
      <p:sp>
        <p:nvSpPr>
          <p:cNvPr id="423" name="Text 16"/>
          <p:cNvSpPr/>
          <p:nvPr/>
        </p:nvSpPr>
        <p:spPr>
          <a:xfrm>
            <a:off x="5279040" y="270648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Prova de autoridade</a:t>
            </a:r>
            <a:endParaRPr lang="en-US" sz="1500" b="0" u="none" strike="noStrike">
              <a:solidFill>
                <a:srgbClr val="000000"/>
              </a:solidFill>
              <a:effectLst/>
              <a:uFillTx/>
              <a:latin typeface="Arial"/>
            </a:endParaRPr>
          </a:p>
        </p:txBody>
      </p:sp>
      <p:sp>
        <p:nvSpPr>
          <p:cNvPr id="424" name="Text 17"/>
          <p:cNvSpPr/>
          <p:nvPr/>
        </p:nvSpPr>
        <p:spPr>
          <a:xfrm>
            <a:off x="5279040" y="316368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Um validador assina cada bloco</a:t>
            </a:r>
            <a:endParaRPr lang="en-US" sz="1200" b="0" u="none" strike="noStrike">
              <a:solidFill>
                <a:srgbClr val="000000"/>
              </a:solidFill>
              <a:effectLst/>
              <a:uFillTx/>
              <a:latin typeface="Arial"/>
            </a:endParaRPr>
          </a:p>
        </p:txBody>
      </p:sp>
      <p:sp>
        <p:nvSpPr>
          <p:cNvPr id="425" name="Shape 18"/>
          <p:cNvSpPr/>
          <p:nvPr/>
        </p:nvSpPr>
        <p:spPr>
          <a:xfrm>
            <a:off x="7342560" y="164592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6" name="Shape 19"/>
          <p:cNvSpPr/>
          <p:nvPr/>
        </p:nvSpPr>
        <p:spPr>
          <a:xfrm>
            <a:off x="7543440" y="184716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27" name="Image 3" descr="preencoded.png"/>
          <p:cNvPicPr/>
          <p:nvPr/>
        </p:nvPicPr>
        <p:blipFill>
          <a:blip r:embed="rId4"/>
          <a:stretch/>
        </p:blipFill>
        <p:spPr>
          <a:xfrm>
            <a:off x="7662960" y="1966320"/>
            <a:ext cx="291240" cy="291240"/>
          </a:xfrm>
          <a:prstGeom prst="rect">
            <a:avLst/>
          </a:prstGeom>
          <a:noFill/>
          <a:ln w="0">
            <a:noFill/>
          </a:ln>
        </p:spPr>
      </p:pic>
      <p:sp>
        <p:nvSpPr>
          <p:cNvPr id="428" name="Text 20"/>
          <p:cNvSpPr/>
          <p:nvPr/>
        </p:nvSpPr>
        <p:spPr>
          <a:xfrm>
            <a:off x="7543440" y="248724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API</a:t>
            </a:r>
            <a:endParaRPr lang="en-US" sz="950" b="0" u="none" strike="noStrike">
              <a:solidFill>
                <a:srgbClr val="000000"/>
              </a:solidFill>
              <a:effectLst/>
              <a:uFillTx/>
              <a:latin typeface="Arial"/>
            </a:endParaRPr>
          </a:p>
        </p:txBody>
      </p:sp>
      <p:sp>
        <p:nvSpPr>
          <p:cNvPr id="429" name="Text 21"/>
          <p:cNvSpPr/>
          <p:nvPr/>
        </p:nvSpPr>
        <p:spPr>
          <a:xfrm>
            <a:off x="7543440" y="270648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net/http + JSON</a:t>
            </a:r>
            <a:endParaRPr lang="en-US" sz="1500" b="0" u="none" strike="noStrike">
              <a:solidFill>
                <a:srgbClr val="000000"/>
              </a:solidFill>
              <a:effectLst/>
              <a:uFillTx/>
              <a:latin typeface="Arial"/>
            </a:endParaRPr>
          </a:p>
        </p:txBody>
      </p:sp>
      <p:sp>
        <p:nvSpPr>
          <p:cNvPr id="430" name="Text 22"/>
          <p:cNvSpPr/>
          <p:nvPr/>
        </p:nvSpPr>
        <p:spPr>
          <a:xfrm>
            <a:off x="7543440" y="316368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/tx, /assets, /rentals, /blocks, /roles</a:t>
            </a:r>
            <a:endParaRPr lang="en-US" sz="1200" b="0" u="none" strike="noStrike">
              <a:solidFill>
                <a:srgbClr val="000000"/>
              </a:solidFill>
              <a:effectLst/>
              <a:uFillTx/>
              <a:latin typeface="Arial"/>
            </a:endParaRPr>
          </a:p>
        </p:txBody>
      </p:sp>
      <p:sp>
        <p:nvSpPr>
          <p:cNvPr id="431" name="Shape 23"/>
          <p:cNvSpPr/>
          <p:nvPr/>
        </p:nvSpPr>
        <p:spPr>
          <a:xfrm>
            <a:off x="9606960" y="164592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2" name="Shape 24"/>
          <p:cNvSpPr/>
          <p:nvPr/>
        </p:nvSpPr>
        <p:spPr>
          <a:xfrm>
            <a:off x="9808200" y="184716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33" name="Image 4" descr="preencoded.png"/>
          <p:cNvPicPr/>
          <p:nvPr/>
        </p:nvPicPr>
        <p:blipFill>
          <a:blip r:embed="rId5"/>
          <a:stretch/>
        </p:blipFill>
        <p:spPr>
          <a:xfrm>
            <a:off x="9927720" y="1966320"/>
            <a:ext cx="291240" cy="291240"/>
          </a:xfrm>
          <a:prstGeom prst="rect">
            <a:avLst/>
          </a:prstGeom>
          <a:noFill/>
          <a:ln w="0">
            <a:noFill/>
          </a:ln>
        </p:spPr>
      </p:pic>
      <p:sp>
        <p:nvSpPr>
          <p:cNvPr id="434" name="Text 25"/>
          <p:cNvSpPr/>
          <p:nvPr/>
        </p:nvSpPr>
        <p:spPr>
          <a:xfrm>
            <a:off x="9808200" y="248724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ASSINATURA</a:t>
            </a:r>
            <a:endParaRPr lang="en-US" sz="950" b="0" u="none" strike="noStrike">
              <a:solidFill>
                <a:srgbClr val="000000"/>
              </a:solidFill>
              <a:effectLst/>
              <a:uFillTx/>
              <a:latin typeface="Arial"/>
            </a:endParaRPr>
          </a:p>
        </p:txBody>
      </p:sp>
      <p:sp>
        <p:nvSpPr>
          <p:cNvPr id="435" name="Text 26"/>
          <p:cNvSpPr/>
          <p:nvPr/>
        </p:nvSpPr>
        <p:spPr>
          <a:xfrm>
            <a:off x="9808200" y="270648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Ed25519</a:t>
            </a:r>
            <a:endParaRPr lang="en-US" sz="1500" b="0" u="none" strike="noStrike">
              <a:solidFill>
                <a:srgbClr val="000000"/>
              </a:solidFill>
              <a:effectLst/>
              <a:uFillTx/>
              <a:latin typeface="Arial"/>
            </a:endParaRPr>
          </a:p>
        </p:txBody>
      </p:sp>
      <p:sp>
        <p:nvSpPr>
          <p:cNvPr id="436" name="Text 27"/>
          <p:cNvSpPr/>
          <p:nvPr/>
        </p:nvSpPr>
        <p:spPr>
          <a:xfrm>
            <a:off x="9808200" y="316368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crypto/ed25519 no Go, tweetnacl no navegador</a:t>
            </a:r>
            <a:endParaRPr lang="en-US" sz="1200" b="0" u="none" strike="noStrike">
              <a:solidFill>
                <a:srgbClr val="000000"/>
              </a:solidFill>
              <a:effectLst/>
              <a:uFillTx/>
              <a:latin typeface="Arial"/>
            </a:endParaRPr>
          </a:p>
        </p:txBody>
      </p:sp>
      <p:sp>
        <p:nvSpPr>
          <p:cNvPr id="437" name="Shape 28"/>
          <p:cNvSpPr/>
          <p:nvPr/>
        </p:nvSpPr>
        <p:spPr>
          <a:xfrm>
            <a:off x="548640" y="402336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8" name="Shape 29"/>
          <p:cNvSpPr/>
          <p:nvPr/>
        </p:nvSpPr>
        <p:spPr>
          <a:xfrm>
            <a:off x="749880" y="422460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39" name="Image 5" descr="preencoded.png"/>
          <p:cNvPicPr/>
          <p:nvPr/>
        </p:nvPicPr>
        <p:blipFill>
          <a:blip r:embed="rId6"/>
          <a:stretch/>
        </p:blipFill>
        <p:spPr>
          <a:xfrm>
            <a:off x="869040" y="4343760"/>
            <a:ext cx="291240" cy="291240"/>
          </a:xfrm>
          <a:prstGeom prst="rect">
            <a:avLst/>
          </a:prstGeom>
          <a:noFill/>
          <a:ln w="0">
            <a:noFill/>
          </a:ln>
        </p:spPr>
      </p:pic>
      <p:sp>
        <p:nvSpPr>
          <p:cNvPr id="440" name="Text 30"/>
          <p:cNvSpPr/>
          <p:nvPr/>
        </p:nvSpPr>
        <p:spPr>
          <a:xfrm>
            <a:off x="749880" y="486468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HASH</a:t>
            </a:r>
            <a:endParaRPr lang="en-US" sz="950" b="0" u="none" strike="noStrike">
              <a:solidFill>
                <a:srgbClr val="000000"/>
              </a:solidFill>
              <a:effectLst/>
              <a:uFillTx/>
              <a:latin typeface="Arial"/>
            </a:endParaRPr>
          </a:p>
        </p:txBody>
      </p:sp>
      <p:sp>
        <p:nvSpPr>
          <p:cNvPr id="441" name="Text 31"/>
          <p:cNvSpPr/>
          <p:nvPr/>
        </p:nvSpPr>
        <p:spPr>
          <a:xfrm>
            <a:off x="749880" y="508392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SHA-256</a:t>
            </a:r>
            <a:endParaRPr lang="en-US" sz="1500" b="0" u="none" strike="noStrike">
              <a:solidFill>
                <a:srgbClr val="000000"/>
              </a:solidFill>
              <a:effectLst/>
              <a:uFillTx/>
              <a:latin typeface="Arial"/>
            </a:endParaRPr>
          </a:p>
        </p:txBody>
      </p:sp>
      <p:sp>
        <p:nvSpPr>
          <p:cNvPr id="442" name="Text 32"/>
          <p:cNvSpPr/>
          <p:nvPr/>
        </p:nvSpPr>
        <p:spPr>
          <a:xfrm>
            <a:off x="749880" y="554112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Liga documentos e estado aos blocos</a:t>
            </a:r>
            <a:endParaRPr lang="en-US" sz="1200" b="0" u="none" strike="noStrike">
              <a:solidFill>
                <a:srgbClr val="000000"/>
              </a:solidFill>
              <a:effectLst/>
              <a:uFillTx/>
              <a:latin typeface="Arial"/>
            </a:endParaRPr>
          </a:p>
        </p:txBody>
      </p:sp>
      <p:sp>
        <p:nvSpPr>
          <p:cNvPr id="443" name="Shape 33"/>
          <p:cNvSpPr/>
          <p:nvPr/>
        </p:nvSpPr>
        <p:spPr>
          <a:xfrm>
            <a:off x="2813400" y="402336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4" name="Shape 34"/>
          <p:cNvSpPr/>
          <p:nvPr/>
        </p:nvSpPr>
        <p:spPr>
          <a:xfrm>
            <a:off x="3014280" y="422460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45" name="Image 6" descr="preencoded.png"/>
          <p:cNvPicPr/>
          <p:nvPr/>
        </p:nvPicPr>
        <p:blipFill>
          <a:blip r:embed="rId7"/>
          <a:stretch/>
        </p:blipFill>
        <p:spPr>
          <a:xfrm>
            <a:off x="3133800" y="4343760"/>
            <a:ext cx="291240" cy="291240"/>
          </a:xfrm>
          <a:prstGeom prst="rect">
            <a:avLst/>
          </a:prstGeom>
          <a:noFill/>
          <a:ln w="0">
            <a:noFill/>
          </a:ln>
        </p:spPr>
      </p:pic>
      <p:sp>
        <p:nvSpPr>
          <p:cNvPr id="446" name="Text 35"/>
          <p:cNvSpPr/>
          <p:nvPr/>
        </p:nvSpPr>
        <p:spPr>
          <a:xfrm>
            <a:off x="3014280" y="486468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PERSISTÊNCIA</a:t>
            </a:r>
            <a:endParaRPr lang="en-US" sz="950" b="0" u="none" strike="noStrike">
              <a:solidFill>
                <a:srgbClr val="000000"/>
              </a:solidFill>
              <a:effectLst/>
              <a:uFillTx/>
              <a:latin typeface="Arial"/>
            </a:endParaRPr>
          </a:p>
        </p:txBody>
      </p:sp>
      <p:sp>
        <p:nvSpPr>
          <p:cNvPr id="447" name="Text 36"/>
          <p:cNvSpPr/>
          <p:nvPr/>
        </p:nvSpPr>
        <p:spPr>
          <a:xfrm>
            <a:off x="3014280" y="508392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Memória + log JSON</a:t>
            </a:r>
            <a:endParaRPr lang="en-US" sz="1500" b="0" u="none" strike="noStrike">
              <a:solidFill>
                <a:srgbClr val="000000"/>
              </a:solidFill>
              <a:effectLst/>
              <a:uFillTx/>
              <a:latin typeface="Arial"/>
            </a:endParaRPr>
          </a:p>
        </p:txBody>
      </p:sp>
      <p:sp>
        <p:nvSpPr>
          <p:cNvPr id="448" name="Text 37"/>
          <p:cNvSpPr/>
          <p:nvPr/>
        </p:nvSpPr>
        <p:spPr>
          <a:xfrm>
            <a:off x="3014280" y="554112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Log reexecutado e verificado ao reiniciar</a:t>
            </a:r>
            <a:endParaRPr lang="en-US" sz="1200" b="0" u="none" strike="noStrike">
              <a:solidFill>
                <a:srgbClr val="000000"/>
              </a:solidFill>
              <a:effectLst/>
              <a:uFillTx/>
              <a:latin typeface="Arial"/>
            </a:endParaRPr>
          </a:p>
        </p:txBody>
      </p:sp>
      <p:sp>
        <p:nvSpPr>
          <p:cNvPr id="449" name="Shape 38"/>
          <p:cNvSpPr/>
          <p:nvPr/>
        </p:nvSpPr>
        <p:spPr>
          <a:xfrm>
            <a:off x="5077800" y="402336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0" name="Shape 39"/>
          <p:cNvSpPr/>
          <p:nvPr/>
        </p:nvSpPr>
        <p:spPr>
          <a:xfrm>
            <a:off x="5279040" y="422460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51" name="Image 7" descr="preencoded.png"/>
          <p:cNvPicPr/>
          <p:nvPr/>
        </p:nvPicPr>
        <p:blipFill>
          <a:blip r:embed="rId8"/>
          <a:stretch/>
        </p:blipFill>
        <p:spPr>
          <a:xfrm>
            <a:off x="5398200" y="4343760"/>
            <a:ext cx="291240" cy="291240"/>
          </a:xfrm>
          <a:prstGeom prst="rect">
            <a:avLst/>
          </a:prstGeom>
          <a:noFill/>
          <a:ln w="0">
            <a:noFill/>
          </a:ln>
        </p:spPr>
      </p:pic>
      <p:sp>
        <p:nvSpPr>
          <p:cNvPr id="452" name="Text 40"/>
          <p:cNvSpPr/>
          <p:nvPr/>
        </p:nvSpPr>
        <p:spPr>
          <a:xfrm>
            <a:off x="5279040" y="486468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FRONT-END</a:t>
            </a:r>
            <a:endParaRPr lang="en-US" sz="950" b="0" u="none" strike="noStrike">
              <a:solidFill>
                <a:srgbClr val="000000"/>
              </a:solidFill>
              <a:effectLst/>
              <a:uFillTx/>
              <a:latin typeface="Arial"/>
            </a:endParaRPr>
          </a:p>
        </p:txBody>
      </p:sp>
      <p:sp>
        <p:nvSpPr>
          <p:cNvPr id="453" name="Text 41"/>
          <p:cNvSpPr/>
          <p:nvPr/>
        </p:nvSpPr>
        <p:spPr>
          <a:xfrm>
            <a:off x="5279040" y="508392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HTML e JS estáticos</a:t>
            </a:r>
            <a:endParaRPr lang="en-US" sz="1500" b="0" u="none" strike="noStrike">
              <a:solidFill>
                <a:srgbClr val="000000"/>
              </a:solidFill>
              <a:effectLst/>
              <a:uFillTx/>
              <a:latin typeface="Arial"/>
            </a:endParaRPr>
          </a:p>
        </p:txBody>
      </p:sp>
      <p:sp>
        <p:nvSpPr>
          <p:cNvPr id="454" name="Text 42"/>
          <p:cNvSpPr/>
          <p:nvPr/>
        </p:nvSpPr>
        <p:spPr>
          <a:xfrm>
            <a:off x="5279040" y="554112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Sem framework, sem etapa de build</a:t>
            </a:r>
            <a:endParaRPr lang="en-US" sz="1200" b="0" u="none" strike="noStrike">
              <a:solidFill>
                <a:srgbClr val="000000"/>
              </a:solidFill>
              <a:effectLst/>
              <a:uFillTx/>
              <a:latin typeface="Arial"/>
            </a:endParaRPr>
          </a:p>
        </p:txBody>
      </p:sp>
      <p:sp>
        <p:nvSpPr>
          <p:cNvPr id="455" name="Shape 43"/>
          <p:cNvSpPr/>
          <p:nvPr/>
        </p:nvSpPr>
        <p:spPr>
          <a:xfrm>
            <a:off x="7342560" y="402336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6" name="Shape 44"/>
          <p:cNvSpPr/>
          <p:nvPr/>
        </p:nvSpPr>
        <p:spPr>
          <a:xfrm>
            <a:off x="7543440" y="422460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57" name="Image 8" descr="preencoded.png"/>
          <p:cNvPicPr/>
          <p:nvPr/>
        </p:nvPicPr>
        <p:blipFill>
          <a:blip r:embed="rId9"/>
          <a:stretch/>
        </p:blipFill>
        <p:spPr>
          <a:xfrm>
            <a:off x="7662960" y="4343760"/>
            <a:ext cx="291240" cy="291240"/>
          </a:xfrm>
          <a:prstGeom prst="rect">
            <a:avLst/>
          </a:prstGeom>
          <a:noFill/>
          <a:ln w="0">
            <a:noFill/>
          </a:ln>
        </p:spPr>
      </p:pic>
      <p:sp>
        <p:nvSpPr>
          <p:cNvPr id="458" name="Text 45"/>
          <p:cNvSpPr/>
          <p:nvPr/>
        </p:nvSpPr>
        <p:spPr>
          <a:xfrm>
            <a:off x="7543440" y="486468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OFF-CHAIN</a:t>
            </a:r>
            <a:endParaRPr lang="en-US" sz="950" b="0" u="none" strike="noStrike">
              <a:solidFill>
                <a:srgbClr val="000000"/>
              </a:solidFill>
              <a:effectLst/>
              <a:uFillTx/>
              <a:latin typeface="Arial"/>
            </a:endParaRPr>
          </a:p>
        </p:txBody>
      </p:sp>
      <p:sp>
        <p:nvSpPr>
          <p:cNvPr id="459" name="Text 46"/>
          <p:cNvSpPr/>
          <p:nvPr/>
        </p:nvSpPr>
        <p:spPr>
          <a:xfrm>
            <a:off x="7543440" y="508392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JSON via HTTP</a:t>
            </a:r>
            <a:endParaRPr lang="en-US" sz="1500" b="0" u="none" strike="noStrike">
              <a:solidFill>
                <a:srgbClr val="000000"/>
              </a:solidFill>
              <a:effectLst/>
              <a:uFillTx/>
              <a:latin typeface="Arial"/>
            </a:endParaRPr>
          </a:p>
        </p:txBody>
      </p:sp>
      <p:sp>
        <p:nvSpPr>
          <p:cNvPr id="460" name="Text 47"/>
          <p:cNvSpPr/>
          <p:nvPr/>
        </p:nvSpPr>
        <p:spPr>
          <a:xfrm>
            <a:off x="7543440" y="554112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Documentos aqui, hashes on-chain</a:t>
            </a:r>
            <a:endParaRPr lang="en-US" sz="1200" b="0" u="none" strike="noStrike">
              <a:solidFill>
                <a:srgbClr val="000000"/>
              </a:solidFill>
              <a:effectLst/>
              <a:uFillTx/>
              <a:latin typeface="Arial"/>
            </a:endParaRPr>
          </a:p>
        </p:txBody>
      </p:sp>
      <p:sp>
        <p:nvSpPr>
          <p:cNvPr id="461" name="Shape 48"/>
          <p:cNvSpPr/>
          <p:nvPr/>
        </p:nvSpPr>
        <p:spPr>
          <a:xfrm>
            <a:off x="9606960" y="4023360"/>
            <a:ext cx="2035800" cy="2148480"/>
          </a:xfrm>
          <a:prstGeom prst="roundRect">
            <a:avLst>
              <a:gd name="adj" fmla="val 3593"/>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2" name="Shape 49"/>
          <p:cNvSpPr/>
          <p:nvPr/>
        </p:nvSpPr>
        <p:spPr>
          <a:xfrm>
            <a:off x="9808200" y="4224600"/>
            <a:ext cx="529920" cy="529920"/>
          </a:xfrm>
          <a:prstGeom prst="ellipse">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63" name="Image 9" descr="preencoded.png"/>
          <p:cNvPicPr/>
          <p:nvPr/>
        </p:nvPicPr>
        <p:blipFill>
          <a:blip r:embed="rId10"/>
          <a:stretch/>
        </p:blipFill>
        <p:spPr>
          <a:xfrm>
            <a:off x="9927720" y="4343760"/>
            <a:ext cx="291240" cy="291240"/>
          </a:xfrm>
          <a:prstGeom prst="rect">
            <a:avLst/>
          </a:prstGeom>
          <a:noFill/>
          <a:ln w="0">
            <a:noFill/>
          </a:ln>
        </p:spPr>
      </p:pic>
      <p:sp>
        <p:nvSpPr>
          <p:cNvPr id="464" name="Text 50"/>
          <p:cNvSpPr/>
          <p:nvPr/>
        </p:nvSpPr>
        <p:spPr>
          <a:xfrm>
            <a:off x="9808200" y="4864680"/>
            <a:ext cx="1633320" cy="2192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950" b="1" u="none" spc="99" strike="noStrike">
                <a:solidFill>
                  <a:srgbClr val="007D9C"/>
                </a:solidFill>
                <a:effectLst/>
                <a:uFillTx/>
                <a:latin typeface="Arial"/>
                <a:ea typeface="Arial"/>
              </a:rPr>
              <a:t>IMPLANTAÇÃO</a:t>
            </a:r>
            <a:endParaRPr lang="en-US" sz="950" b="0" u="none" strike="noStrike">
              <a:solidFill>
                <a:srgbClr val="000000"/>
              </a:solidFill>
              <a:effectLst/>
              <a:uFillTx/>
              <a:latin typeface="Arial"/>
            </a:endParaRPr>
          </a:p>
        </p:txBody>
      </p:sp>
      <p:sp>
        <p:nvSpPr>
          <p:cNvPr id="465" name="Text 51"/>
          <p:cNvSpPr/>
          <p:nvPr/>
        </p:nvSpPr>
        <p:spPr>
          <a:xfrm>
            <a:off x="9808200" y="5083920"/>
            <a:ext cx="1670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Calibri"/>
                <a:ea typeface="Calibri"/>
              </a:rPr>
              <a:t>Docker Compose</a:t>
            </a:r>
            <a:endParaRPr lang="en-US" sz="1500" b="0" u="none" strike="noStrike">
              <a:solidFill>
                <a:srgbClr val="000000"/>
              </a:solidFill>
              <a:effectLst/>
              <a:uFillTx/>
              <a:latin typeface="Arial"/>
            </a:endParaRPr>
          </a:p>
        </p:txBody>
      </p:sp>
      <p:sp>
        <p:nvSpPr>
          <p:cNvPr id="466" name="Text 52"/>
          <p:cNvSpPr/>
          <p:nvPr/>
        </p:nvSpPr>
        <p:spPr>
          <a:xfrm>
            <a:off x="9808200" y="5541120"/>
            <a:ext cx="1670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5F6B76"/>
                </a:solidFill>
                <a:effectLst/>
                <a:uFillTx/>
                <a:latin typeface="Calibri"/>
                <a:ea typeface="Calibri"/>
              </a:rPr>
              <a:t>Serviços chain, seed, web e meta</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7"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04 · STACK TECNOLÓGICA</a:t>
            </a:r>
            <a:endParaRPr lang="en-US" sz="1100" b="0" u="none" strike="noStrike">
              <a:solidFill>
                <a:srgbClr val="000000"/>
              </a:solidFill>
              <a:effectLst/>
              <a:uFillTx/>
              <a:latin typeface="Arial"/>
            </a:endParaRPr>
          </a:p>
        </p:txBody>
      </p:sp>
      <p:sp>
        <p:nvSpPr>
          <p:cNvPr id="468"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Pequeno, autocontido, um comando para rodar</a:t>
            </a:r>
            <a:endParaRPr lang="en-US" sz="3200" b="0" u="none" strike="noStrike">
              <a:solidFill>
                <a:srgbClr val="000000"/>
              </a:solidFill>
              <a:effectLst/>
              <a:uFillTx/>
              <a:latin typeface="Arial"/>
            </a:endParaRPr>
          </a:p>
        </p:txBody>
      </p:sp>
      <p:sp>
        <p:nvSpPr>
          <p:cNvPr id="469"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16</a:t>
            </a:r>
            <a:endParaRPr lang="en-US" sz="1000" b="0" u="none" strike="noStrike">
              <a:solidFill>
                <a:srgbClr val="000000"/>
              </a:solidFill>
              <a:effectLst/>
              <a:uFillTx/>
              <a:latin typeface="Arial"/>
            </a:endParaRPr>
          </a:p>
        </p:txBody>
      </p:sp>
      <p:sp>
        <p:nvSpPr>
          <p:cNvPr id="470" name="Shape 3"/>
          <p:cNvSpPr/>
          <p:nvPr/>
        </p:nvSpPr>
        <p:spPr>
          <a:xfrm>
            <a:off x="548640" y="1691640"/>
            <a:ext cx="2605680" cy="1874160"/>
          </a:xfrm>
          <a:prstGeom prst="roundRect">
            <a:avLst>
              <a:gd name="adj" fmla="val 390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1" name="Text 4"/>
          <p:cNvSpPr/>
          <p:nvPr/>
        </p:nvSpPr>
        <p:spPr>
          <a:xfrm>
            <a:off x="777240" y="1856160"/>
            <a:ext cx="21942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4600" b="1" u="none" strike="noStrike">
                <a:solidFill>
                  <a:srgbClr val="007D9C"/>
                </a:solidFill>
                <a:effectLst/>
                <a:uFillTx/>
                <a:latin typeface="Arial"/>
                <a:ea typeface="Arial"/>
              </a:rPr>
              <a:t>0</a:t>
            </a:r>
            <a:endParaRPr lang="en-US" sz="4600" b="0" u="none" strike="noStrike">
              <a:solidFill>
                <a:srgbClr val="000000"/>
              </a:solidFill>
              <a:effectLst/>
              <a:uFillTx/>
              <a:latin typeface="Arial"/>
            </a:endParaRPr>
          </a:p>
        </p:txBody>
      </p:sp>
      <p:sp>
        <p:nvSpPr>
          <p:cNvPr id="472" name="Text 5"/>
          <p:cNvSpPr/>
          <p:nvPr/>
        </p:nvSpPr>
        <p:spPr>
          <a:xfrm>
            <a:off x="777240" y="2743200"/>
            <a:ext cx="22399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dependências Go externas:</a:t>
            </a:r>
            <a:endParaRPr lang="en-US" sz="1300" b="0" u="none" strike="noStrike">
              <a:solidFill>
                <a:srgbClr val="000000"/>
              </a:solidFill>
              <a:effectLst/>
              <a:uFillTx/>
              <a:latin typeface="Arial"/>
            </a:endParaRPr>
          </a:p>
          <a:p>
            <a:pPr defTabSz="914400">
              <a:lnSpc>
                <a:spcPct val="100000"/>
              </a:lnSpc>
              <a:tabLst>
                <a:tab pos="0" algn="l"/>
              </a:tabLst>
            </a:pPr>
            <a:r>
              <a:rPr lang="pt-BR" sz="1300" b="0" u="none" strike="noStrike">
                <a:solidFill>
                  <a:srgbClr val="5F6B76"/>
                </a:solidFill>
                <a:effectLst/>
                <a:uFillTx/>
                <a:latin typeface="Calibri"/>
                <a:ea typeface="Calibri"/>
              </a:rPr>
              <a:t>só a biblioteca padrão</a:t>
            </a:r>
            <a:endParaRPr lang="en-US" sz="1300" b="0" u="none" strike="noStrike">
              <a:solidFill>
                <a:srgbClr val="000000"/>
              </a:solidFill>
              <a:effectLst/>
              <a:uFillTx/>
              <a:latin typeface="Arial"/>
            </a:endParaRPr>
          </a:p>
        </p:txBody>
      </p:sp>
      <p:sp>
        <p:nvSpPr>
          <p:cNvPr id="473" name="Shape 6"/>
          <p:cNvSpPr/>
          <p:nvPr/>
        </p:nvSpPr>
        <p:spPr>
          <a:xfrm>
            <a:off x="3383280" y="1691640"/>
            <a:ext cx="2605680" cy="1874160"/>
          </a:xfrm>
          <a:prstGeom prst="roundRect">
            <a:avLst>
              <a:gd name="adj" fmla="val 390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4" name="Text 7"/>
          <p:cNvSpPr/>
          <p:nvPr/>
        </p:nvSpPr>
        <p:spPr>
          <a:xfrm>
            <a:off x="3611880" y="1856160"/>
            <a:ext cx="21942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4600" b="1" u="none" strike="noStrike">
                <a:solidFill>
                  <a:srgbClr val="007D9C"/>
                </a:solidFill>
                <a:effectLst/>
                <a:uFillTx/>
                <a:latin typeface="Arial"/>
                <a:ea typeface="Arial"/>
              </a:rPr>
              <a:t>1.431</a:t>
            </a:r>
            <a:endParaRPr lang="en-US" sz="4600" b="0" u="none" strike="noStrike">
              <a:solidFill>
                <a:srgbClr val="000000"/>
              </a:solidFill>
              <a:effectLst/>
              <a:uFillTx/>
              <a:latin typeface="Arial"/>
            </a:endParaRPr>
          </a:p>
        </p:txBody>
      </p:sp>
      <p:sp>
        <p:nvSpPr>
          <p:cNvPr id="475" name="Text 8"/>
          <p:cNvSpPr/>
          <p:nvPr/>
        </p:nvSpPr>
        <p:spPr>
          <a:xfrm>
            <a:off x="3611880" y="2743200"/>
            <a:ext cx="22399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linhas de Go,</a:t>
            </a:r>
            <a:endParaRPr lang="en-US" sz="1300" b="0" u="none" strike="noStrike">
              <a:solidFill>
                <a:srgbClr val="000000"/>
              </a:solidFill>
              <a:effectLst/>
              <a:uFillTx/>
              <a:latin typeface="Arial"/>
            </a:endParaRPr>
          </a:p>
          <a:p>
            <a:pPr defTabSz="914400">
              <a:lnSpc>
                <a:spcPct val="100000"/>
              </a:lnSpc>
              <a:tabLst>
                <a:tab pos="0" algn="l"/>
              </a:tabLst>
            </a:pPr>
            <a:r>
              <a:rPr lang="pt-BR" sz="1300" b="0" u="none" strike="noStrike">
                <a:solidFill>
                  <a:srgbClr val="5F6B76"/>
                </a:solidFill>
                <a:effectLst/>
                <a:uFillTx/>
                <a:latin typeface="Calibri"/>
                <a:ea typeface="Calibri"/>
              </a:rPr>
              <a:t>mais 567 linhas de testes</a:t>
            </a:r>
            <a:endParaRPr lang="en-US" sz="1300" b="0" u="none" strike="noStrike">
              <a:solidFill>
                <a:srgbClr val="000000"/>
              </a:solidFill>
              <a:effectLst/>
              <a:uFillTx/>
              <a:latin typeface="Arial"/>
            </a:endParaRPr>
          </a:p>
        </p:txBody>
      </p:sp>
      <p:sp>
        <p:nvSpPr>
          <p:cNvPr id="476" name="Shape 9"/>
          <p:cNvSpPr/>
          <p:nvPr/>
        </p:nvSpPr>
        <p:spPr>
          <a:xfrm>
            <a:off x="548640" y="3794760"/>
            <a:ext cx="2605680" cy="1874160"/>
          </a:xfrm>
          <a:prstGeom prst="roundRect">
            <a:avLst>
              <a:gd name="adj" fmla="val 390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7" name="Text 10"/>
          <p:cNvSpPr/>
          <p:nvPr/>
        </p:nvSpPr>
        <p:spPr>
          <a:xfrm>
            <a:off x="777240" y="3959280"/>
            <a:ext cx="21942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4600" b="1" u="none" strike="noStrike">
                <a:solidFill>
                  <a:srgbClr val="007D9C"/>
                </a:solidFill>
                <a:effectLst/>
                <a:uFillTx/>
                <a:latin typeface="Arial"/>
                <a:ea typeface="Arial"/>
              </a:rPr>
              <a:t>42</a:t>
            </a:r>
            <a:endParaRPr lang="en-US" sz="4600" b="0" u="none" strike="noStrike">
              <a:solidFill>
                <a:srgbClr val="000000"/>
              </a:solidFill>
              <a:effectLst/>
              <a:uFillTx/>
              <a:latin typeface="Arial"/>
            </a:endParaRPr>
          </a:p>
        </p:txBody>
      </p:sp>
      <p:sp>
        <p:nvSpPr>
          <p:cNvPr id="478" name="Text 11"/>
          <p:cNvSpPr/>
          <p:nvPr/>
        </p:nvSpPr>
        <p:spPr>
          <a:xfrm>
            <a:off x="777240" y="4846320"/>
            <a:ext cx="22399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casos de teste passando,</a:t>
            </a:r>
            <a:endParaRPr lang="en-US" sz="1300" b="0" u="none" strike="noStrike">
              <a:solidFill>
                <a:srgbClr val="000000"/>
              </a:solidFill>
              <a:effectLst/>
              <a:uFillTx/>
              <a:latin typeface="Arial"/>
            </a:endParaRPr>
          </a:p>
          <a:p>
            <a:pPr defTabSz="914400">
              <a:lnSpc>
                <a:spcPct val="100000"/>
              </a:lnSpc>
              <a:tabLst>
                <a:tab pos="0" algn="l"/>
              </a:tabLst>
            </a:pPr>
            <a:r>
              <a:rPr lang="pt-BR" sz="1300" b="0" u="none" strike="noStrike">
                <a:solidFill>
                  <a:srgbClr val="5F6B76"/>
                </a:solidFill>
                <a:effectLst/>
                <a:uFillTx/>
                <a:latin typeface="Calibri"/>
                <a:ea typeface="Calibri"/>
              </a:rPr>
              <a:t>com o detector de corridas</a:t>
            </a:r>
            <a:endParaRPr lang="en-US" sz="1300" b="0" u="none" strike="noStrike">
              <a:solidFill>
                <a:srgbClr val="000000"/>
              </a:solidFill>
              <a:effectLst/>
              <a:uFillTx/>
              <a:latin typeface="Arial"/>
            </a:endParaRPr>
          </a:p>
        </p:txBody>
      </p:sp>
      <p:sp>
        <p:nvSpPr>
          <p:cNvPr id="479" name="Shape 12"/>
          <p:cNvSpPr/>
          <p:nvPr/>
        </p:nvSpPr>
        <p:spPr>
          <a:xfrm>
            <a:off x="3383280" y="3794760"/>
            <a:ext cx="2605680" cy="1874160"/>
          </a:xfrm>
          <a:prstGeom prst="roundRect">
            <a:avLst>
              <a:gd name="adj" fmla="val 3902"/>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0" name="Text 13"/>
          <p:cNvSpPr/>
          <p:nvPr/>
        </p:nvSpPr>
        <p:spPr>
          <a:xfrm>
            <a:off x="3611880" y="3959280"/>
            <a:ext cx="2194200" cy="868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4600" b="1" u="none" strike="noStrike">
                <a:solidFill>
                  <a:srgbClr val="007D9C"/>
                </a:solidFill>
                <a:effectLst/>
                <a:uFillTx/>
                <a:latin typeface="Arial"/>
                <a:ea typeface="Arial"/>
              </a:rPr>
              <a:t>4</a:t>
            </a:r>
            <a:endParaRPr lang="en-US" sz="4600" b="0" u="none" strike="noStrike">
              <a:solidFill>
                <a:srgbClr val="000000"/>
              </a:solidFill>
              <a:effectLst/>
              <a:uFillTx/>
              <a:latin typeface="Arial"/>
            </a:endParaRPr>
          </a:p>
        </p:txBody>
      </p:sp>
      <p:sp>
        <p:nvSpPr>
          <p:cNvPr id="481" name="Text 14"/>
          <p:cNvSpPr/>
          <p:nvPr/>
        </p:nvSpPr>
        <p:spPr>
          <a:xfrm>
            <a:off x="3611880" y="4846320"/>
            <a:ext cx="223992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serviços no Docker Compose</a:t>
            </a:r>
            <a:endParaRPr lang="en-US" sz="1300" b="0" u="none" strike="noStrike">
              <a:solidFill>
                <a:srgbClr val="000000"/>
              </a:solidFill>
              <a:effectLst/>
              <a:uFillTx/>
              <a:latin typeface="Arial"/>
            </a:endParaRPr>
          </a:p>
        </p:txBody>
      </p:sp>
      <p:sp>
        <p:nvSpPr>
          <p:cNvPr id="482" name="Shape 15"/>
          <p:cNvSpPr/>
          <p:nvPr/>
        </p:nvSpPr>
        <p:spPr>
          <a:xfrm>
            <a:off x="6400800" y="1691640"/>
            <a:ext cx="5241960" cy="3977280"/>
          </a:xfrm>
          <a:prstGeom prst="roundRect">
            <a:avLst>
              <a:gd name="adj" fmla="val 1839"/>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3" name="Text 16"/>
          <p:cNvSpPr/>
          <p:nvPr/>
        </p:nvSpPr>
        <p:spPr>
          <a:xfrm>
            <a:off x="6720840" y="1920240"/>
            <a:ext cx="4693320" cy="356580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300"/>
              </a:spcAft>
              <a:tabLst>
                <a:tab pos="0" algn="l"/>
              </a:tabLst>
            </a:pPr>
            <a:r>
              <a:rPr lang="pt-BR" sz="1300" b="1" u="none" strike="noStrike">
                <a:solidFill>
                  <a:srgbClr val="FFFFFF"/>
                </a:solidFill>
                <a:effectLst/>
                <a:uFillTx/>
                <a:latin typeface="Courier New"/>
                <a:ea typeface="Courier New"/>
              </a:rPr>
              <a:t>$ docker compose up --build</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0" u="none" strike="noStrike">
                <a:solidFill>
                  <a:srgbClr val="1E2328"/>
                </a:solidFill>
                <a:effectLst/>
                <a:uFillTx/>
                <a:latin typeface="Courier New"/>
                <a:ea typeface="Courier New"/>
              </a:rPr>
              <a:t> </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1" u="none" strike="noStrike">
                <a:solidFill>
                  <a:srgbClr val="00ADD8"/>
                </a:solidFill>
                <a:effectLst/>
                <a:uFillTx/>
                <a:latin typeface="Courier New"/>
                <a:ea typeface="Courier New"/>
              </a:rPr>
              <a:t>chain  </a:t>
            </a:r>
            <a:r>
              <a:rPr lang="pt-BR" sz="1300" b="0" u="none" strike="noStrike">
                <a:solidFill>
                  <a:srgbClr val="F2A900"/>
                </a:solidFill>
                <a:effectLst/>
                <a:uFillTx/>
                <a:latin typeface="Courier New"/>
                <a:ea typeface="Courier New"/>
              </a:rPr>
              <a:t>:8080  </a:t>
            </a:r>
            <a:r>
              <a:rPr lang="pt-BR" sz="1300" b="0" u="none" strike="noStrike">
                <a:solidFill>
                  <a:srgbClr val="FFFFFF"/>
                </a:solidFill>
                <a:effectLst/>
                <a:uFillTx/>
                <a:latin typeface="Courier New"/>
                <a:ea typeface="Courier New"/>
              </a:rPr>
              <a:t>nó Go, bloco gênese #0</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1" u="none" strike="noStrike">
                <a:solidFill>
                  <a:srgbClr val="00ADD8"/>
                </a:solidFill>
                <a:effectLst/>
                <a:uFillTx/>
                <a:latin typeface="Courier New"/>
                <a:ea typeface="Courier New"/>
              </a:rPr>
              <a:t>seed   </a:t>
            </a:r>
            <a:r>
              <a:rPr lang="pt-BR" sz="1300" b="0" u="none" strike="noStrike">
                <a:solidFill>
                  <a:srgbClr val="F2A900"/>
                </a:solidFill>
                <a:effectLst/>
                <a:uFillTx/>
                <a:latin typeface="Courier New"/>
                <a:ea typeface="Courier New"/>
              </a:rPr>
              <a:t>       </a:t>
            </a:r>
            <a:r>
              <a:rPr lang="pt-BR" sz="1300" b="0" u="none" strike="noStrike">
                <a:solidFill>
                  <a:srgbClr val="FFFFFF"/>
                </a:solidFill>
                <a:effectLst/>
                <a:uFillTx/>
                <a:latin typeface="Courier New"/>
                <a:ea typeface="Courier New"/>
              </a:rPr>
              <a:t>registra dados da demo e sai</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1" u="none" strike="noStrike">
                <a:solidFill>
                  <a:srgbClr val="00ADD8"/>
                </a:solidFill>
                <a:effectLst/>
                <a:uFillTx/>
                <a:latin typeface="Courier New"/>
                <a:ea typeface="Courier New"/>
              </a:rPr>
              <a:t>web    </a:t>
            </a:r>
            <a:r>
              <a:rPr lang="pt-BR" sz="1300" b="0" u="none" strike="noStrike">
                <a:solidFill>
                  <a:srgbClr val="F2A900"/>
                </a:solidFill>
                <a:effectLst/>
                <a:uFillTx/>
                <a:latin typeface="Courier New"/>
                <a:ea typeface="Courier New"/>
              </a:rPr>
              <a:t>:3000  </a:t>
            </a:r>
            <a:r>
              <a:rPr lang="pt-BR" sz="1300" b="0" u="none" strike="noStrike">
                <a:solidFill>
                  <a:srgbClr val="FFFFFF"/>
                </a:solidFill>
                <a:effectLst/>
                <a:uFillTx/>
                <a:latin typeface="Courier New"/>
                <a:ea typeface="Courier New"/>
              </a:rPr>
              <a:t>o app web</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1" u="none" strike="noStrike">
                <a:solidFill>
                  <a:srgbClr val="00ADD8"/>
                </a:solidFill>
                <a:effectLst/>
                <a:uFillTx/>
                <a:latin typeface="Courier New"/>
                <a:ea typeface="Courier New"/>
              </a:rPr>
              <a:t>meta   </a:t>
            </a:r>
            <a:r>
              <a:rPr lang="pt-BR" sz="1300" b="0" u="none" strike="noStrike">
                <a:solidFill>
                  <a:srgbClr val="F2A900"/>
                </a:solidFill>
                <a:effectLst/>
                <a:uFillTx/>
                <a:latin typeface="Courier New"/>
                <a:ea typeface="Courier New"/>
              </a:rPr>
              <a:t>:3001  </a:t>
            </a:r>
            <a:r>
              <a:rPr lang="pt-BR" sz="1300" b="0" u="none" strike="noStrike">
                <a:solidFill>
                  <a:srgbClr val="FFFFFF"/>
                </a:solidFill>
                <a:effectLst/>
                <a:uFillTx/>
                <a:latin typeface="Courier New"/>
                <a:ea typeface="Courier New"/>
              </a:rPr>
              <a:t>documentos JSON off-chain</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0" u="none" strike="noStrike">
                <a:solidFill>
                  <a:srgbClr val="1E2328"/>
                </a:solidFill>
                <a:effectLst/>
                <a:uFillTx/>
                <a:latin typeface="Courier New"/>
                <a:ea typeface="Courier New"/>
              </a:rPr>
              <a:t> </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1" u="none" strike="noStrike">
                <a:solidFill>
                  <a:srgbClr val="FFFFFF"/>
                </a:solidFill>
                <a:effectLst/>
                <a:uFillTx/>
                <a:latin typeface="Courier New"/>
                <a:ea typeface="Courier New"/>
              </a:rPr>
              <a:t>$ docker compose down</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0" u="none" strike="noStrike">
                <a:solidFill>
                  <a:srgbClr val="8B96A1"/>
                </a:solidFill>
                <a:effectLst/>
                <a:uFillTx/>
                <a:latin typeface="Courier New"/>
                <a:ea typeface="Courier New"/>
              </a:rPr>
              <a:t># o estado fica em memória:</a:t>
            </a:r>
            <a:endParaRPr lang="en-US" sz="1300" b="0" u="none" strike="noStrike">
              <a:solidFill>
                <a:srgbClr val="000000"/>
              </a:solidFill>
              <a:effectLst/>
              <a:uFillTx/>
              <a:latin typeface="Arial"/>
            </a:endParaRPr>
          </a:p>
          <a:p>
            <a:pPr defTabSz="914400">
              <a:lnSpc>
                <a:spcPct val="100000"/>
              </a:lnSpc>
              <a:spcAft>
                <a:spcPts val="300"/>
              </a:spcAft>
              <a:tabLst>
                <a:tab pos="0" algn="l"/>
              </a:tabLst>
            </a:pPr>
            <a:r>
              <a:rPr lang="pt-BR" sz="1300" b="0" u="none" strike="noStrike">
                <a:solidFill>
                  <a:srgbClr val="8B96A1"/>
                </a:solidFill>
                <a:effectLst/>
                <a:uFillTx/>
                <a:latin typeface="Courier New"/>
                <a:ea typeface="Courier New"/>
              </a:rPr>
              <a:t># o próximo início é uma cadeia nova</a:t>
            </a:r>
            <a:endParaRPr lang="en-US" sz="1300" b="0" u="none" strike="noStrike">
              <a:solidFill>
                <a:srgbClr val="000000"/>
              </a:solidFill>
              <a:effectLst/>
              <a:uFillTx/>
              <a:latin typeface="Arial"/>
            </a:endParaRPr>
          </a:p>
        </p:txBody>
      </p:sp>
      <p:sp>
        <p:nvSpPr>
          <p:cNvPr id="484" name="Text 17"/>
          <p:cNvSpPr/>
          <p:nvPr/>
        </p:nvSpPr>
        <p:spPr>
          <a:xfrm>
            <a:off x="548640" y="5897880"/>
            <a:ext cx="110941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i="1" u="none" strike="noStrike">
                <a:solidFill>
                  <a:srgbClr val="5F6B76"/>
                </a:solidFill>
                <a:effectLst/>
                <a:uFillTx/>
                <a:latin typeface="Calibri"/>
                <a:ea typeface="Calibri"/>
              </a:rPr>
              <a:t>Sem Docker: go run ./cmd/node e depois go run ./cmd/seed. Use --datadir para manter os blocos em disco.</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5"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05 · POR QUE GO</a:t>
            </a:r>
            <a:endParaRPr lang="en-US" sz="1100" b="0" u="none" strike="noStrike">
              <a:solidFill>
                <a:srgbClr val="000000"/>
              </a:solidFill>
              <a:effectLst/>
              <a:uFillTx/>
              <a:latin typeface="Arial"/>
            </a:endParaRPr>
          </a:p>
        </p:txBody>
      </p:sp>
      <p:sp>
        <p:nvSpPr>
          <p:cNvPr id="486"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Por que Go</a:t>
            </a:r>
            <a:endParaRPr lang="en-US" sz="3200" b="0" u="none" strike="noStrike">
              <a:solidFill>
                <a:srgbClr val="000000"/>
              </a:solidFill>
              <a:effectLst/>
              <a:uFillTx/>
              <a:latin typeface="Arial"/>
            </a:endParaRPr>
          </a:p>
        </p:txBody>
      </p:sp>
      <p:sp>
        <p:nvSpPr>
          <p:cNvPr id="487"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17</a:t>
            </a:r>
            <a:endParaRPr lang="en-US" sz="1000" b="0" u="none" strike="noStrike">
              <a:solidFill>
                <a:srgbClr val="000000"/>
              </a:solidFill>
              <a:effectLst/>
              <a:uFillTx/>
              <a:latin typeface="Arial"/>
            </a:endParaRPr>
          </a:p>
        </p:txBody>
      </p:sp>
      <p:sp>
        <p:nvSpPr>
          <p:cNvPr id="488" name="Shape 3"/>
          <p:cNvSpPr/>
          <p:nvPr/>
        </p:nvSpPr>
        <p:spPr>
          <a:xfrm>
            <a:off x="548640" y="1645920"/>
            <a:ext cx="3484440" cy="2102760"/>
          </a:xfrm>
          <a:prstGeom prst="roundRect">
            <a:avLst>
              <a:gd name="adj" fmla="val 3478"/>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9" name="Shape 4"/>
          <p:cNvSpPr/>
          <p:nvPr/>
        </p:nvSpPr>
        <p:spPr>
          <a:xfrm>
            <a:off x="804600" y="1901880"/>
            <a:ext cx="639720" cy="6397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90" name="Image 0" descr="preencoded.png"/>
          <p:cNvPicPr/>
          <p:nvPr/>
        </p:nvPicPr>
        <p:blipFill>
          <a:blip r:embed="rId1"/>
          <a:stretch/>
        </p:blipFill>
        <p:spPr>
          <a:xfrm>
            <a:off x="958320" y="2055600"/>
            <a:ext cx="332640" cy="332640"/>
          </a:xfrm>
          <a:prstGeom prst="rect">
            <a:avLst/>
          </a:prstGeom>
          <a:noFill/>
          <a:ln w="0">
            <a:noFill/>
          </a:ln>
        </p:spPr>
      </p:pic>
      <p:sp>
        <p:nvSpPr>
          <p:cNvPr id="491" name="Text 5"/>
          <p:cNvSpPr/>
          <p:nvPr/>
        </p:nvSpPr>
        <p:spPr>
          <a:xfrm>
            <a:off x="1600200" y="1865520"/>
            <a:ext cx="220428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Uma linguagem, de ponta a ponta</a:t>
            </a:r>
            <a:endParaRPr lang="en-US" sz="1600" b="0" u="none" strike="noStrike">
              <a:solidFill>
                <a:srgbClr val="000000"/>
              </a:solidFill>
              <a:effectLst/>
              <a:uFillTx/>
              <a:latin typeface="Arial"/>
            </a:endParaRPr>
          </a:p>
        </p:txBody>
      </p:sp>
      <p:sp>
        <p:nvSpPr>
          <p:cNvPr id="492" name="Text 6"/>
          <p:cNvSpPr/>
          <p:nvPr/>
        </p:nvSpPr>
        <p:spPr>
          <a:xfrm>
            <a:off x="804600" y="2670120"/>
            <a:ext cx="29725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Cadeia, contrato, API, seed e ferramentas CLI dividem uma base de código. Sem Solidity, sem semântica de VM.</a:t>
            </a:r>
            <a:endParaRPr lang="en-US" sz="1350" b="0" u="none" strike="noStrike">
              <a:solidFill>
                <a:srgbClr val="000000"/>
              </a:solidFill>
              <a:effectLst/>
              <a:uFillTx/>
              <a:latin typeface="Arial"/>
            </a:endParaRPr>
          </a:p>
        </p:txBody>
      </p:sp>
      <p:sp>
        <p:nvSpPr>
          <p:cNvPr id="493" name="Shape 7"/>
          <p:cNvSpPr/>
          <p:nvPr/>
        </p:nvSpPr>
        <p:spPr>
          <a:xfrm>
            <a:off x="4353480" y="1645920"/>
            <a:ext cx="3484440" cy="2102760"/>
          </a:xfrm>
          <a:prstGeom prst="roundRect">
            <a:avLst>
              <a:gd name="adj" fmla="val 3478"/>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4" name="Shape 8"/>
          <p:cNvSpPr/>
          <p:nvPr/>
        </p:nvSpPr>
        <p:spPr>
          <a:xfrm>
            <a:off x="4609440" y="1901880"/>
            <a:ext cx="639720" cy="6397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95" name="Image 1" descr="preencoded.png"/>
          <p:cNvPicPr/>
          <p:nvPr/>
        </p:nvPicPr>
        <p:blipFill>
          <a:blip r:embed="rId2"/>
          <a:stretch/>
        </p:blipFill>
        <p:spPr>
          <a:xfrm>
            <a:off x="4763160" y="2055600"/>
            <a:ext cx="332640" cy="332640"/>
          </a:xfrm>
          <a:prstGeom prst="rect">
            <a:avLst/>
          </a:prstGeom>
          <a:noFill/>
          <a:ln w="0">
            <a:noFill/>
          </a:ln>
        </p:spPr>
      </p:pic>
      <p:sp>
        <p:nvSpPr>
          <p:cNvPr id="496" name="Text 9"/>
          <p:cNvSpPr/>
          <p:nvPr/>
        </p:nvSpPr>
        <p:spPr>
          <a:xfrm>
            <a:off x="5405040" y="1865520"/>
            <a:ext cx="220428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A biblioteca padrão basta</a:t>
            </a:r>
            <a:endParaRPr lang="en-US" sz="1600" b="0" u="none" strike="noStrike">
              <a:solidFill>
                <a:srgbClr val="000000"/>
              </a:solidFill>
              <a:effectLst/>
              <a:uFillTx/>
              <a:latin typeface="Arial"/>
            </a:endParaRPr>
          </a:p>
        </p:txBody>
      </p:sp>
      <p:sp>
        <p:nvSpPr>
          <p:cNvPr id="497" name="Text 10"/>
          <p:cNvSpPr/>
          <p:nvPr/>
        </p:nvSpPr>
        <p:spPr>
          <a:xfrm>
            <a:off x="4609440" y="2670120"/>
            <a:ext cx="29725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net/http, crypto/ed25519, crypto/sha256 e encoding/json dão conta: zero dependências externas.</a:t>
            </a:r>
            <a:endParaRPr lang="en-US" sz="1350" b="0" u="none" strike="noStrike">
              <a:solidFill>
                <a:srgbClr val="000000"/>
              </a:solidFill>
              <a:effectLst/>
              <a:uFillTx/>
              <a:latin typeface="Arial"/>
            </a:endParaRPr>
          </a:p>
        </p:txBody>
      </p:sp>
      <p:sp>
        <p:nvSpPr>
          <p:cNvPr id="498" name="Shape 11"/>
          <p:cNvSpPr/>
          <p:nvPr/>
        </p:nvSpPr>
        <p:spPr>
          <a:xfrm>
            <a:off x="8158320" y="1645920"/>
            <a:ext cx="3484440" cy="2102760"/>
          </a:xfrm>
          <a:prstGeom prst="roundRect">
            <a:avLst>
              <a:gd name="adj" fmla="val 3478"/>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9" name="Shape 12"/>
          <p:cNvSpPr/>
          <p:nvPr/>
        </p:nvSpPr>
        <p:spPr>
          <a:xfrm>
            <a:off x="8414280" y="1901880"/>
            <a:ext cx="639720" cy="6397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00" name="Image 2" descr="preencoded.png"/>
          <p:cNvPicPr/>
          <p:nvPr/>
        </p:nvPicPr>
        <p:blipFill>
          <a:blip r:embed="rId3"/>
          <a:stretch/>
        </p:blipFill>
        <p:spPr>
          <a:xfrm>
            <a:off x="8568000" y="2055600"/>
            <a:ext cx="332640" cy="332640"/>
          </a:xfrm>
          <a:prstGeom prst="rect">
            <a:avLst/>
          </a:prstGeom>
          <a:noFill/>
          <a:ln w="0">
            <a:noFill/>
          </a:ln>
        </p:spPr>
      </p:pic>
      <p:sp>
        <p:nvSpPr>
          <p:cNvPr id="501" name="Text 13"/>
          <p:cNvSpPr/>
          <p:nvPr/>
        </p:nvSpPr>
        <p:spPr>
          <a:xfrm>
            <a:off x="9209880" y="1865520"/>
            <a:ext cx="220428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Um único binário estático</a:t>
            </a:r>
            <a:endParaRPr lang="en-US" sz="1600" b="0" u="none" strike="noStrike">
              <a:solidFill>
                <a:srgbClr val="000000"/>
              </a:solidFill>
              <a:effectLst/>
              <a:uFillTx/>
              <a:latin typeface="Arial"/>
            </a:endParaRPr>
          </a:p>
        </p:txBody>
      </p:sp>
      <p:sp>
        <p:nvSpPr>
          <p:cNvPr id="502" name="Text 14"/>
          <p:cNvSpPr/>
          <p:nvPr/>
        </p:nvSpPr>
        <p:spPr>
          <a:xfrm>
            <a:off x="8414280" y="2670120"/>
            <a:ext cx="29725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go build gera o nó. A imagem Docker é Alpine mais dois binários.</a:t>
            </a:r>
            <a:endParaRPr lang="en-US" sz="1350" b="0" u="none" strike="noStrike">
              <a:solidFill>
                <a:srgbClr val="000000"/>
              </a:solidFill>
              <a:effectLst/>
              <a:uFillTx/>
              <a:latin typeface="Arial"/>
            </a:endParaRPr>
          </a:p>
        </p:txBody>
      </p:sp>
      <p:sp>
        <p:nvSpPr>
          <p:cNvPr id="503" name="Shape 15"/>
          <p:cNvSpPr/>
          <p:nvPr/>
        </p:nvSpPr>
        <p:spPr>
          <a:xfrm>
            <a:off x="548640" y="4023360"/>
            <a:ext cx="3484440" cy="2102760"/>
          </a:xfrm>
          <a:prstGeom prst="roundRect">
            <a:avLst>
              <a:gd name="adj" fmla="val 3478"/>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4" name="Shape 16"/>
          <p:cNvSpPr/>
          <p:nvPr/>
        </p:nvSpPr>
        <p:spPr>
          <a:xfrm>
            <a:off x="804600" y="4279320"/>
            <a:ext cx="639720" cy="6397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05" name="Image 3" descr="preencoded.png"/>
          <p:cNvPicPr/>
          <p:nvPr/>
        </p:nvPicPr>
        <p:blipFill>
          <a:blip r:embed="rId4"/>
          <a:stretch/>
        </p:blipFill>
        <p:spPr>
          <a:xfrm>
            <a:off x="958320" y="4433040"/>
            <a:ext cx="332640" cy="332640"/>
          </a:xfrm>
          <a:prstGeom prst="rect">
            <a:avLst/>
          </a:prstGeom>
          <a:noFill/>
          <a:ln w="0">
            <a:noFill/>
          </a:ln>
        </p:spPr>
      </p:pic>
      <p:sp>
        <p:nvSpPr>
          <p:cNvPr id="506" name="Text 17"/>
          <p:cNvSpPr/>
          <p:nvPr/>
        </p:nvSpPr>
        <p:spPr>
          <a:xfrm>
            <a:off x="1600200" y="4242960"/>
            <a:ext cx="220428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Concorrência segura</a:t>
            </a:r>
            <a:endParaRPr lang="en-US" sz="1600" b="0" u="none" strike="noStrike">
              <a:solidFill>
                <a:srgbClr val="000000"/>
              </a:solidFill>
              <a:effectLst/>
              <a:uFillTx/>
              <a:latin typeface="Arial"/>
            </a:endParaRPr>
          </a:p>
        </p:txBody>
      </p:sp>
      <p:sp>
        <p:nvSpPr>
          <p:cNvPr id="507" name="Text 18"/>
          <p:cNvSpPr/>
          <p:nvPr/>
        </p:nvSpPr>
        <p:spPr>
          <a:xfrm>
            <a:off x="804600" y="5047560"/>
            <a:ext cx="29725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Uma goroutine por requisição HTTP, um RWMutex protegendo a cadeia e o detector de corridas nos testes.</a:t>
            </a:r>
            <a:endParaRPr lang="en-US" sz="1350" b="0" u="none" strike="noStrike">
              <a:solidFill>
                <a:srgbClr val="000000"/>
              </a:solidFill>
              <a:effectLst/>
              <a:uFillTx/>
              <a:latin typeface="Arial"/>
            </a:endParaRPr>
          </a:p>
        </p:txBody>
      </p:sp>
      <p:sp>
        <p:nvSpPr>
          <p:cNvPr id="508" name="Shape 19"/>
          <p:cNvSpPr/>
          <p:nvPr/>
        </p:nvSpPr>
        <p:spPr>
          <a:xfrm>
            <a:off x="4353480" y="4023360"/>
            <a:ext cx="3484440" cy="2102760"/>
          </a:xfrm>
          <a:prstGeom prst="roundRect">
            <a:avLst>
              <a:gd name="adj" fmla="val 3478"/>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9" name="Shape 20"/>
          <p:cNvSpPr/>
          <p:nvPr/>
        </p:nvSpPr>
        <p:spPr>
          <a:xfrm>
            <a:off x="4609440" y="4279320"/>
            <a:ext cx="639720" cy="6397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10" name="Image 4" descr="preencoded.png"/>
          <p:cNvPicPr/>
          <p:nvPr/>
        </p:nvPicPr>
        <p:blipFill>
          <a:blip r:embed="rId5"/>
          <a:stretch/>
        </p:blipFill>
        <p:spPr>
          <a:xfrm>
            <a:off x="4763160" y="4433040"/>
            <a:ext cx="332640" cy="332640"/>
          </a:xfrm>
          <a:prstGeom prst="rect">
            <a:avLst/>
          </a:prstGeom>
          <a:noFill/>
          <a:ln w="0">
            <a:noFill/>
          </a:ln>
        </p:spPr>
      </p:pic>
      <p:sp>
        <p:nvSpPr>
          <p:cNvPr id="511" name="Text 21"/>
          <p:cNvSpPr/>
          <p:nvPr/>
        </p:nvSpPr>
        <p:spPr>
          <a:xfrm>
            <a:off x="5405040" y="4242960"/>
            <a:ext cx="220428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Testes embutidos</a:t>
            </a:r>
            <a:endParaRPr lang="en-US" sz="1600" b="0" u="none" strike="noStrike">
              <a:solidFill>
                <a:srgbClr val="000000"/>
              </a:solidFill>
              <a:effectLst/>
              <a:uFillTx/>
              <a:latin typeface="Arial"/>
            </a:endParaRPr>
          </a:p>
        </p:txBody>
      </p:sp>
      <p:sp>
        <p:nvSpPr>
          <p:cNvPr id="512" name="Text 22"/>
          <p:cNvSpPr/>
          <p:nvPr/>
        </p:nvSpPr>
        <p:spPr>
          <a:xfrm>
            <a:off x="4609440" y="5047560"/>
            <a:ext cx="29725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go test cobre o contrato, a cadeia e a API: 42 casos de teste, todos rodando com ‑race.</a:t>
            </a:r>
            <a:endParaRPr lang="en-US" sz="1350" b="0" u="none" strike="noStrike">
              <a:solidFill>
                <a:srgbClr val="000000"/>
              </a:solidFill>
              <a:effectLst/>
              <a:uFillTx/>
              <a:latin typeface="Arial"/>
            </a:endParaRPr>
          </a:p>
        </p:txBody>
      </p:sp>
      <p:sp>
        <p:nvSpPr>
          <p:cNvPr id="513" name="Shape 23"/>
          <p:cNvSpPr/>
          <p:nvPr/>
        </p:nvSpPr>
        <p:spPr>
          <a:xfrm>
            <a:off x="8158320" y="4023360"/>
            <a:ext cx="3484440" cy="2102760"/>
          </a:xfrm>
          <a:prstGeom prst="roundRect">
            <a:avLst>
              <a:gd name="adj" fmla="val 3478"/>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4" name="Shape 24"/>
          <p:cNvSpPr/>
          <p:nvPr/>
        </p:nvSpPr>
        <p:spPr>
          <a:xfrm>
            <a:off x="8414280" y="4279320"/>
            <a:ext cx="639720" cy="63972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15" name="Image 5" descr="preencoded.png"/>
          <p:cNvPicPr/>
          <p:nvPr/>
        </p:nvPicPr>
        <p:blipFill>
          <a:blip r:embed="rId6"/>
          <a:stretch/>
        </p:blipFill>
        <p:spPr>
          <a:xfrm>
            <a:off x="8568000" y="4433040"/>
            <a:ext cx="332640" cy="332640"/>
          </a:xfrm>
          <a:prstGeom prst="rect">
            <a:avLst/>
          </a:prstGeom>
          <a:noFill/>
          <a:ln w="0">
            <a:noFill/>
          </a:ln>
        </p:spPr>
      </p:pic>
      <p:sp>
        <p:nvSpPr>
          <p:cNvPr id="516" name="Text 25"/>
          <p:cNvSpPr/>
          <p:nvPr/>
        </p:nvSpPr>
        <p:spPr>
          <a:xfrm>
            <a:off x="9209880" y="4242960"/>
            <a:ext cx="2204280" cy="712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Onde blockchains são feitas</a:t>
            </a:r>
            <a:endParaRPr lang="en-US" sz="1600" b="0" u="none" strike="noStrike">
              <a:solidFill>
                <a:srgbClr val="000000"/>
              </a:solidFill>
              <a:effectLst/>
              <a:uFillTx/>
              <a:latin typeface="Arial"/>
            </a:endParaRPr>
          </a:p>
        </p:txBody>
      </p:sp>
      <p:sp>
        <p:nvSpPr>
          <p:cNvPr id="517" name="Text 26"/>
          <p:cNvSpPr/>
          <p:nvPr/>
        </p:nvSpPr>
        <p:spPr>
          <a:xfrm>
            <a:off x="8414280" y="5047560"/>
            <a:ext cx="29725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50" b="0" u="none" strike="noStrike">
                <a:solidFill>
                  <a:srgbClr val="5F6B76"/>
                </a:solidFill>
                <a:effectLst/>
                <a:uFillTx/>
                <a:latin typeface="Calibri"/>
                <a:ea typeface="Calibri"/>
              </a:rPr>
              <a:t>Hyperledger Fabric, go-ethereum, Cosmos SDK e CometBFT são escritos em Go. O Fabric roda chaincode em Go.</a:t>
            </a:r>
            <a:endParaRPr lang="en-US" sz="13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8"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05 · POR QUE GO</a:t>
            </a:r>
            <a:endParaRPr lang="en-US" sz="1100" b="0" u="none" strike="noStrike">
              <a:solidFill>
                <a:srgbClr val="000000"/>
              </a:solidFill>
              <a:effectLst/>
              <a:uFillTx/>
              <a:latin typeface="Arial"/>
            </a:endParaRPr>
          </a:p>
        </p:txBody>
      </p:sp>
      <p:sp>
        <p:nvSpPr>
          <p:cNvPr id="519"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O que o Go exigiu: determinismo</a:t>
            </a:r>
            <a:endParaRPr lang="en-US" sz="3200" b="0" u="none" strike="noStrike">
              <a:solidFill>
                <a:srgbClr val="000000"/>
              </a:solidFill>
              <a:effectLst/>
              <a:uFillTx/>
              <a:latin typeface="Arial"/>
            </a:endParaRPr>
          </a:p>
        </p:txBody>
      </p:sp>
      <p:sp>
        <p:nvSpPr>
          <p:cNvPr id="520"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18</a:t>
            </a:r>
            <a:endParaRPr lang="en-US" sz="1000" b="0" u="none" strike="noStrike">
              <a:solidFill>
                <a:srgbClr val="000000"/>
              </a:solidFill>
              <a:effectLst/>
              <a:uFillTx/>
              <a:latin typeface="Arial"/>
            </a:endParaRPr>
          </a:p>
        </p:txBody>
      </p:sp>
      <p:sp>
        <p:nvSpPr>
          <p:cNvPr id="521" name="Text 3"/>
          <p:cNvSpPr/>
          <p:nvPr/>
        </p:nvSpPr>
        <p:spPr>
          <a:xfrm>
            <a:off x="548640" y="1554480"/>
            <a:ext cx="626328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0" u="none" strike="noStrike">
                <a:solidFill>
                  <a:srgbClr val="5F6B76"/>
                </a:solidFill>
                <a:effectLst/>
                <a:uFillTx/>
                <a:latin typeface="Calibri"/>
                <a:ea typeface="Calibri"/>
              </a:rPr>
              <a:t>Todo nó precisa calcular exatamente o mesmo estado a partir das mesmas transações. O Go tem algumas armadilhas:</a:t>
            </a:r>
            <a:endParaRPr lang="en-US" sz="1500" b="0" u="none" strike="noStrike">
              <a:solidFill>
                <a:srgbClr val="000000"/>
              </a:solidFill>
              <a:effectLst/>
              <a:uFillTx/>
              <a:latin typeface="Arial"/>
            </a:endParaRPr>
          </a:p>
        </p:txBody>
      </p:sp>
      <p:sp>
        <p:nvSpPr>
          <p:cNvPr id="522" name="Shape 4"/>
          <p:cNvSpPr/>
          <p:nvPr/>
        </p:nvSpPr>
        <p:spPr>
          <a:xfrm>
            <a:off x="548640" y="2286000"/>
            <a:ext cx="566640" cy="566640"/>
          </a:xfrm>
          <a:prstGeom prst="ellipse">
            <a:avLst/>
          </a:prstGeom>
          <a:solidFill>
            <a:srgbClr val="3A434C"/>
          </a:solidFill>
          <a:ln w="9525">
            <a:solidFill>
              <a:srgbClr val="3A434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23" name="Image 0" descr="preencoded.png"/>
          <p:cNvPicPr/>
          <p:nvPr/>
        </p:nvPicPr>
        <p:blipFill>
          <a:blip r:embed="rId1"/>
          <a:stretch/>
        </p:blipFill>
        <p:spPr>
          <a:xfrm>
            <a:off x="684720" y="2422080"/>
            <a:ext cx="294480" cy="294480"/>
          </a:xfrm>
          <a:prstGeom prst="rect">
            <a:avLst/>
          </a:prstGeom>
          <a:noFill/>
          <a:ln w="0">
            <a:noFill/>
          </a:ln>
        </p:spPr>
      </p:pic>
      <p:sp>
        <p:nvSpPr>
          <p:cNvPr id="524" name="Text 5"/>
          <p:cNvSpPr/>
          <p:nvPr/>
        </p:nvSpPr>
        <p:spPr>
          <a:xfrm>
            <a:off x="1325880" y="2249280"/>
            <a:ext cx="553176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50" b="1" u="none" strike="noStrike">
                <a:solidFill>
                  <a:srgbClr val="1E2328"/>
                </a:solidFill>
                <a:effectLst/>
                <a:uFillTx/>
                <a:latin typeface="Calibri"/>
                <a:ea typeface="Calibri"/>
              </a:rPr>
              <a:t>A ordem de iteração de maps é aleatória</a:t>
            </a:r>
            <a:endParaRPr lang="en-US" sz="1550" b="0" u="none" strike="noStrike">
              <a:solidFill>
                <a:srgbClr val="000000"/>
              </a:solidFill>
              <a:effectLst/>
              <a:uFillTx/>
              <a:latin typeface="Arial"/>
            </a:endParaRPr>
          </a:p>
        </p:txBody>
      </p:sp>
      <p:sp>
        <p:nvSpPr>
          <p:cNvPr id="525" name="Text 6"/>
          <p:cNvSpPr/>
          <p:nvPr/>
        </p:nvSpPr>
        <p:spPr>
          <a:xfrm>
            <a:off x="1325880" y="2587680"/>
            <a:ext cx="55317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007D9C"/>
                </a:solidFill>
                <a:effectLst/>
                <a:uFillTx/>
                <a:latin typeface="Calibri"/>
                <a:ea typeface="Calibri"/>
              </a:rPr>
              <a:t>A execução da garantia segue a slice na ordem de penhor, nunca um map.</a:t>
            </a:r>
            <a:endParaRPr lang="en-US" sz="1400" b="0" u="none" strike="noStrike">
              <a:solidFill>
                <a:srgbClr val="000000"/>
              </a:solidFill>
              <a:effectLst/>
              <a:uFillTx/>
              <a:latin typeface="Arial"/>
            </a:endParaRPr>
          </a:p>
        </p:txBody>
      </p:sp>
      <p:sp>
        <p:nvSpPr>
          <p:cNvPr id="526" name="Shape 7"/>
          <p:cNvSpPr/>
          <p:nvPr/>
        </p:nvSpPr>
        <p:spPr>
          <a:xfrm>
            <a:off x="548640" y="3264480"/>
            <a:ext cx="566640" cy="566640"/>
          </a:xfrm>
          <a:prstGeom prst="ellipse">
            <a:avLst/>
          </a:prstGeom>
          <a:solidFill>
            <a:srgbClr val="3A434C"/>
          </a:solidFill>
          <a:ln w="9525">
            <a:solidFill>
              <a:srgbClr val="3A434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27" name="Image 1" descr="preencoded.png"/>
          <p:cNvPicPr/>
          <p:nvPr/>
        </p:nvPicPr>
        <p:blipFill>
          <a:blip r:embed="rId2"/>
          <a:stretch/>
        </p:blipFill>
        <p:spPr>
          <a:xfrm>
            <a:off x="684720" y="3400560"/>
            <a:ext cx="294480" cy="294480"/>
          </a:xfrm>
          <a:prstGeom prst="rect">
            <a:avLst/>
          </a:prstGeom>
          <a:noFill/>
          <a:ln w="0">
            <a:noFill/>
          </a:ln>
        </p:spPr>
      </p:pic>
      <p:sp>
        <p:nvSpPr>
          <p:cNvPr id="528" name="Text 8"/>
          <p:cNvSpPr/>
          <p:nvPr/>
        </p:nvSpPr>
        <p:spPr>
          <a:xfrm>
            <a:off x="1325880" y="3227760"/>
            <a:ext cx="553176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50" b="1" u="none" strike="noStrike">
                <a:solidFill>
                  <a:srgbClr val="1E2328"/>
                </a:solidFill>
                <a:effectLst/>
                <a:uFillTx/>
                <a:latin typeface="Calibri"/>
                <a:ea typeface="Calibri"/>
              </a:rPr>
              <a:t>time.Now() difere em cada nó</a:t>
            </a:r>
            <a:endParaRPr lang="en-US" sz="1550" b="0" u="none" strike="noStrike">
              <a:solidFill>
                <a:srgbClr val="000000"/>
              </a:solidFill>
              <a:effectLst/>
              <a:uFillTx/>
              <a:latin typeface="Arial"/>
            </a:endParaRPr>
          </a:p>
        </p:txBody>
      </p:sp>
      <p:sp>
        <p:nvSpPr>
          <p:cNvPr id="529" name="Text 9"/>
          <p:cNvSpPr/>
          <p:nvPr/>
        </p:nvSpPr>
        <p:spPr>
          <a:xfrm>
            <a:off x="1325880" y="3566160"/>
            <a:ext cx="55317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007D9C"/>
                </a:solidFill>
                <a:effectLst/>
                <a:uFillTx/>
                <a:latin typeface="Calibri"/>
                <a:ea typeface="Calibri"/>
              </a:rPr>
              <a:t>O Dispatch recebe o timestamp do bloco no lugar.</a:t>
            </a:r>
            <a:endParaRPr lang="en-US" sz="1400" b="0" u="none" strike="noStrike">
              <a:solidFill>
                <a:srgbClr val="000000"/>
              </a:solidFill>
              <a:effectLst/>
              <a:uFillTx/>
              <a:latin typeface="Arial"/>
            </a:endParaRPr>
          </a:p>
        </p:txBody>
      </p:sp>
      <p:sp>
        <p:nvSpPr>
          <p:cNvPr id="530" name="Shape 10"/>
          <p:cNvSpPr/>
          <p:nvPr/>
        </p:nvSpPr>
        <p:spPr>
          <a:xfrm>
            <a:off x="548640" y="4242960"/>
            <a:ext cx="566640" cy="566640"/>
          </a:xfrm>
          <a:prstGeom prst="ellipse">
            <a:avLst/>
          </a:prstGeom>
          <a:solidFill>
            <a:srgbClr val="3A434C"/>
          </a:solidFill>
          <a:ln w="9525">
            <a:solidFill>
              <a:srgbClr val="3A434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31" name="Image 2" descr="preencoded.png"/>
          <p:cNvPicPr/>
          <p:nvPr/>
        </p:nvPicPr>
        <p:blipFill>
          <a:blip r:embed="rId3"/>
          <a:stretch/>
        </p:blipFill>
        <p:spPr>
          <a:xfrm>
            <a:off x="684720" y="4379040"/>
            <a:ext cx="294480" cy="294480"/>
          </a:xfrm>
          <a:prstGeom prst="rect">
            <a:avLst/>
          </a:prstGeom>
          <a:noFill/>
          <a:ln w="0">
            <a:noFill/>
          </a:ln>
        </p:spPr>
      </p:pic>
      <p:sp>
        <p:nvSpPr>
          <p:cNvPr id="532" name="Text 11"/>
          <p:cNvSpPr/>
          <p:nvPr/>
        </p:nvSpPr>
        <p:spPr>
          <a:xfrm>
            <a:off x="1325880" y="4206240"/>
            <a:ext cx="553176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50" b="1" u="none" strike="noStrike">
                <a:solidFill>
                  <a:srgbClr val="1E2328"/>
                </a:solidFill>
                <a:effectLst/>
                <a:uFillTx/>
                <a:latin typeface="Calibri"/>
                <a:ea typeface="Calibri"/>
              </a:rPr>
              <a:t>Mensagens de erro do encoding/json mudam</a:t>
            </a:r>
            <a:endParaRPr lang="en-US" sz="1550" b="0" u="none" strike="noStrike">
              <a:solidFill>
                <a:srgbClr val="000000"/>
              </a:solidFill>
              <a:effectLst/>
              <a:uFillTx/>
              <a:latin typeface="Arial"/>
            </a:endParaRPr>
          </a:p>
        </p:txBody>
      </p:sp>
      <p:sp>
        <p:nvSpPr>
          <p:cNvPr id="533" name="Text 12"/>
          <p:cNvSpPr/>
          <p:nvPr/>
        </p:nvSpPr>
        <p:spPr>
          <a:xfrm>
            <a:off x="1325880" y="4544640"/>
            <a:ext cx="55317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007D9C"/>
                </a:solidFill>
                <a:effectLst/>
                <a:uFillTx/>
                <a:latin typeface="Calibri"/>
                <a:ea typeface="Calibri"/>
              </a:rPr>
              <a:t>Recibos usam mensagens de erro fixas, pois entram no hash.</a:t>
            </a:r>
            <a:endParaRPr lang="en-US" sz="1400" b="0" u="none" strike="noStrike">
              <a:solidFill>
                <a:srgbClr val="000000"/>
              </a:solidFill>
              <a:effectLst/>
              <a:uFillTx/>
              <a:latin typeface="Arial"/>
            </a:endParaRPr>
          </a:p>
        </p:txBody>
      </p:sp>
      <p:sp>
        <p:nvSpPr>
          <p:cNvPr id="534" name="Shape 13"/>
          <p:cNvSpPr/>
          <p:nvPr/>
        </p:nvSpPr>
        <p:spPr>
          <a:xfrm>
            <a:off x="548640" y="5221080"/>
            <a:ext cx="566640" cy="566640"/>
          </a:xfrm>
          <a:prstGeom prst="ellipse">
            <a:avLst/>
          </a:prstGeom>
          <a:solidFill>
            <a:srgbClr val="3A434C"/>
          </a:solidFill>
          <a:ln w="9525">
            <a:solidFill>
              <a:srgbClr val="3A434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35" name="Image 3" descr="preencoded.png"/>
          <p:cNvPicPr/>
          <p:nvPr/>
        </p:nvPicPr>
        <p:blipFill>
          <a:blip r:embed="rId4"/>
          <a:stretch/>
        </p:blipFill>
        <p:spPr>
          <a:xfrm>
            <a:off x="684720" y="5357160"/>
            <a:ext cx="294480" cy="294480"/>
          </a:xfrm>
          <a:prstGeom prst="rect">
            <a:avLst/>
          </a:prstGeom>
          <a:noFill/>
          <a:ln w="0">
            <a:noFill/>
          </a:ln>
        </p:spPr>
      </p:pic>
      <p:sp>
        <p:nvSpPr>
          <p:cNvPr id="536" name="Text 14"/>
          <p:cNvSpPr/>
          <p:nvPr/>
        </p:nvSpPr>
        <p:spPr>
          <a:xfrm>
            <a:off x="1325880" y="5184720"/>
            <a:ext cx="553176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50" b="1" u="none" strike="noStrike">
                <a:solidFill>
                  <a:srgbClr val="1E2328"/>
                </a:solidFill>
                <a:effectLst/>
                <a:uFillTx/>
                <a:latin typeface="Calibri"/>
                <a:ea typeface="Calibri"/>
              </a:rPr>
              <a:t>Uma tx aplicada pela metade divergiria</a:t>
            </a:r>
            <a:endParaRPr lang="en-US" sz="1550" b="0" u="none" strike="noStrike">
              <a:solidFill>
                <a:srgbClr val="000000"/>
              </a:solidFill>
              <a:effectLst/>
              <a:uFillTx/>
              <a:latin typeface="Arial"/>
            </a:endParaRPr>
          </a:p>
        </p:txBody>
      </p:sp>
      <p:sp>
        <p:nvSpPr>
          <p:cNvPr id="537" name="Text 15"/>
          <p:cNvSpPr/>
          <p:nvPr/>
        </p:nvSpPr>
        <p:spPr>
          <a:xfrm>
            <a:off x="1325880" y="5523120"/>
            <a:ext cx="55317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0" u="none" strike="noStrike">
                <a:solidFill>
                  <a:srgbClr val="007D9C"/>
                </a:solidFill>
                <a:effectLst/>
                <a:uFillTx/>
                <a:latin typeface="Calibri"/>
                <a:ea typeface="Calibri"/>
              </a:rPr>
              <a:t>Cada tx roda numa cópia do estado, mantida só se for aceita.</a:t>
            </a:r>
            <a:endParaRPr lang="en-US" sz="1400" b="0" u="none" strike="noStrike">
              <a:solidFill>
                <a:srgbClr val="000000"/>
              </a:solidFill>
              <a:effectLst/>
              <a:uFillTx/>
              <a:latin typeface="Arial"/>
            </a:endParaRPr>
          </a:p>
        </p:txBody>
      </p:sp>
      <p:sp>
        <p:nvSpPr>
          <p:cNvPr id="538" name="Shape 16"/>
          <p:cNvSpPr/>
          <p:nvPr/>
        </p:nvSpPr>
        <p:spPr>
          <a:xfrm>
            <a:off x="7178040" y="1645920"/>
            <a:ext cx="4464720" cy="3062880"/>
          </a:xfrm>
          <a:prstGeom prst="roundRect">
            <a:avLst>
              <a:gd name="adj" fmla="val 2388"/>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9" name="Text 17"/>
          <p:cNvSpPr/>
          <p:nvPr/>
        </p:nvSpPr>
        <p:spPr>
          <a:xfrm>
            <a:off x="7452360" y="1828800"/>
            <a:ext cx="4007520" cy="2742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u="none" strike="noStrike">
                <a:solidFill>
                  <a:srgbClr val="8B96A1"/>
                </a:solidFill>
                <a:effectLst/>
                <a:uFillTx/>
                <a:latin typeface="Courier New"/>
                <a:ea typeface="Courier New"/>
              </a:rPr>
              <a:t>// liquidação, simplificada</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00ADD8"/>
                </a:solidFill>
                <a:effectLst/>
                <a:uFillTx/>
                <a:latin typeface="Courier New"/>
                <a:ea typeface="Courier New"/>
              </a:rPr>
              <a:t>for</a:t>
            </a:r>
            <a:r>
              <a:rPr lang="pt-BR" sz="1200" b="0" u="none" strike="noStrike">
                <a:solidFill>
                  <a:srgbClr val="FFFFFF"/>
                </a:solidFill>
                <a:effectLst/>
                <a:uFillTx/>
                <a:latin typeface="Courier New"/>
                <a:ea typeface="Courier New"/>
              </a:rPr>
              <a:t> _, id := </a:t>
            </a:r>
            <a:r>
              <a:rPr lang="pt-BR" sz="1200" b="0" u="none" strike="noStrike">
                <a:solidFill>
                  <a:srgbClr val="00ADD8"/>
                </a:solidFill>
                <a:effectLst/>
                <a:uFillTx/>
                <a:latin typeface="Courier New"/>
                <a:ea typeface="Courier New"/>
              </a:rPr>
              <a:t>range</a:t>
            </a:r>
            <a:r>
              <a:rPr lang="pt-BR" sz="1200" b="0" u="none" strike="noStrike">
                <a:solidFill>
                  <a:srgbClr val="FFFFFF"/>
                </a:solidFill>
                <a:effectLst/>
                <a:uFillTx/>
                <a:latin typeface="Courier New"/>
                <a:ea typeface="Courier New"/>
              </a:rPr>
              <a:t> r.Items {</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8B96A1"/>
                </a:solidFill>
                <a:effectLst/>
                <a:uFillTx/>
                <a:latin typeface="Courier New"/>
                <a:ea typeface="Courier New"/>
              </a:rPr>
              <a:t>  // ordem de penhor, nunca a do map</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00ADD8"/>
                </a:solidFill>
                <a:effectLst/>
                <a:uFillTx/>
                <a:latin typeface="Courier New"/>
                <a:ea typeface="Courier New"/>
              </a:rPr>
              <a:t>  if</a:t>
            </a:r>
            <a:r>
              <a:rPr lang="pt-BR" sz="1200" b="0" u="none" strike="noStrike">
                <a:solidFill>
                  <a:srgbClr val="FFFFFF"/>
                </a:solidFill>
                <a:effectLst/>
                <a:uFillTx/>
                <a:latin typeface="Courier New"/>
                <a:ea typeface="Courier New"/>
              </a:rPr>
              <a:t> shortfall == 0 {</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FFFFFF"/>
                </a:solidFill>
                <a:effectLst/>
                <a:uFillTx/>
                <a:latin typeface="Courier New"/>
                <a:ea typeface="Courier New"/>
              </a:rPr>
              <a:t>    returned = append(returned, id)</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00ADD8"/>
                </a:solidFill>
                <a:effectLst/>
                <a:uFillTx/>
                <a:latin typeface="Courier New"/>
                <a:ea typeface="Courier New"/>
              </a:rPr>
              <a:t>    continue</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FFFFFF"/>
                </a:solidFill>
                <a:effectLst/>
                <a:uFillTx/>
                <a:latin typeface="Courier New"/>
                <a:ea typeface="Courier New"/>
              </a:rPr>
              <a:t>  }</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FFFFFF"/>
                </a:solidFill>
                <a:effectLst/>
                <a:uFillTx/>
                <a:latin typeface="Courier New"/>
                <a:ea typeface="Courier New"/>
              </a:rPr>
              <a:t>  seized = append(seized, id)</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FFFFFF"/>
                </a:solidFill>
                <a:effectLst/>
                <a:uFillTx/>
                <a:latin typeface="Courier New"/>
                <a:ea typeface="Courier New"/>
              </a:rPr>
              <a:t>  shortfall -= min(shortfall, value(id))</a:t>
            </a:r>
            <a:endParaRPr lang="en-US" sz="1200" b="0" u="none" strike="noStrike">
              <a:solidFill>
                <a:srgbClr val="000000"/>
              </a:solidFill>
              <a:effectLst/>
              <a:uFillTx/>
              <a:latin typeface="Arial"/>
            </a:endParaRPr>
          </a:p>
          <a:p>
            <a:pPr defTabSz="914400">
              <a:lnSpc>
                <a:spcPct val="100000"/>
              </a:lnSpc>
              <a:tabLst>
                <a:tab pos="0" algn="l"/>
              </a:tabLst>
            </a:pPr>
            <a:r>
              <a:rPr lang="pt-BR" sz="1200" b="0" u="none" strike="noStrike">
                <a:solidFill>
                  <a:srgbClr val="FFFFFF"/>
                </a:solidFill>
                <a:effectLst/>
                <a:uFillTx/>
                <a:latin typeface="Courier New"/>
                <a:ea typeface="Courier New"/>
              </a:rPr>
              <a:t>}</a:t>
            </a:r>
            <a:endParaRPr lang="en-US" sz="1200" b="0" u="none" strike="noStrike">
              <a:solidFill>
                <a:srgbClr val="000000"/>
              </a:solidFill>
              <a:effectLst/>
              <a:uFillTx/>
              <a:latin typeface="Arial"/>
            </a:endParaRPr>
          </a:p>
        </p:txBody>
      </p:sp>
      <p:sp>
        <p:nvSpPr>
          <p:cNvPr id="540" name="Shape 18"/>
          <p:cNvSpPr/>
          <p:nvPr/>
        </p:nvSpPr>
        <p:spPr>
          <a:xfrm>
            <a:off x="7178040" y="4937760"/>
            <a:ext cx="4464720" cy="1188360"/>
          </a:xfrm>
          <a:prstGeom prst="roundRect">
            <a:avLst>
              <a:gd name="adj" fmla="val 6154"/>
            </a:avLst>
          </a:prstGeom>
          <a:solidFill>
            <a:srgbClr val="E3F6FB"/>
          </a:solidFill>
          <a:ln w="9525">
            <a:solidFill>
              <a:srgbClr val="E3F6F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1" name="Text 19"/>
          <p:cNvSpPr/>
          <p:nvPr/>
        </p:nvSpPr>
        <p:spPr>
          <a:xfrm>
            <a:off x="7406640" y="5047560"/>
            <a:ext cx="400752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400" b="1" u="none" strike="noStrike">
                <a:solidFill>
                  <a:srgbClr val="1E2328"/>
                </a:solidFill>
                <a:effectLst/>
                <a:uFillTx/>
                <a:latin typeface="Calibri"/>
                <a:ea typeface="Calibri"/>
              </a:rPr>
              <a:t>Verificado, não suposto: </a:t>
            </a:r>
            <a:r>
              <a:rPr lang="pt-BR" sz="1400" b="0" u="none" strike="noStrike">
                <a:solidFill>
                  <a:srgbClr val="1E2328"/>
                </a:solidFill>
                <a:effectLst/>
                <a:uFillTx/>
                <a:latin typeface="Calibri"/>
                <a:ea typeface="Calibri"/>
              </a:rPr>
              <a:t>cada bloco registra um hash do estado, e um nó reiniciado precisa reproduzir cada um, ou se recusa a iniciar.</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2"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06 · COMPLEMENTOS</a:t>
            </a:r>
            <a:endParaRPr lang="en-US" sz="1100" b="0" u="none" strike="noStrike">
              <a:solidFill>
                <a:srgbClr val="000000"/>
              </a:solidFill>
              <a:effectLst/>
              <a:uFillTx/>
              <a:latin typeface="Arial"/>
            </a:endParaRPr>
          </a:p>
        </p:txBody>
      </p:sp>
      <p:sp>
        <p:nvSpPr>
          <p:cNvPr id="543"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O que fica on-chain e o que fica fora</a:t>
            </a:r>
            <a:endParaRPr lang="en-US" sz="3200" b="0" u="none" strike="noStrike">
              <a:solidFill>
                <a:srgbClr val="000000"/>
              </a:solidFill>
              <a:effectLst/>
              <a:uFillTx/>
              <a:latin typeface="Arial"/>
            </a:endParaRPr>
          </a:p>
        </p:txBody>
      </p:sp>
      <p:sp>
        <p:nvSpPr>
          <p:cNvPr id="544"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19</a:t>
            </a:r>
            <a:endParaRPr lang="en-US" sz="1000" b="0" u="none" strike="noStrike">
              <a:solidFill>
                <a:srgbClr val="000000"/>
              </a:solidFill>
              <a:effectLst/>
              <a:uFillTx/>
              <a:latin typeface="Arial"/>
            </a:endParaRPr>
          </a:p>
        </p:txBody>
      </p:sp>
      <p:sp>
        <p:nvSpPr>
          <p:cNvPr id="545" name="Shape 3"/>
          <p:cNvSpPr/>
          <p:nvPr/>
        </p:nvSpPr>
        <p:spPr>
          <a:xfrm>
            <a:off x="548640" y="1645920"/>
            <a:ext cx="5350320" cy="3657240"/>
          </a:xfrm>
          <a:prstGeom prst="roundRect">
            <a:avLst>
              <a:gd name="adj" fmla="val 2000"/>
            </a:avLst>
          </a:prstGeom>
          <a:solidFill>
            <a:srgbClr val="E3F6FB"/>
          </a:solidFill>
          <a:ln w="9525">
            <a:solidFill>
              <a:srgbClr val="E3F6FB"/>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6" name="Shape 4"/>
          <p:cNvSpPr/>
          <p:nvPr/>
        </p:nvSpPr>
        <p:spPr>
          <a:xfrm>
            <a:off x="822960" y="1847160"/>
            <a:ext cx="621360" cy="6213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47" name="Image 0" descr="preencoded.png"/>
          <p:cNvPicPr/>
          <p:nvPr/>
        </p:nvPicPr>
        <p:blipFill>
          <a:blip r:embed="rId1"/>
          <a:stretch/>
        </p:blipFill>
        <p:spPr>
          <a:xfrm>
            <a:off x="972360" y="1996200"/>
            <a:ext cx="322920" cy="322920"/>
          </a:xfrm>
          <a:prstGeom prst="rect">
            <a:avLst/>
          </a:prstGeom>
          <a:noFill/>
          <a:ln w="0">
            <a:noFill/>
          </a:ln>
        </p:spPr>
      </p:pic>
      <p:sp>
        <p:nvSpPr>
          <p:cNvPr id="548" name="Text 5"/>
          <p:cNvSpPr/>
          <p:nvPr/>
        </p:nvSpPr>
        <p:spPr>
          <a:xfrm>
            <a:off x="1600200" y="1810440"/>
            <a:ext cx="40701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On-chain</a:t>
            </a:r>
            <a:endParaRPr lang="en-US" sz="1900" b="0" u="none" strike="noStrike">
              <a:solidFill>
                <a:srgbClr val="000000"/>
              </a:solidFill>
              <a:effectLst/>
              <a:uFillTx/>
              <a:latin typeface="Arial"/>
            </a:endParaRPr>
          </a:p>
        </p:txBody>
      </p:sp>
      <p:sp>
        <p:nvSpPr>
          <p:cNvPr id="549" name="Text 6"/>
          <p:cNvSpPr/>
          <p:nvPr/>
        </p:nvSpPr>
        <p:spPr>
          <a:xfrm>
            <a:off x="1600200" y="2176200"/>
            <a:ext cx="4070160" cy="29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i="1" u="none" strike="noStrike">
                <a:solidFill>
                  <a:srgbClr val="5F6B76"/>
                </a:solidFill>
                <a:effectLst/>
                <a:uFillTx/>
                <a:latin typeface="Calibri"/>
                <a:ea typeface="Calibri"/>
              </a:rPr>
              <a:t>o que várias partes precisam acordar</a:t>
            </a:r>
            <a:endParaRPr lang="en-US" sz="1300" b="0" u="none" strike="noStrike">
              <a:solidFill>
                <a:srgbClr val="000000"/>
              </a:solidFill>
              <a:effectLst/>
              <a:uFillTx/>
              <a:latin typeface="Arial"/>
            </a:endParaRPr>
          </a:p>
        </p:txBody>
      </p:sp>
      <p:sp>
        <p:nvSpPr>
          <p:cNvPr id="550" name="Text 7"/>
          <p:cNvSpPr/>
          <p:nvPr/>
        </p:nvSpPr>
        <p:spPr>
          <a:xfrm>
            <a:off x="822960" y="2697480"/>
            <a:ext cx="4801680" cy="2514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Saldos: quem detém cada carro, item e unidade de depósito</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Registro de ativos: tipo, diária, garantia ou valor, alugado, dono</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Locações: locatário, datas, depósito bloqueado, itens, status</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Eventos de liquidação: valores pagos, multa, danos, confiscos</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Hashes dos laudos de retirada e devolução</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Atribuição de papéis: registrador e vistoriador</a:t>
            </a:r>
            <a:endParaRPr lang="en-US" sz="1350" b="0" u="none" strike="noStrike">
              <a:solidFill>
                <a:srgbClr val="000000"/>
              </a:solidFill>
              <a:effectLst/>
              <a:uFillTx/>
              <a:latin typeface="Arial"/>
            </a:endParaRPr>
          </a:p>
        </p:txBody>
      </p:sp>
      <p:sp>
        <p:nvSpPr>
          <p:cNvPr id="551" name="Shape 8"/>
          <p:cNvSpPr/>
          <p:nvPr/>
        </p:nvSpPr>
        <p:spPr>
          <a:xfrm>
            <a:off x="6292440" y="1645920"/>
            <a:ext cx="5350320" cy="3657240"/>
          </a:xfrm>
          <a:prstGeom prst="roundRect">
            <a:avLst>
              <a:gd name="adj" fmla="val 2000"/>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2" name="Shape 9"/>
          <p:cNvSpPr/>
          <p:nvPr/>
        </p:nvSpPr>
        <p:spPr>
          <a:xfrm>
            <a:off x="6566760" y="1847160"/>
            <a:ext cx="621360" cy="621360"/>
          </a:xfrm>
          <a:prstGeom prst="ellipse">
            <a:avLst/>
          </a:prstGeom>
          <a:solidFill>
            <a:srgbClr val="3A434C"/>
          </a:solidFill>
          <a:ln w="9525">
            <a:solidFill>
              <a:srgbClr val="3A434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53" name="Image 1" descr="preencoded.png"/>
          <p:cNvPicPr/>
          <p:nvPr/>
        </p:nvPicPr>
        <p:blipFill>
          <a:blip r:embed="rId2"/>
          <a:stretch/>
        </p:blipFill>
        <p:spPr>
          <a:xfrm>
            <a:off x="6716160" y="1996200"/>
            <a:ext cx="322920" cy="322920"/>
          </a:xfrm>
          <a:prstGeom prst="rect">
            <a:avLst/>
          </a:prstGeom>
          <a:noFill/>
          <a:ln w="0">
            <a:noFill/>
          </a:ln>
        </p:spPr>
      </p:pic>
      <p:sp>
        <p:nvSpPr>
          <p:cNvPr id="554" name="Text 10"/>
          <p:cNvSpPr/>
          <p:nvPr/>
        </p:nvSpPr>
        <p:spPr>
          <a:xfrm>
            <a:off x="7344000" y="1810440"/>
            <a:ext cx="40701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900" b="1" u="none" strike="noStrike">
                <a:solidFill>
                  <a:srgbClr val="1E2328"/>
                </a:solidFill>
                <a:effectLst/>
                <a:uFillTx/>
                <a:latin typeface="Arial"/>
                <a:ea typeface="Arial"/>
              </a:rPr>
              <a:t>Off-chain</a:t>
            </a:r>
            <a:endParaRPr lang="en-US" sz="1900" b="0" u="none" strike="noStrike">
              <a:solidFill>
                <a:srgbClr val="000000"/>
              </a:solidFill>
              <a:effectLst/>
              <a:uFillTx/>
              <a:latin typeface="Arial"/>
            </a:endParaRPr>
          </a:p>
        </p:txBody>
      </p:sp>
      <p:sp>
        <p:nvSpPr>
          <p:cNvPr id="555" name="Text 11"/>
          <p:cNvSpPr/>
          <p:nvPr/>
        </p:nvSpPr>
        <p:spPr>
          <a:xfrm>
            <a:off x="7344000" y="2176200"/>
            <a:ext cx="4070160" cy="29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i="1" u="none" strike="noStrike">
                <a:solidFill>
                  <a:srgbClr val="5F6B76"/>
                </a:solidFill>
                <a:effectLst/>
                <a:uFillTx/>
                <a:latin typeface="Calibri"/>
                <a:ea typeface="Calibri"/>
              </a:rPr>
              <a:t>dados grandes, privados ou mutáveis</a:t>
            </a:r>
            <a:endParaRPr lang="en-US" sz="1300" b="0" u="none" strike="noStrike">
              <a:solidFill>
                <a:srgbClr val="000000"/>
              </a:solidFill>
              <a:effectLst/>
              <a:uFillTx/>
              <a:latin typeface="Arial"/>
            </a:endParaRPr>
          </a:p>
        </p:txBody>
      </p:sp>
      <p:sp>
        <p:nvSpPr>
          <p:cNvPr id="556" name="Text 12"/>
          <p:cNvSpPr/>
          <p:nvPr/>
        </p:nvSpPr>
        <p:spPr>
          <a:xfrm>
            <a:off x="6566760" y="2697480"/>
            <a:ext cx="4801680" cy="2514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Dados pessoais: nome, documento, CNH (exclusão pela LGPD)</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Documentos do carro: chassi, placa, CRLV, seguro (hash on-chain)</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Fotos e laudos de vistoria (hash on-chain)</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Laudos de avaliação das garantias (hash on-chain)</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GPS e telemetria: muito volume, não servem à liquidação</a:t>
            </a:r>
            <a:endParaRPr lang="en-US" sz="1350" b="0" u="none" strike="noStrike">
              <a:solidFill>
                <a:srgbClr val="000000"/>
              </a:solidFill>
              <a:effectLst/>
              <a:uFillTx/>
              <a:latin typeface="Arial"/>
            </a:endParaRPr>
          </a:p>
          <a:p>
            <a:pPr marL="343080" indent="-343080" defTabSz="914400">
              <a:lnSpc>
                <a:spcPct val="100000"/>
              </a:lnSpc>
              <a:spcAft>
                <a:spcPts val="499"/>
              </a:spcAft>
              <a:buClr>
                <a:srgbClr val="1E2328"/>
              </a:buClr>
              <a:buFont typeface="Symbol" charset="2"/>
              <a:buChar char=""/>
            </a:pPr>
            <a:r>
              <a:rPr lang="pt-BR" sz="1350" b="0" u="none" strike="noStrike">
                <a:solidFill>
                  <a:srgbClr val="1E2328"/>
                </a:solidFill>
                <a:effectLst/>
                <a:uFillTx/>
                <a:latin typeface="Calibri"/>
                <a:ea typeface="Calibri"/>
              </a:rPr>
              <a:t>Pagamentos e transferências: só o equivalente em tokens vai on-chain</a:t>
            </a:r>
            <a:endParaRPr lang="en-US" sz="1350" b="0" u="none" strike="noStrike">
              <a:solidFill>
                <a:srgbClr val="000000"/>
              </a:solidFill>
              <a:effectLst/>
              <a:uFillTx/>
              <a:latin typeface="Arial"/>
            </a:endParaRPr>
          </a:p>
        </p:txBody>
      </p:sp>
      <p:sp>
        <p:nvSpPr>
          <p:cNvPr id="557" name="Shape 13"/>
          <p:cNvSpPr/>
          <p:nvPr/>
        </p:nvSpPr>
        <p:spPr>
          <a:xfrm>
            <a:off x="548640" y="5486400"/>
            <a:ext cx="11094120" cy="685440"/>
          </a:xfrm>
          <a:prstGeom prst="roundRect">
            <a:avLst>
              <a:gd name="adj" fmla="val 10667"/>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8" name="Text 14"/>
          <p:cNvSpPr/>
          <p:nvPr/>
        </p:nvSpPr>
        <p:spPr>
          <a:xfrm>
            <a:off x="822960" y="5486400"/>
            <a:ext cx="105454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400" b="1" u="none" strike="noStrike">
                <a:solidFill>
                  <a:srgbClr val="FFFFFF"/>
                </a:solidFill>
                <a:effectLst/>
                <a:uFillTx/>
                <a:latin typeface="Calibri"/>
                <a:ea typeface="Calibri"/>
              </a:rPr>
              <a:t>Um hash prova que o documento não mudou, não que ele é verdadeiro. </a:t>
            </a:r>
            <a:r>
              <a:rPr lang="pt-BR" sz="1400" b="0" u="none" strike="noStrike">
                <a:solidFill>
                  <a:srgbClr val="C9D1D9"/>
                </a:solidFill>
                <a:effectLst/>
                <a:uFillTx/>
                <a:latin typeface="Calibri"/>
                <a:ea typeface="Calibri"/>
              </a:rPr>
              <a:t>Por isso existem registrador e vistoriador. Use salt no hash de dados pessoais.</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9"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06 · COMPLEMENTOS</a:t>
            </a:r>
            <a:endParaRPr lang="en-US" sz="1100" b="0" u="none" strike="noStrike">
              <a:solidFill>
                <a:srgbClr val="000000"/>
              </a:solidFill>
              <a:effectLst/>
              <a:uFillTx/>
              <a:latin typeface="Arial"/>
            </a:endParaRPr>
          </a:p>
        </p:txBody>
      </p:sp>
      <p:sp>
        <p:nvSpPr>
          <p:cNvPr id="560"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O app web: quatro abas</a:t>
            </a:r>
            <a:endParaRPr lang="en-US" sz="3200" b="0" u="none" strike="noStrike">
              <a:solidFill>
                <a:srgbClr val="000000"/>
              </a:solidFill>
              <a:effectLst/>
              <a:uFillTx/>
              <a:latin typeface="Arial"/>
            </a:endParaRPr>
          </a:p>
        </p:txBody>
      </p:sp>
      <p:sp>
        <p:nvSpPr>
          <p:cNvPr id="561"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20</a:t>
            </a:r>
            <a:endParaRPr lang="en-US" sz="1000" b="0" u="none" strike="noStrike">
              <a:solidFill>
                <a:srgbClr val="000000"/>
              </a:solidFill>
              <a:effectLst/>
              <a:uFillTx/>
              <a:latin typeface="Arial"/>
            </a:endParaRPr>
          </a:p>
        </p:txBody>
      </p:sp>
      <p:sp>
        <p:nvSpPr>
          <p:cNvPr id="562" name="Shape 3"/>
          <p:cNvSpPr/>
          <p:nvPr/>
        </p:nvSpPr>
        <p:spPr>
          <a:xfrm>
            <a:off x="548640" y="1645920"/>
            <a:ext cx="566640" cy="5666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63" name="Image 0" descr="preencoded.png"/>
          <p:cNvPicPr/>
          <p:nvPr/>
        </p:nvPicPr>
        <p:blipFill>
          <a:blip r:embed="rId1"/>
          <a:stretch/>
        </p:blipFill>
        <p:spPr>
          <a:xfrm>
            <a:off x="684720" y="1782000"/>
            <a:ext cx="294480" cy="294480"/>
          </a:xfrm>
          <a:prstGeom prst="rect">
            <a:avLst/>
          </a:prstGeom>
          <a:noFill/>
          <a:ln w="0">
            <a:noFill/>
          </a:ln>
        </p:spPr>
      </p:pic>
      <p:sp>
        <p:nvSpPr>
          <p:cNvPr id="564" name="Text 4"/>
          <p:cNvSpPr/>
          <p:nvPr/>
        </p:nvSpPr>
        <p:spPr>
          <a:xfrm>
            <a:off x="1325880" y="1609200"/>
            <a:ext cx="402300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Register (cadastro)</a:t>
            </a:r>
            <a:endParaRPr lang="en-US" sz="1600" b="0" u="none" strike="noStrike">
              <a:solidFill>
                <a:srgbClr val="000000"/>
              </a:solidFill>
              <a:effectLst/>
              <a:uFillTx/>
              <a:latin typeface="Arial"/>
            </a:endParaRPr>
          </a:p>
        </p:txBody>
      </p:sp>
      <p:sp>
        <p:nvSpPr>
          <p:cNvPr id="565" name="Text 5"/>
          <p:cNvSpPr/>
          <p:nvPr/>
        </p:nvSpPr>
        <p:spPr>
          <a:xfrm>
            <a:off x="1325880" y="1938600"/>
            <a:ext cx="4023000" cy="676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Cadastra carros e itens avaliados; emite tokens de depósito. Desabilitada sem o papel, com uma dica que o nomeia.</a:t>
            </a:r>
            <a:endParaRPr lang="en-US" sz="1300" b="0" u="none" strike="noStrike">
              <a:solidFill>
                <a:srgbClr val="000000"/>
              </a:solidFill>
              <a:effectLst/>
              <a:uFillTx/>
              <a:latin typeface="Arial"/>
            </a:endParaRPr>
          </a:p>
        </p:txBody>
      </p:sp>
      <p:sp>
        <p:nvSpPr>
          <p:cNvPr id="566" name="Shape 6"/>
          <p:cNvSpPr/>
          <p:nvPr/>
        </p:nvSpPr>
        <p:spPr>
          <a:xfrm>
            <a:off x="548640" y="2670120"/>
            <a:ext cx="566640" cy="5666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67" name="Image 1" descr="preencoded.png"/>
          <p:cNvPicPr/>
          <p:nvPr/>
        </p:nvPicPr>
        <p:blipFill>
          <a:blip r:embed="rId2"/>
          <a:stretch/>
        </p:blipFill>
        <p:spPr>
          <a:xfrm>
            <a:off x="684720" y="2806200"/>
            <a:ext cx="294480" cy="294480"/>
          </a:xfrm>
          <a:prstGeom prst="rect">
            <a:avLst/>
          </a:prstGeom>
          <a:noFill/>
          <a:ln w="0">
            <a:noFill/>
          </a:ln>
        </p:spPr>
      </p:pic>
      <p:sp>
        <p:nvSpPr>
          <p:cNvPr id="568" name="Text 7"/>
          <p:cNvSpPr/>
          <p:nvPr/>
        </p:nvSpPr>
        <p:spPr>
          <a:xfrm>
            <a:off x="1325880" y="2633400"/>
            <a:ext cx="402300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Fleet (frota)</a:t>
            </a:r>
            <a:endParaRPr lang="en-US" sz="1600" b="0" u="none" strike="noStrike">
              <a:solidFill>
                <a:srgbClr val="000000"/>
              </a:solidFill>
              <a:effectLst/>
              <a:uFillTx/>
              <a:latin typeface="Arial"/>
            </a:endParaRPr>
          </a:p>
        </p:txBody>
      </p:sp>
      <p:sp>
        <p:nvSpPr>
          <p:cNvPr id="569" name="Text 8"/>
          <p:cNvSpPr/>
          <p:nvPr/>
        </p:nvSpPr>
        <p:spPr>
          <a:xfrm>
            <a:off x="1325880" y="2962800"/>
            <a:ext cx="4023000" cy="676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Carros, detentores e saldos. Cada documento é rehasheado e conferido com a cadeia.</a:t>
            </a:r>
            <a:endParaRPr lang="en-US" sz="1300" b="0" u="none" strike="noStrike">
              <a:solidFill>
                <a:srgbClr val="000000"/>
              </a:solidFill>
              <a:effectLst/>
              <a:uFillTx/>
              <a:latin typeface="Arial"/>
            </a:endParaRPr>
          </a:p>
        </p:txBody>
      </p:sp>
      <p:sp>
        <p:nvSpPr>
          <p:cNvPr id="570" name="Shape 9"/>
          <p:cNvSpPr/>
          <p:nvPr/>
        </p:nvSpPr>
        <p:spPr>
          <a:xfrm>
            <a:off x="548640" y="3694320"/>
            <a:ext cx="566640" cy="5666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71" name="Image 2" descr="preencoded.png"/>
          <p:cNvPicPr/>
          <p:nvPr/>
        </p:nvPicPr>
        <p:blipFill>
          <a:blip r:embed="rId3"/>
          <a:stretch/>
        </p:blipFill>
        <p:spPr>
          <a:xfrm>
            <a:off x="684720" y="3830400"/>
            <a:ext cx="294480" cy="294480"/>
          </a:xfrm>
          <a:prstGeom prst="rect">
            <a:avLst/>
          </a:prstGeom>
          <a:noFill/>
          <a:ln w="0">
            <a:noFill/>
          </a:ln>
        </p:spPr>
      </p:pic>
      <p:sp>
        <p:nvSpPr>
          <p:cNvPr id="572" name="Text 10"/>
          <p:cNvSpPr/>
          <p:nvPr/>
        </p:nvSpPr>
        <p:spPr>
          <a:xfrm>
            <a:off x="1325880" y="3657600"/>
            <a:ext cx="402300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Rent (locação)</a:t>
            </a:r>
            <a:endParaRPr lang="en-US" sz="1600" b="0" u="none" strike="noStrike">
              <a:solidFill>
                <a:srgbClr val="000000"/>
              </a:solidFill>
              <a:effectLst/>
              <a:uFillTx/>
              <a:latin typeface="Arial"/>
            </a:endParaRPr>
          </a:p>
        </p:txBody>
      </p:sp>
      <p:sp>
        <p:nvSpPr>
          <p:cNvPr id="573" name="Text 11"/>
          <p:cNvSpPr/>
          <p:nvPr/>
        </p:nvSpPr>
        <p:spPr>
          <a:xfrm>
            <a:off x="1325880" y="3986640"/>
            <a:ext cx="4023000" cy="676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Inicia uma locação com checagem de cobertura ao vivo. O vistoriador liquida as devoluções.</a:t>
            </a:r>
            <a:endParaRPr lang="en-US" sz="1300" b="0" u="none" strike="noStrike">
              <a:solidFill>
                <a:srgbClr val="000000"/>
              </a:solidFill>
              <a:effectLst/>
              <a:uFillTx/>
              <a:latin typeface="Arial"/>
            </a:endParaRPr>
          </a:p>
        </p:txBody>
      </p:sp>
      <p:sp>
        <p:nvSpPr>
          <p:cNvPr id="574" name="Shape 12"/>
          <p:cNvSpPr/>
          <p:nvPr/>
        </p:nvSpPr>
        <p:spPr>
          <a:xfrm>
            <a:off x="548640" y="4718160"/>
            <a:ext cx="566640" cy="56664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75" name="Image 3" descr="preencoded.png"/>
          <p:cNvPicPr/>
          <p:nvPr/>
        </p:nvPicPr>
        <p:blipFill>
          <a:blip r:embed="rId4"/>
          <a:stretch/>
        </p:blipFill>
        <p:spPr>
          <a:xfrm>
            <a:off x="684720" y="4854240"/>
            <a:ext cx="294480" cy="294480"/>
          </a:xfrm>
          <a:prstGeom prst="rect">
            <a:avLst/>
          </a:prstGeom>
          <a:noFill/>
          <a:ln w="0">
            <a:noFill/>
          </a:ln>
        </p:spPr>
      </p:pic>
      <p:sp>
        <p:nvSpPr>
          <p:cNvPr id="576" name="Text 13"/>
          <p:cNvSpPr/>
          <p:nvPr/>
        </p:nvSpPr>
        <p:spPr>
          <a:xfrm>
            <a:off x="1325880" y="4681800"/>
            <a:ext cx="4023000" cy="328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600" b="1" u="none" strike="noStrike">
                <a:solidFill>
                  <a:srgbClr val="1E2328"/>
                </a:solidFill>
                <a:effectLst/>
                <a:uFillTx/>
                <a:latin typeface="Arial"/>
                <a:ea typeface="Arial"/>
              </a:rPr>
              <a:t>Chain Explorer</a:t>
            </a:r>
            <a:endParaRPr lang="en-US" sz="1600" b="0" u="none" strike="noStrike">
              <a:solidFill>
                <a:srgbClr val="000000"/>
              </a:solidFill>
              <a:effectLst/>
              <a:uFillTx/>
              <a:latin typeface="Arial"/>
            </a:endParaRPr>
          </a:p>
        </p:txBody>
      </p:sp>
      <p:sp>
        <p:nvSpPr>
          <p:cNvPr id="577" name="Text 14"/>
          <p:cNvSpPr/>
          <p:nvPr/>
        </p:nvSpPr>
        <p:spPr>
          <a:xfrm>
            <a:off x="1325880" y="5010840"/>
            <a:ext cx="4023000" cy="676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Blocos mais recentes com eventos decodificados. Transações rejeitadas aparecem em vermelho.</a:t>
            </a:r>
            <a:endParaRPr lang="en-US" sz="1300" b="0" u="none" strike="noStrike">
              <a:solidFill>
                <a:srgbClr val="000000"/>
              </a:solidFill>
              <a:effectLst/>
              <a:uFillTx/>
              <a:latin typeface="Arial"/>
            </a:endParaRPr>
          </a:p>
        </p:txBody>
      </p:sp>
      <p:sp>
        <p:nvSpPr>
          <p:cNvPr id="578" name="Text 15"/>
          <p:cNvSpPr/>
          <p:nvPr/>
        </p:nvSpPr>
        <p:spPr>
          <a:xfrm>
            <a:off x="548640" y="5806440"/>
            <a:ext cx="480024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i="1" u="none" strike="noStrike">
                <a:solidFill>
                  <a:srgbClr val="5F6B76"/>
                </a:solidFill>
                <a:effectLst/>
                <a:uFillTx/>
                <a:latin typeface="Calibri"/>
                <a:ea typeface="Calibri"/>
              </a:rPr>
              <a:t>O seletor de contas guarda pares de chaves Ed25519; o próprio navegador assina cada transação.</a:t>
            </a:r>
            <a:endParaRPr lang="en-US" sz="1300" b="0" u="none" strike="noStrike">
              <a:solidFill>
                <a:srgbClr val="000000"/>
              </a:solidFill>
              <a:effectLst/>
              <a:uFillTx/>
              <a:latin typeface="Arial"/>
            </a:endParaRPr>
          </a:p>
        </p:txBody>
      </p:sp>
      <p:sp>
        <p:nvSpPr>
          <p:cNvPr id="579" name="Shape 16"/>
          <p:cNvSpPr/>
          <p:nvPr/>
        </p:nvSpPr>
        <p:spPr>
          <a:xfrm>
            <a:off x="5550480" y="1618560"/>
            <a:ext cx="6119640" cy="1557720"/>
          </a:xfrm>
          <a:prstGeom prst="rect">
            <a:avLst/>
          </a:prstGeom>
          <a:solidFill>
            <a:srgbClr val="D5DBE1"/>
          </a:solidFill>
          <a:ln w="9525">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80" name="Image 4" descr="preencoded.png"/>
          <p:cNvPicPr/>
          <p:nvPr/>
        </p:nvPicPr>
        <p:blipFill>
          <a:blip r:embed="rId5"/>
          <a:stretch/>
        </p:blipFill>
        <p:spPr>
          <a:xfrm>
            <a:off x="5577840" y="1645920"/>
            <a:ext cx="6064920" cy="1502640"/>
          </a:xfrm>
          <a:prstGeom prst="rect">
            <a:avLst/>
          </a:prstGeom>
          <a:noFill/>
          <a:ln w="0">
            <a:noFill/>
          </a:ln>
        </p:spPr>
      </p:pic>
      <p:sp>
        <p:nvSpPr>
          <p:cNvPr id="581" name="Text 17"/>
          <p:cNvSpPr/>
          <p:nvPr/>
        </p:nvSpPr>
        <p:spPr>
          <a:xfrm>
            <a:off x="5577840" y="3240360"/>
            <a:ext cx="60649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i="1" u="none" strike="noStrike">
                <a:solidFill>
                  <a:srgbClr val="5F6B76"/>
                </a:solidFill>
                <a:effectLst/>
                <a:uFillTx/>
                <a:latin typeface="Calibri"/>
                <a:ea typeface="Calibri"/>
              </a:rPr>
              <a:t>Chain Explorer: o bloco #6 contém uma transação rejeitada.</a:t>
            </a:r>
            <a:endParaRPr lang="en-US" sz="1200" b="0" u="none" strike="noStrike">
              <a:solidFill>
                <a:srgbClr val="000000"/>
              </a:solidFill>
              <a:effectLst/>
              <a:uFillTx/>
              <a:latin typeface="Arial"/>
            </a:endParaRPr>
          </a:p>
        </p:txBody>
      </p:sp>
      <p:sp>
        <p:nvSpPr>
          <p:cNvPr id="582" name="Shape 18"/>
          <p:cNvSpPr/>
          <p:nvPr/>
        </p:nvSpPr>
        <p:spPr>
          <a:xfrm>
            <a:off x="5550480" y="3670200"/>
            <a:ext cx="6119640" cy="1951560"/>
          </a:xfrm>
          <a:prstGeom prst="rect">
            <a:avLst/>
          </a:prstGeom>
          <a:solidFill>
            <a:srgbClr val="D5DBE1"/>
          </a:solidFill>
          <a:ln w="9525">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83" name="Image 5" descr="preencoded.png"/>
          <p:cNvPicPr/>
          <p:nvPr/>
        </p:nvPicPr>
        <p:blipFill>
          <a:blip r:embed="rId6"/>
          <a:stretch/>
        </p:blipFill>
        <p:spPr>
          <a:xfrm>
            <a:off x="5577840" y="3697560"/>
            <a:ext cx="6064920" cy="1896840"/>
          </a:xfrm>
          <a:prstGeom prst="rect">
            <a:avLst/>
          </a:prstGeom>
          <a:noFill/>
          <a:ln w="0">
            <a:noFill/>
          </a:ln>
        </p:spPr>
      </p:pic>
      <p:sp>
        <p:nvSpPr>
          <p:cNvPr id="584" name="Text 19"/>
          <p:cNvSpPr/>
          <p:nvPr/>
        </p:nvSpPr>
        <p:spPr>
          <a:xfrm>
            <a:off x="5577840" y="5686200"/>
            <a:ext cx="60649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i="1" u="none" strike="noStrike">
                <a:solidFill>
                  <a:srgbClr val="5F6B76"/>
                </a:solidFill>
                <a:effectLst/>
                <a:uFillTx/>
                <a:latin typeface="Calibri"/>
                <a:ea typeface="Calibri"/>
              </a:rPr>
              <a:t>Fleet: o documento do item #2 foi editado após o registro.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5"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06 · COMPLEMENTOS</a:t>
            </a:r>
            <a:endParaRPr lang="en-US" sz="1100" b="0" u="none" strike="noStrike">
              <a:solidFill>
                <a:srgbClr val="000000"/>
              </a:solidFill>
              <a:effectLst/>
              <a:uFillTx/>
              <a:latin typeface="Arial"/>
            </a:endParaRPr>
          </a:p>
        </p:txBody>
      </p:sp>
      <p:sp>
        <p:nvSpPr>
          <p:cNvPr id="586"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Roteiro da demo</a:t>
            </a:r>
            <a:endParaRPr lang="en-US" sz="3200" b="0" u="none" strike="noStrike">
              <a:solidFill>
                <a:srgbClr val="000000"/>
              </a:solidFill>
              <a:effectLst/>
              <a:uFillTx/>
              <a:latin typeface="Arial"/>
            </a:endParaRPr>
          </a:p>
        </p:txBody>
      </p:sp>
      <p:sp>
        <p:nvSpPr>
          <p:cNvPr id="587"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21</a:t>
            </a:r>
            <a:endParaRPr lang="en-US" sz="1000" b="0" u="none" strike="noStrike">
              <a:solidFill>
                <a:srgbClr val="000000"/>
              </a:solidFill>
              <a:effectLst/>
              <a:uFillTx/>
              <a:latin typeface="Arial"/>
            </a:endParaRPr>
          </a:p>
        </p:txBody>
      </p:sp>
      <p:sp>
        <p:nvSpPr>
          <p:cNvPr id="588" name="Shape 3"/>
          <p:cNvSpPr/>
          <p:nvPr/>
        </p:nvSpPr>
        <p:spPr>
          <a:xfrm>
            <a:off x="548640" y="1645920"/>
            <a:ext cx="502560" cy="502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9" name="Text 4"/>
          <p:cNvSpPr/>
          <p:nvPr/>
        </p:nvSpPr>
        <p:spPr>
          <a:xfrm>
            <a:off x="548640" y="164592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500" b="1" u="none" strike="noStrike">
                <a:solidFill>
                  <a:srgbClr val="FFFFFF"/>
                </a:solidFill>
                <a:effectLst/>
                <a:uFillTx/>
                <a:latin typeface="Arial"/>
                <a:ea typeface="Arial"/>
              </a:rPr>
              <a:t>1</a:t>
            </a:r>
            <a:endParaRPr lang="en-US" sz="1500" b="0" u="none" strike="noStrike">
              <a:solidFill>
                <a:srgbClr val="000000"/>
              </a:solidFill>
              <a:effectLst/>
              <a:uFillTx/>
              <a:latin typeface="Arial"/>
            </a:endParaRPr>
          </a:p>
        </p:txBody>
      </p:sp>
      <p:sp>
        <p:nvSpPr>
          <p:cNvPr id="590" name="Text 5"/>
          <p:cNvSpPr/>
          <p:nvPr/>
        </p:nvSpPr>
        <p:spPr>
          <a:xfrm>
            <a:off x="1280160" y="1618560"/>
            <a:ext cx="5028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Arial"/>
                <a:ea typeface="Arial"/>
              </a:rPr>
              <a:t>Subir a cadeia</a:t>
            </a:r>
            <a:endParaRPr lang="en-US" sz="1500" b="0" u="none" strike="noStrike">
              <a:solidFill>
                <a:srgbClr val="000000"/>
              </a:solidFill>
              <a:effectLst/>
              <a:uFillTx/>
              <a:latin typeface="Arial"/>
            </a:endParaRPr>
          </a:p>
        </p:txBody>
      </p:sp>
      <p:sp>
        <p:nvSpPr>
          <p:cNvPr id="591" name="Text 6"/>
          <p:cNvSpPr/>
          <p:nvPr/>
        </p:nvSpPr>
        <p:spPr>
          <a:xfrm>
            <a:off x="1280160" y="1938600"/>
            <a:ext cx="50288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docker compose up --build: bloco gênese #0, e o seed gera os blocos 1 a 4.</a:t>
            </a:r>
            <a:endParaRPr lang="en-US" sz="1300" b="0" u="none" strike="noStrike">
              <a:solidFill>
                <a:srgbClr val="000000"/>
              </a:solidFill>
              <a:effectLst/>
              <a:uFillTx/>
              <a:latin typeface="Arial"/>
            </a:endParaRPr>
          </a:p>
        </p:txBody>
      </p:sp>
      <p:sp>
        <p:nvSpPr>
          <p:cNvPr id="592" name="Shape 7"/>
          <p:cNvSpPr/>
          <p:nvPr/>
        </p:nvSpPr>
        <p:spPr>
          <a:xfrm>
            <a:off x="548640" y="2560320"/>
            <a:ext cx="502560" cy="502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3" name="Text 8"/>
          <p:cNvSpPr/>
          <p:nvPr/>
        </p:nvSpPr>
        <p:spPr>
          <a:xfrm>
            <a:off x="548640" y="256032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500" b="1" u="none" strike="noStrike">
                <a:solidFill>
                  <a:srgbClr val="FFFFFF"/>
                </a:solidFill>
                <a:effectLst/>
                <a:uFillTx/>
                <a:latin typeface="Arial"/>
                <a:ea typeface="Arial"/>
              </a:rPr>
              <a:t>2</a:t>
            </a:r>
            <a:endParaRPr lang="en-US" sz="1500" b="0" u="none" strike="noStrike">
              <a:solidFill>
                <a:srgbClr val="000000"/>
              </a:solidFill>
              <a:effectLst/>
              <a:uFillTx/>
              <a:latin typeface="Arial"/>
            </a:endParaRPr>
          </a:p>
        </p:txBody>
      </p:sp>
      <p:sp>
        <p:nvSpPr>
          <p:cNvPr id="594" name="Text 9"/>
          <p:cNvSpPr/>
          <p:nvPr/>
        </p:nvSpPr>
        <p:spPr>
          <a:xfrm>
            <a:off x="1280160" y="2532960"/>
            <a:ext cx="5028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Arial"/>
                <a:ea typeface="Arial"/>
              </a:rPr>
              <a:t>Alugar como bob</a:t>
            </a:r>
            <a:endParaRPr lang="en-US" sz="1500" b="0" u="none" strike="noStrike">
              <a:solidFill>
                <a:srgbClr val="000000"/>
              </a:solidFill>
              <a:effectLst/>
              <a:uFillTx/>
              <a:latin typeface="Arial"/>
            </a:endParaRPr>
          </a:p>
        </p:txBody>
      </p:sp>
      <p:sp>
        <p:nvSpPr>
          <p:cNvPr id="595" name="Text 10"/>
          <p:cNvSpPr/>
          <p:nvPr/>
        </p:nvSpPr>
        <p:spPr>
          <a:xfrm>
            <a:off x="1280160" y="2853000"/>
            <a:ext cx="50288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Carro #1, 3 dias, 500 de depósito + relógio #2. O aviso mostra "Confirmed in block 5".</a:t>
            </a:r>
            <a:endParaRPr lang="en-US" sz="1300" b="0" u="none" strike="noStrike">
              <a:solidFill>
                <a:srgbClr val="000000"/>
              </a:solidFill>
              <a:effectLst/>
              <a:uFillTx/>
              <a:latin typeface="Arial"/>
            </a:endParaRPr>
          </a:p>
        </p:txBody>
      </p:sp>
      <p:sp>
        <p:nvSpPr>
          <p:cNvPr id="596" name="Shape 11"/>
          <p:cNvSpPr/>
          <p:nvPr/>
        </p:nvSpPr>
        <p:spPr>
          <a:xfrm>
            <a:off x="548640" y="3474720"/>
            <a:ext cx="502560" cy="502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7" name="Text 12"/>
          <p:cNvSpPr/>
          <p:nvPr/>
        </p:nvSpPr>
        <p:spPr>
          <a:xfrm>
            <a:off x="548640" y="347472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500" b="1" u="none" strike="noStrike">
                <a:solidFill>
                  <a:srgbClr val="FFFFFF"/>
                </a:solidFill>
                <a:effectLst/>
                <a:uFillTx/>
                <a:latin typeface="Arial"/>
                <a:ea typeface="Arial"/>
              </a:rPr>
              <a:t>3</a:t>
            </a:r>
            <a:endParaRPr lang="en-US" sz="1500" b="0" u="none" strike="noStrike">
              <a:solidFill>
                <a:srgbClr val="000000"/>
              </a:solidFill>
              <a:effectLst/>
              <a:uFillTx/>
              <a:latin typeface="Arial"/>
            </a:endParaRPr>
          </a:p>
        </p:txBody>
      </p:sp>
      <p:sp>
        <p:nvSpPr>
          <p:cNvPr id="598" name="Text 13"/>
          <p:cNvSpPr/>
          <p:nvPr/>
        </p:nvSpPr>
        <p:spPr>
          <a:xfrm>
            <a:off x="1280160" y="3447360"/>
            <a:ext cx="5028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Arial"/>
                <a:ea typeface="Arial"/>
              </a:rPr>
              <a:t>Mostrar a mudança de estado</a:t>
            </a:r>
            <a:endParaRPr lang="en-US" sz="1500" b="0" u="none" strike="noStrike">
              <a:solidFill>
                <a:srgbClr val="000000"/>
              </a:solidFill>
              <a:effectLst/>
              <a:uFillTx/>
              <a:latin typeface="Arial"/>
            </a:endParaRPr>
          </a:p>
        </p:txBody>
      </p:sp>
      <p:sp>
        <p:nvSpPr>
          <p:cNvPr id="599" name="Text 14"/>
          <p:cNvSpPr/>
          <p:nvPr/>
        </p:nvSpPr>
        <p:spPr>
          <a:xfrm>
            <a:off x="1280160" y="3767400"/>
            <a:ext cx="50288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Carro #1 com rented = true · bob 1000 → 500 · o escrow guarda 500.</a:t>
            </a:r>
            <a:endParaRPr lang="en-US" sz="1300" b="0" u="none" strike="noStrike">
              <a:solidFill>
                <a:srgbClr val="000000"/>
              </a:solidFill>
              <a:effectLst/>
              <a:uFillTx/>
              <a:latin typeface="Arial"/>
            </a:endParaRPr>
          </a:p>
        </p:txBody>
      </p:sp>
      <p:sp>
        <p:nvSpPr>
          <p:cNvPr id="600" name="Shape 15"/>
          <p:cNvSpPr/>
          <p:nvPr/>
        </p:nvSpPr>
        <p:spPr>
          <a:xfrm>
            <a:off x="548640" y="4389120"/>
            <a:ext cx="502560" cy="502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1" name="Text 16"/>
          <p:cNvSpPr/>
          <p:nvPr/>
        </p:nvSpPr>
        <p:spPr>
          <a:xfrm>
            <a:off x="548640" y="438912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500" b="1" u="none" strike="noStrike">
                <a:solidFill>
                  <a:srgbClr val="FFFFFF"/>
                </a:solidFill>
                <a:effectLst/>
                <a:uFillTx/>
                <a:latin typeface="Arial"/>
                <a:ea typeface="Arial"/>
              </a:rPr>
              <a:t>4</a:t>
            </a:r>
            <a:endParaRPr lang="en-US" sz="1500" b="0" u="none" strike="noStrike">
              <a:solidFill>
                <a:srgbClr val="000000"/>
              </a:solidFill>
              <a:effectLst/>
              <a:uFillTx/>
              <a:latin typeface="Arial"/>
            </a:endParaRPr>
          </a:p>
        </p:txBody>
      </p:sp>
      <p:sp>
        <p:nvSpPr>
          <p:cNvPr id="602" name="Text 17"/>
          <p:cNvSpPr/>
          <p:nvPr/>
        </p:nvSpPr>
        <p:spPr>
          <a:xfrm>
            <a:off x="1280160" y="4361760"/>
            <a:ext cx="5028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Arial"/>
                <a:ea typeface="Arial"/>
              </a:rPr>
              <a:t>Operação inválida</a:t>
            </a:r>
            <a:endParaRPr lang="en-US" sz="1500" b="0" u="none" strike="noStrike">
              <a:solidFill>
                <a:srgbClr val="000000"/>
              </a:solidFill>
              <a:effectLst/>
              <a:uFillTx/>
              <a:latin typeface="Arial"/>
            </a:endParaRPr>
          </a:p>
        </p:txBody>
      </p:sp>
      <p:sp>
        <p:nvSpPr>
          <p:cNvPr id="603" name="Text 18"/>
          <p:cNvSpPr/>
          <p:nvPr/>
        </p:nvSpPr>
        <p:spPr>
          <a:xfrm>
            <a:off x="1280160" y="4681800"/>
            <a:ext cx="50288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Realugar o carro #1, ou o carro #3 com 50 tokens: entra no bloco com erro, estado inalterado.</a:t>
            </a:r>
            <a:endParaRPr lang="en-US" sz="1300" b="0" u="none" strike="noStrike">
              <a:solidFill>
                <a:srgbClr val="000000"/>
              </a:solidFill>
              <a:effectLst/>
              <a:uFillTx/>
              <a:latin typeface="Arial"/>
            </a:endParaRPr>
          </a:p>
        </p:txBody>
      </p:sp>
      <p:sp>
        <p:nvSpPr>
          <p:cNvPr id="604" name="Shape 19"/>
          <p:cNvSpPr/>
          <p:nvPr/>
        </p:nvSpPr>
        <p:spPr>
          <a:xfrm>
            <a:off x="548640" y="5303520"/>
            <a:ext cx="502560" cy="502560"/>
          </a:xfrm>
          <a:prstGeom prst="ellipse">
            <a:avLst/>
          </a:prstGeom>
          <a:solidFill>
            <a:srgbClr val="007D9C"/>
          </a:solidFill>
          <a:ln w="9525">
            <a:solidFill>
              <a:srgbClr val="007D9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5" name="Text 20"/>
          <p:cNvSpPr/>
          <p:nvPr/>
        </p:nvSpPr>
        <p:spPr>
          <a:xfrm>
            <a:off x="548640" y="5303520"/>
            <a:ext cx="502560" cy="5025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pt-BR" sz="1500" b="1" u="none" strike="noStrike">
                <a:solidFill>
                  <a:srgbClr val="FFFFFF"/>
                </a:solidFill>
                <a:effectLst/>
                <a:uFillTx/>
                <a:latin typeface="Arial"/>
                <a:ea typeface="Arial"/>
              </a:rPr>
              <a:t>5</a:t>
            </a:r>
            <a:endParaRPr lang="en-US" sz="1500" b="0" u="none" strike="noStrike">
              <a:solidFill>
                <a:srgbClr val="000000"/>
              </a:solidFill>
              <a:effectLst/>
              <a:uFillTx/>
              <a:latin typeface="Arial"/>
            </a:endParaRPr>
          </a:p>
        </p:txBody>
      </p:sp>
      <p:sp>
        <p:nvSpPr>
          <p:cNvPr id="606" name="Text 21"/>
          <p:cNvSpPr/>
          <p:nvPr/>
        </p:nvSpPr>
        <p:spPr>
          <a:xfrm>
            <a:off x="1280160" y="5276160"/>
            <a:ext cx="5028840" cy="310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500" b="1" u="none" strike="noStrike">
                <a:solidFill>
                  <a:srgbClr val="1E2328"/>
                </a:solidFill>
                <a:effectLst/>
                <a:uFillTx/>
                <a:latin typeface="Arial"/>
                <a:ea typeface="Arial"/>
              </a:rPr>
              <a:t>Operação sem permissão</a:t>
            </a:r>
            <a:endParaRPr lang="en-US" sz="1500" b="0" u="none" strike="noStrike">
              <a:solidFill>
                <a:srgbClr val="000000"/>
              </a:solidFill>
              <a:effectLst/>
              <a:uFillTx/>
              <a:latin typeface="Arial"/>
            </a:endParaRPr>
          </a:p>
        </p:txBody>
      </p:sp>
      <p:sp>
        <p:nvSpPr>
          <p:cNvPr id="607" name="Text 22"/>
          <p:cNvSpPr/>
          <p:nvPr/>
        </p:nvSpPr>
        <p:spPr>
          <a:xfrm>
            <a:off x="1280160" y="5596200"/>
            <a:ext cx="50288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300" b="0" u="none" strike="noStrike">
                <a:solidFill>
                  <a:srgbClr val="5F6B76"/>
                </a:solidFill>
                <a:effectLst/>
                <a:uFillTx/>
                <a:latin typeface="Calibri"/>
                <a:ea typeface="Calibri"/>
              </a:rPr>
              <a:t>Assinatura inválida → HTTP 400, nunca entra. RegisterCar do bob → entra, com "missing role".</a:t>
            </a:r>
            <a:endParaRPr lang="en-US" sz="1300" b="0" u="none" strike="noStrike">
              <a:solidFill>
                <a:srgbClr val="000000"/>
              </a:solidFill>
              <a:effectLst/>
              <a:uFillTx/>
              <a:latin typeface="Arial"/>
            </a:endParaRPr>
          </a:p>
        </p:txBody>
      </p:sp>
      <p:sp>
        <p:nvSpPr>
          <p:cNvPr id="608" name="Shape 23"/>
          <p:cNvSpPr/>
          <p:nvPr/>
        </p:nvSpPr>
        <p:spPr>
          <a:xfrm>
            <a:off x="6556320" y="1618560"/>
            <a:ext cx="5113800" cy="4226040"/>
          </a:xfrm>
          <a:prstGeom prst="rect">
            <a:avLst/>
          </a:prstGeom>
          <a:solidFill>
            <a:srgbClr val="D5DBE1"/>
          </a:solidFill>
          <a:ln w="9525">
            <a:solidFill>
              <a:srgbClr val="D5DB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09" name="Image 0" descr="preencoded.png"/>
          <p:cNvPicPr/>
          <p:nvPr/>
        </p:nvPicPr>
        <p:blipFill>
          <a:blip r:embed="rId1"/>
          <a:stretch/>
        </p:blipFill>
        <p:spPr>
          <a:xfrm>
            <a:off x="6583680" y="1645920"/>
            <a:ext cx="5059080" cy="4170960"/>
          </a:xfrm>
          <a:prstGeom prst="rect">
            <a:avLst/>
          </a:prstGeom>
          <a:noFill/>
          <a:ln w="0">
            <a:noFill/>
          </a:ln>
        </p:spPr>
      </p:pic>
      <p:sp>
        <p:nvSpPr>
          <p:cNvPr id="610" name="Text 24"/>
          <p:cNvSpPr/>
          <p:nvPr/>
        </p:nvSpPr>
        <p:spPr>
          <a:xfrm>
            <a:off x="6583680" y="5908680"/>
            <a:ext cx="505908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0" i="1" u="none" strike="noStrike">
                <a:solidFill>
                  <a:srgbClr val="5F6B76"/>
                </a:solidFill>
                <a:effectLst/>
                <a:uFillTx/>
                <a:latin typeface="Calibri"/>
                <a:ea typeface="Calibri"/>
              </a:rPr>
              <a:t>Aba Rent como bob: carro #1 bloqueado e aviso antes de assinar.</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1"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06 · COMPLEMENTOS</a:t>
            </a:r>
            <a:endParaRPr lang="en-US" sz="1100" b="0" u="none" strike="noStrike">
              <a:solidFill>
                <a:srgbClr val="000000"/>
              </a:solidFill>
              <a:effectLst/>
              <a:uFillTx/>
              <a:latin typeface="Arial"/>
            </a:endParaRPr>
          </a:p>
        </p:txBody>
      </p:sp>
      <p:sp>
        <p:nvSpPr>
          <p:cNvPr id="612"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Como sabemos que funciona</a:t>
            </a:r>
            <a:endParaRPr lang="en-US" sz="3200" b="0" u="none" strike="noStrike">
              <a:solidFill>
                <a:srgbClr val="000000"/>
              </a:solidFill>
              <a:effectLst/>
              <a:uFillTx/>
              <a:latin typeface="Arial"/>
            </a:endParaRPr>
          </a:p>
        </p:txBody>
      </p:sp>
      <p:sp>
        <p:nvSpPr>
          <p:cNvPr id="613"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22</a:t>
            </a:r>
            <a:endParaRPr lang="en-US" sz="1000" b="0" u="none" strike="noStrike">
              <a:solidFill>
                <a:srgbClr val="000000"/>
              </a:solidFill>
              <a:effectLst/>
              <a:uFillTx/>
              <a:latin typeface="Arial"/>
            </a:endParaRPr>
          </a:p>
        </p:txBody>
      </p:sp>
      <p:sp>
        <p:nvSpPr>
          <p:cNvPr id="614" name="Shape 3"/>
          <p:cNvSpPr/>
          <p:nvPr/>
        </p:nvSpPr>
        <p:spPr>
          <a:xfrm>
            <a:off x="548640" y="1645920"/>
            <a:ext cx="3484440" cy="1325520"/>
          </a:xfrm>
          <a:prstGeom prst="roundRect">
            <a:avLst>
              <a:gd name="adj" fmla="val 5517"/>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5" name="Text 4"/>
          <p:cNvSpPr/>
          <p:nvPr/>
        </p:nvSpPr>
        <p:spPr>
          <a:xfrm>
            <a:off x="822960" y="1737360"/>
            <a:ext cx="1234080" cy="1142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4400" b="1" u="none" strike="noStrike">
                <a:solidFill>
                  <a:srgbClr val="00ADD8"/>
                </a:solidFill>
                <a:effectLst/>
                <a:uFillTx/>
                <a:latin typeface="Arial"/>
                <a:ea typeface="Arial"/>
              </a:rPr>
              <a:t>42</a:t>
            </a:r>
            <a:endParaRPr lang="en-US" sz="4400" b="0" u="none" strike="noStrike">
              <a:solidFill>
                <a:srgbClr val="000000"/>
              </a:solidFill>
              <a:effectLst/>
              <a:uFillTx/>
              <a:latin typeface="Arial"/>
            </a:endParaRPr>
          </a:p>
        </p:txBody>
      </p:sp>
      <p:sp>
        <p:nvSpPr>
          <p:cNvPr id="616" name="Text 5"/>
          <p:cNvSpPr/>
          <p:nvPr/>
        </p:nvSpPr>
        <p:spPr>
          <a:xfrm>
            <a:off x="2011680" y="1737360"/>
            <a:ext cx="1792800" cy="1142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400" b="0" u="none" strike="noStrike">
                <a:solidFill>
                  <a:srgbClr val="FFFFFF"/>
                </a:solidFill>
                <a:effectLst/>
                <a:uFillTx/>
                <a:latin typeface="Calibri"/>
                <a:ea typeface="Calibri"/>
              </a:rPr>
              <a:t>casos de teste passam, inclusive com o detector de corridas</a:t>
            </a:r>
            <a:endParaRPr lang="en-US" sz="1400" b="0" u="none" strike="noStrike">
              <a:solidFill>
                <a:srgbClr val="000000"/>
              </a:solidFill>
              <a:effectLst/>
              <a:uFillTx/>
              <a:latin typeface="Arial"/>
            </a:endParaRPr>
          </a:p>
        </p:txBody>
      </p:sp>
      <p:sp>
        <p:nvSpPr>
          <p:cNvPr id="617" name="Shape 6"/>
          <p:cNvSpPr/>
          <p:nvPr/>
        </p:nvSpPr>
        <p:spPr>
          <a:xfrm>
            <a:off x="4353480" y="1645920"/>
            <a:ext cx="3484440" cy="1325520"/>
          </a:xfrm>
          <a:prstGeom prst="roundRect">
            <a:avLst>
              <a:gd name="adj" fmla="val 5517"/>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8" name="Text 7"/>
          <p:cNvSpPr/>
          <p:nvPr/>
        </p:nvSpPr>
        <p:spPr>
          <a:xfrm>
            <a:off x="4627800" y="1737360"/>
            <a:ext cx="1234080" cy="1142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4400" b="1" u="none" strike="noStrike">
                <a:solidFill>
                  <a:srgbClr val="00ADD8"/>
                </a:solidFill>
                <a:effectLst/>
                <a:uFillTx/>
                <a:latin typeface="Arial"/>
                <a:ea typeface="Arial"/>
              </a:rPr>
              <a:t>18</a:t>
            </a:r>
            <a:endParaRPr lang="en-US" sz="4400" b="0" u="none" strike="noStrike">
              <a:solidFill>
                <a:srgbClr val="000000"/>
              </a:solidFill>
              <a:effectLst/>
              <a:uFillTx/>
              <a:latin typeface="Arial"/>
            </a:endParaRPr>
          </a:p>
        </p:txBody>
      </p:sp>
      <p:sp>
        <p:nvSpPr>
          <p:cNvPr id="619" name="Text 8"/>
          <p:cNvSpPr/>
          <p:nvPr/>
        </p:nvSpPr>
        <p:spPr>
          <a:xfrm>
            <a:off x="5816520" y="1737360"/>
            <a:ext cx="1792800" cy="1142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400" b="0" u="none" strike="noStrike">
                <a:solidFill>
                  <a:srgbClr val="FFFFFF"/>
                </a:solidFill>
                <a:effectLst/>
                <a:uFillTx/>
                <a:latin typeface="Calibri"/>
                <a:ea typeface="Calibri"/>
              </a:rPr>
              <a:t>caminhos de rejeição, todos sem alterar o hash do estado</a:t>
            </a:r>
            <a:endParaRPr lang="en-US" sz="1400" b="0" u="none" strike="noStrike">
              <a:solidFill>
                <a:srgbClr val="000000"/>
              </a:solidFill>
              <a:effectLst/>
              <a:uFillTx/>
              <a:latin typeface="Arial"/>
            </a:endParaRPr>
          </a:p>
        </p:txBody>
      </p:sp>
      <p:sp>
        <p:nvSpPr>
          <p:cNvPr id="620" name="Shape 9"/>
          <p:cNvSpPr/>
          <p:nvPr/>
        </p:nvSpPr>
        <p:spPr>
          <a:xfrm>
            <a:off x="8158320" y="1645920"/>
            <a:ext cx="3484440" cy="1325520"/>
          </a:xfrm>
          <a:prstGeom prst="roundRect">
            <a:avLst>
              <a:gd name="adj" fmla="val 5517"/>
            </a:avLst>
          </a:prstGeom>
          <a:solidFill>
            <a:srgbClr val="1E2328"/>
          </a:solidFill>
          <a:ln w="9525">
            <a:solidFill>
              <a:srgbClr val="1E23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1" name="Text 10"/>
          <p:cNvSpPr/>
          <p:nvPr/>
        </p:nvSpPr>
        <p:spPr>
          <a:xfrm>
            <a:off x="8432640" y="1737360"/>
            <a:ext cx="1234080" cy="1142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4400" b="1" u="none" strike="noStrike">
                <a:solidFill>
                  <a:srgbClr val="00ADD8"/>
                </a:solidFill>
                <a:effectLst/>
                <a:uFillTx/>
                <a:latin typeface="Arial"/>
                <a:ea typeface="Arial"/>
              </a:rPr>
              <a:t>3</a:t>
            </a:r>
            <a:endParaRPr lang="en-US" sz="4400" b="0" u="none" strike="noStrike">
              <a:solidFill>
                <a:srgbClr val="000000"/>
              </a:solidFill>
              <a:effectLst/>
              <a:uFillTx/>
              <a:latin typeface="Arial"/>
            </a:endParaRPr>
          </a:p>
        </p:txBody>
      </p:sp>
      <p:sp>
        <p:nvSpPr>
          <p:cNvPr id="622" name="Text 11"/>
          <p:cNvSpPr/>
          <p:nvPr/>
        </p:nvSpPr>
        <p:spPr>
          <a:xfrm>
            <a:off x="9621360" y="1737360"/>
            <a:ext cx="1792800" cy="1142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400" b="0" u="none" strike="noStrike">
                <a:solidFill>
                  <a:srgbClr val="FFFFFF"/>
                </a:solidFill>
                <a:effectLst/>
                <a:uFillTx/>
                <a:latin typeface="Calibri"/>
                <a:ea typeface="Calibri"/>
              </a:rPr>
              <a:t>logs de blocos adulterados recusados ao reiniciar</a:t>
            </a:r>
            <a:endParaRPr lang="en-US" sz="1400" b="0" u="none" strike="noStrike">
              <a:solidFill>
                <a:srgbClr val="000000"/>
              </a:solidFill>
              <a:effectLst/>
              <a:uFillTx/>
              <a:latin typeface="Arial"/>
            </a:endParaRPr>
          </a:p>
        </p:txBody>
      </p:sp>
      <p:sp>
        <p:nvSpPr>
          <p:cNvPr id="623" name="Shape 12"/>
          <p:cNvSpPr/>
          <p:nvPr/>
        </p:nvSpPr>
        <p:spPr>
          <a:xfrm>
            <a:off x="548640" y="3246120"/>
            <a:ext cx="2567520" cy="2880000"/>
          </a:xfrm>
          <a:prstGeom prst="roundRect">
            <a:avLst>
              <a:gd name="adj" fmla="val 284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4" name="Shape 13"/>
          <p:cNvSpPr/>
          <p:nvPr/>
        </p:nvSpPr>
        <p:spPr>
          <a:xfrm>
            <a:off x="777240" y="3456360"/>
            <a:ext cx="411120" cy="411120"/>
          </a:xfrm>
          <a:prstGeom prst="ellipse">
            <a:avLst/>
          </a:prstGeom>
          <a:solidFill>
            <a:srgbClr val="2E8B57"/>
          </a:solidFill>
          <a:ln w="9525">
            <a:solidFill>
              <a:srgbClr val="2E8B5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25" name="Image 0" descr="preencoded.png"/>
          <p:cNvPicPr/>
          <p:nvPr/>
        </p:nvPicPr>
        <p:blipFill>
          <a:blip r:embed="rId1"/>
          <a:stretch/>
        </p:blipFill>
        <p:spPr>
          <a:xfrm>
            <a:off x="880200" y="3559320"/>
            <a:ext cx="205560" cy="205560"/>
          </a:xfrm>
          <a:prstGeom prst="rect">
            <a:avLst/>
          </a:prstGeom>
          <a:noFill/>
          <a:ln w="0">
            <a:noFill/>
          </a:ln>
        </p:spPr>
      </p:pic>
      <p:sp>
        <p:nvSpPr>
          <p:cNvPr id="626" name="Text 14"/>
          <p:cNvSpPr/>
          <p:nvPr/>
        </p:nvSpPr>
        <p:spPr>
          <a:xfrm>
            <a:off x="1325880" y="3456360"/>
            <a:ext cx="16531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Contrato</a:t>
            </a:r>
            <a:endParaRPr lang="en-US" sz="1600" b="0" u="none" strike="noStrike">
              <a:solidFill>
                <a:srgbClr val="000000"/>
              </a:solidFill>
              <a:effectLst/>
              <a:uFillTx/>
              <a:latin typeface="Arial"/>
            </a:endParaRPr>
          </a:p>
        </p:txBody>
      </p:sp>
      <p:sp>
        <p:nvSpPr>
          <p:cNvPr id="627" name="Text 15"/>
          <p:cNvSpPr/>
          <p:nvPr/>
        </p:nvSpPr>
        <p:spPr>
          <a:xfrm>
            <a:off x="777240" y="4069080"/>
            <a:ext cx="2156040" cy="19656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Tabela do exemplo e devoluções atrasadas</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Penhor duplo, overflow, saldo insuficiente</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Estado inalterado após cada rejeição</a:t>
            </a:r>
            <a:endParaRPr lang="en-US" sz="1300" b="0" u="none" strike="noStrike">
              <a:solidFill>
                <a:srgbClr val="000000"/>
              </a:solidFill>
              <a:effectLst/>
              <a:uFillTx/>
              <a:latin typeface="Arial"/>
            </a:endParaRPr>
          </a:p>
        </p:txBody>
      </p:sp>
      <p:sp>
        <p:nvSpPr>
          <p:cNvPr id="628" name="Shape 16"/>
          <p:cNvSpPr/>
          <p:nvPr/>
        </p:nvSpPr>
        <p:spPr>
          <a:xfrm>
            <a:off x="3390840" y="3246120"/>
            <a:ext cx="2567520" cy="2880000"/>
          </a:xfrm>
          <a:prstGeom prst="roundRect">
            <a:avLst>
              <a:gd name="adj" fmla="val 284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9" name="Shape 17"/>
          <p:cNvSpPr/>
          <p:nvPr/>
        </p:nvSpPr>
        <p:spPr>
          <a:xfrm>
            <a:off x="3619440" y="3456360"/>
            <a:ext cx="411120" cy="411120"/>
          </a:xfrm>
          <a:prstGeom prst="ellipse">
            <a:avLst/>
          </a:prstGeom>
          <a:solidFill>
            <a:srgbClr val="2E8B57"/>
          </a:solidFill>
          <a:ln w="9525">
            <a:solidFill>
              <a:srgbClr val="2E8B5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30" name="Image 1" descr="preencoded.png"/>
          <p:cNvPicPr/>
          <p:nvPr/>
        </p:nvPicPr>
        <p:blipFill>
          <a:blip r:embed="rId2"/>
          <a:stretch/>
        </p:blipFill>
        <p:spPr>
          <a:xfrm>
            <a:off x="3722400" y="3559320"/>
            <a:ext cx="205560" cy="205560"/>
          </a:xfrm>
          <a:prstGeom prst="rect">
            <a:avLst/>
          </a:prstGeom>
          <a:noFill/>
          <a:ln w="0">
            <a:noFill/>
          </a:ln>
        </p:spPr>
      </p:pic>
      <p:sp>
        <p:nvSpPr>
          <p:cNvPr id="631" name="Text 18"/>
          <p:cNvSpPr/>
          <p:nvPr/>
        </p:nvSpPr>
        <p:spPr>
          <a:xfrm>
            <a:off x="4168080" y="3456360"/>
            <a:ext cx="16531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Cadeia</a:t>
            </a:r>
            <a:endParaRPr lang="en-US" sz="1600" b="0" u="none" strike="noStrike">
              <a:solidFill>
                <a:srgbClr val="000000"/>
              </a:solidFill>
              <a:effectLst/>
              <a:uFillTx/>
              <a:latin typeface="Arial"/>
            </a:endParaRPr>
          </a:p>
        </p:txBody>
      </p:sp>
      <p:sp>
        <p:nvSpPr>
          <p:cNvPr id="632" name="Text 19"/>
          <p:cNvSpPr/>
          <p:nvPr/>
        </p:nvSpPr>
        <p:spPr>
          <a:xfrm>
            <a:off x="3619440" y="4069080"/>
            <a:ext cx="2156040" cy="19656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Blocos encadeados e assinados pelo validador</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Assinaturas inválidas e repetições recusadas</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O reinício reproduz o hash de cada bloco</a:t>
            </a:r>
            <a:endParaRPr lang="en-US" sz="1300" b="0" u="none" strike="noStrike">
              <a:solidFill>
                <a:srgbClr val="000000"/>
              </a:solidFill>
              <a:effectLst/>
              <a:uFillTx/>
              <a:latin typeface="Arial"/>
            </a:endParaRPr>
          </a:p>
        </p:txBody>
      </p:sp>
      <p:sp>
        <p:nvSpPr>
          <p:cNvPr id="633" name="Shape 20"/>
          <p:cNvSpPr/>
          <p:nvPr/>
        </p:nvSpPr>
        <p:spPr>
          <a:xfrm>
            <a:off x="6233040" y="3246120"/>
            <a:ext cx="2567520" cy="2880000"/>
          </a:xfrm>
          <a:prstGeom prst="roundRect">
            <a:avLst>
              <a:gd name="adj" fmla="val 284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4" name="Shape 21"/>
          <p:cNvSpPr/>
          <p:nvPr/>
        </p:nvSpPr>
        <p:spPr>
          <a:xfrm>
            <a:off x="6461640" y="3456360"/>
            <a:ext cx="411120" cy="411120"/>
          </a:xfrm>
          <a:prstGeom prst="ellipse">
            <a:avLst/>
          </a:prstGeom>
          <a:solidFill>
            <a:srgbClr val="2E8B57"/>
          </a:solidFill>
          <a:ln w="9525">
            <a:solidFill>
              <a:srgbClr val="2E8B5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35" name="Image 2" descr="preencoded.png"/>
          <p:cNvPicPr/>
          <p:nvPr/>
        </p:nvPicPr>
        <p:blipFill>
          <a:blip r:embed="rId3"/>
          <a:stretch/>
        </p:blipFill>
        <p:spPr>
          <a:xfrm>
            <a:off x="6564600" y="3559320"/>
            <a:ext cx="205560" cy="205560"/>
          </a:xfrm>
          <a:prstGeom prst="rect">
            <a:avLst/>
          </a:prstGeom>
          <a:noFill/>
          <a:ln w="0">
            <a:noFill/>
          </a:ln>
        </p:spPr>
      </p:pic>
      <p:sp>
        <p:nvSpPr>
          <p:cNvPr id="636" name="Text 22"/>
          <p:cNvSpPr/>
          <p:nvPr/>
        </p:nvSpPr>
        <p:spPr>
          <a:xfrm>
            <a:off x="7010280" y="3456360"/>
            <a:ext cx="16531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API</a:t>
            </a:r>
            <a:endParaRPr lang="en-US" sz="1600" b="0" u="none" strike="noStrike">
              <a:solidFill>
                <a:srgbClr val="000000"/>
              </a:solidFill>
              <a:effectLst/>
              <a:uFillTx/>
              <a:latin typeface="Arial"/>
            </a:endParaRPr>
          </a:p>
        </p:txBody>
      </p:sp>
      <p:sp>
        <p:nvSpPr>
          <p:cNvPr id="637" name="Text 23"/>
          <p:cNvSpPr/>
          <p:nvPr/>
        </p:nvSpPr>
        <p:spPr>
          <a:xfrm>
            <a:off x="6461640" y="4069080"/>
            <a:ext cx="2156040" cy="19656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O roteiro da seção 9 via HTTP</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Assinaturas no estilo JSON.stringify</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CORS, não encontrado e papéis</a:t>
            </a:r>
            <a:endParaRPr lang="en-US" sz="1300" b="0" u="none" strike="noStrike">
              <a:solidFill>
                <a:srgbClr val="000000"/>
              </a:solidFill>
              <a:effectLst/>
              <a:uFillTx/>
              <a:latin typeface="Arial"/>
            </a:endParaRPr>
          </a:p>
        </p:txBody>
      </p:sp>
      <p:sp>
        <p:nvSpPr>
          <p:cNvPr id="638" name="Shape 24"/>
          <p:cNvSpPr/>
          <p:nvPr/>
        </p:nvSpPr>
        <p:spPr>
          <a:xfrm>
            <a:off x="9075240" y="3246120"/>
            <a:ext cx="2567520" cy="2880000"/>
          </a:xfrm>
          <a:prstGeom prst="roundRect">
            <a:avLst>
              <a:gd name="adj" fmla="val 2849"/>
            </a:avLst>
          </a:prstGeom>
          <a:solidFill>
            <a:srgbClr val="F2F5F7"/>
          </a:solidFill>
          <a:ln w="9525">
            <a:solidFill>
              <a:srgbClr val="F2F5F7"/>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9" name="Shape 25"/>
          <p:cNvSpPr/>
          <p:nvPr/>
        </p:nvSpPr>
        <p:spPr>
          <a:xfrm>
            <a:off x="9303840" y="3456360"/>
            <a:ext cx="411120" cy="411120"/>
          </a:xfrm>
          <a:prstGeom prst="ellipse">
            <a:avLst/>
          </a:prstGeom>
          <a:solidFill>
            <a:srgbClr val="2E8B57"/>
          </a:solidFill>
          <a:ln w="9525">
            <a:solidFill>
              <a:srgbClr val="2E8B57"/>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40" name="Image 3" descr="preencoded.png"/>
          <p:cNvPicPr/>
          <p:nvPr/>
        </p:nvPicPr>
        <p:blipFill>
          <a:blip r:embed="rId4"/>
          <a:stretch/>
        </p:blipFill>
        <p:spPr>
          <a:xfrm>
            <a:off x="9406800" y="3559320"/>
            <a:ext cx="205560" cy="205560"/>
          </a:xfrm>
          <a:prstGeom prst="rect">
            <a:avLst/>
          </a:prstGeom>
          <a:noFill/>
          <a:ln w="0">
            <a:noFill/>
          </a:ln>
        </p:spPr>
      </p:pic>
      <p:sp>
        <p:nvSpPr>
          <p:cNvPr id="641" name="Text 26"/>
          <p:cNvSpPr/>
          <p:nvPr/>
        </p:nvSpPr>
        <p:spPr>
          <a:xfrm>
            <a:off x="9852480" y="3456360"/>
            <a:ext cx="16531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1600" b="1" u="none" strike="noStrike">
                <a:solidFill>
                  <a:srgbClr val="1E2328"/>
                </a:solidFill>
                <a:effectLst/>
                <a:uFillTx/>
                <a:latin typeface="Arial"/>
                <a:ea typeface="Arial"/>
              </a:rPr>
              <a:t>Navegador</a:t>
            </a:r>
            <a:endParaRPr lang="en-US" sz="1600" b="0" u="none" strike="noStrike">
              <a:solidFill>
                <a:srgbClr val="000000"/>
              </a:solidFill>
              <a:effectLst/>
              <a:uFillTx/>
              <a:latin typeface="Arial"/>
            </a:endParaRPr>
          </a:p>
        </p:txBody>
      </p:sp>
      <p:sp>
        <p:nvSpPr>
          <p:cNvPr id="642" name="Text 27"/>
          <p:cNvSpPr/>
          <p:nvPr/>
        </p:nvSpPr>
        <p:spPr>
          <a:xfrm>
            <a:off x="9303840" y="4069080"/>
            <a:ext cx="2156040" cy="19656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Chromium headless roda a demo completa</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Assinaturas tweetnacl verificadas pelo Go</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1E2328"/>
              </a:buClr>
              <a:buFont typeface="Symbol" charset="2"/>
              <a:buChar char=""/>
            </a:pPr>
            <a:r>
              <a:rPr lang="pt-BR" sz="1300" b="0" u="none" strike="noStrike">
                <a:solidFill>
                  <a:srgbClr val="1E2328"/>
                </a:solidFill>
                <a:effectLst/>
                <a:uFillTx/>
                <a:latin typeface="Calibri"/>
                <a:ea typeface="Calibri"/>
              </a:rPr>
              <a:t>Blocos assinados no navegador sobrevivem ao reinício</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3" name="Text 0"/>
          <p:cNvSpPr/>
          <p:nvPr/>
        </p:nvSpPr>
        <p:spPr>
          <a:xfrm>
            <a:off x="548640" y="384120"/>
            <a:ext cx="9143640" cy="255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100" b="1" u="none" spc="201" strike="noStrike">
                <a:solidFill>
                  <a:srgbClr val="007D9C"/>
                </a:solidFill>
                <a:effectLst/>
                <a:uFillTx/>
                <a:latin typeface="Arial"/>
                <a:ea typeface="Arial"/>
              </a:rPr>
              <a:t>06 · COMPLEMENTOS</a:t>
            </a:r>
            <a:endParaRPr lang="en-US" sz="1100" b="0" u="none" strike="noStrike">
              <a:solidFill>
                <a:srgbClr val="000000"/>
              </a:solidFill>
              <a:effectLst/>
              <a:uFillTx/>
              <a:latin typeface="Arial"/>
            </a:endParaRPr>
          </a:p>
        </p:txBody>
      </p:sp>
      <p:sp>
        <p:nvSpPr>
          <p:cNvPr id="644" name="Text 1"/>
          <p:cNvSpPr/>
          <p:nvPr/>
        </p:nvSpPr>
        <p:spPr>
          <a:xfrm>
            <a:off x="548640" y="676800"/>
            <a:ext cx="11094120" cy="658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3200" b="1" u="none" strike="noStrike">
                <a:solidFill>
                  <a:srgbClr val="1E2328"/>
                </a:solidFill>
                <a:effectLst/>
                <a:uFillTx/>
                <a:latin typeface="Arial"/>
                <a:ea typeface="Arial"/>
              </a:rPr>
              <a:t>Limitações e próximos passos</a:t>
            </a:r>
            <a:endParaRPr lang="en-US" sz="3200" b="0" u="none" strike="noStrike">
              <a:solidFill>
                <a:srgbClr val="000000"/>
              </a:solidFill>
              <a:effectLst/>
              <a:uFillTx/>
              <a:latin typeface="Arial"/>
            </a:endParaRPr>
          </a:p>
        </p:txBody>
      </p:sp>
      <p:sp>
        <p:nvSpPr>
          <p:cNvPr id="645" name="Text 2"/>
          <p:cNvSpPr/>
          <p:nvPr/>
        </p:nvSpPr>
        <p:spPr>
          <a:xfrm>
            <a:off x="11183040" y="6419160"/>
            <a:ext cx="456840" cy="255600"/>
          </a:xfrm>
          <a:prstGeom prst="rect">
            <a:avLst/>
          </a:prstGeom>
          <a:noFill/>
          <a:ln w="0">
            <a:noFill/>
          </a:ln>
        </p:spPr>
        <p:style>
          <a:lnRef idx="0"/>
          <a:fillRef idx="0"/>
          <a:effectRef idx="0"/>
          <a:fontRef idx="minor"/>
        </p:style>
        <p:txBody>
          <a:bodyPr lIns="0" tIns="0" rIns="0" bIns="0" anchor="t">
            <a:noAutofit/>
          </a:bodyPr>
          <a:p>
            <a:pPr algn="r" defTabSz="914400">
              <a:lnSpc>
                <a:spcPct val="100000"/>
              </a:lnSpc>
              <a:tabLst>
                <a:tab pos="0" algn="l"/>
              </a:tabLst>
            </a:pPr>
            <a:r>
              <a:rPr lang="pt-BR" sz="1000" b="0" u="none" strike="noStrike">
                <a:solidFill>
                  <a:srgbClr val="8B96A1"/>
                </a:solidFill>
                <a:effectLst/>
                <a:uFillTx/>
                <a:latin typeface="Calibri"/>
                <a:ea typeface="Calibri"/>
              </a:rPr>
              <a:t>23</a:t>
            </a:r>
            <a:endParaRPr lang="en-US" sz="1000" b="0" u="none" strike="noStrike">
              <a:solidFill>
                <a:srgbClr val="000000"/>
              </a:solidFill>
              <a:effectLst/>
              <a:uFillTx/>
              <a:latin typeface="Arial"/>
            </a:endParaRPr>
          </a:p>
        </p:txBody>
      </p:sp>
      <p:graphicFrame>
        <p:nvGraphicFramePr>
          <p:cNvPr id="646" name="Table 0"/>
          <p:cNvGraphicFramePr/>
          <p:nvPr/>
        </p:nvGraphicFramePr>
        <p:xfrm>
          <a:off x="548640" y="1600200"/>
          <a:ext cx="11094120" cy="4389120"/>
        </p:xfrm>
        <a:graphic>
          <a:graphicData uri="http://schemas.openxmlformats.org/drawingml/2006/table">
            <a:tbl>
              <a:tblPr/>
              <a:tblGrid>
                <a:gridCol w="3246120"/>
                <a:gridCol w="3749040"/>
                <a:gridCol w="4098960"/>
              </a:tblGrid>
              <a:tr h="548640">
                <a:tc>
                  <a:txBody>
                    <a:bodyPr anchor="ctr">
                      <a:noAutofit/>
                    </a:bodyPr>
                    <a:p>
                      <a:pPr defTabSz="914400">
                        <a:lnSpc>
                          <a:spcPct val="100000"/>
                        </a:lnSpc>
                        <a:tabLst>
                          <a:tab pos="0" algn="l"/>
                        </a:tabLst>
                      </a:pPr>
                      <a:r>
                        <a:rPr lang="en-US" sz="1350" b="1" u="none" strike="noStrike">
                          <a:solidFill>
                            <a:srgbClr val="FFFFFF"/>
                          </a:solidFill>
                          <a:effectLst/>
                          <a:uFillTx/>
                          <a:latin typeface="Calibri"/>
                          <a:ea typeface="Calibri"/>
                        </a:rPr>
                        <a:t>Limitação</a:t>
                      </a:r>
                      <a:endParaRPr lang="en-US" sz="1350" b="0" u="none" strike="noStrike">
                        <a:solidFill>
                          <a:srgbClr val="FFFFFF"/>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1E2328"/>
                    </a:solidFill>
                  </a:tcPr>
                </a:tc>
                <a:tc>
                  <a:txBody>
                    <a:bodyPr anchor="ctr">
                      <a:noAutofit/>
                    </a:bodyPr>
                    <a:p>
                      <a:pPr defTabSz="914400">
                        <a:lnSpc>
                          <a:spcPct val="100000"/>
                        </a:lnSpc>
                        <a:tabLst>
                          <a:tab pos="0" algn="l"/>
                        </a:tabLst>
                      </a:pPr>
                      <a:r>
                        <a:rPr lang="en-US" sz="1350" b="1" u="none" strike="noStrike">
                          <a:solidFill>
                            <a:srgbClr val="FFFFFF"/>
                          </a:solidFill>
                          <a:effectLst/>
                          <a:uFillTx/>
                          <a:latin typeface="Calibri"/>
                          <a:ea typeface="Calibri"/>
                        </a:rPr>
                        <a:t>Efeito</a:t>
                      </a:r>
                      <a:endParaRPr lang="en-US" sz="1350" b="0" u="none" strike="noStrike">
                        <a:solidFill>
                          <a:srgbClr val="FFFFFF"/>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1E2328"/>
                    </a:solidFill>
                  </a:tcPr>
                </a:tc>
                <a:tc>
                  <a:txBody>
                    <a:bodyPr anchor="ctr">
                      <a:noAutofit/>
                    </a:bodyPr>
                    <a:p>
                      <a:pPr defTabSz="914400">
                        <a:lnSpc>
                          <a:spcPct val="100000"/>
                        </a:lnSpc>
                        <a:tabLst>
                          <a:tab pos="0" algn="l"/>
                        </a:tabLst>
                      </a:pPr>
                      <a:r>
                        <a:rPr lang="en-US" sz="1350" b="1" u="none" strike="noStrike">
                          <a:solidFill>
                            <a:srgbClr val="FFFFFF"/>
                          </a:solidFill>
                          <a:effectLst/>
                          <a:uFillTx/>
                          <a:latin typeface="Calibri"/>
                          <a:ea typeface="Calibri"/>
                        </a:rPr>
                        <a:t>Solução possível</a:t>
                      </a:r>
                      <a:endParaRPr lang="en-US" sz="1350" b="0" u="none" strike="noStrike">
                        <a:solidFill>
                          <a:srgbClr val="FFFFFF"/>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1E2328"/>
                    </a:solidFill>
                  </a:tcPr>
                </a:tc>
              </a:tr>
              <a:tr h="548640">
                <a:tc>
                  <a:txBody>
                    <a:bodyPr anchor="ctr">
                      <a:noAutofit/>
                    </a:bodyPr>
                    <a:p>
                      <a:pPr defTabSz="914400">
                        <a:lnSpc>
                          <a:spcPct val="100000"/>
                        </a:lnSpc>
                        <a:tabLst>
                          <a:tab pos="0" algn="l"/>
                        </a:tabLst>
                      </a:pPr>
                      <a:r>
                        <a:rPr lang="en-US" sz="1350" b="1" u="none" strike="noStrike">
                          <a:solidFill>
                            <a:srgbClr val="1E2328"/>
                          </a:solidFill>
                          <a:effectLst/>
                          <a:uFillTx/>
                          <a:latin typeface="Calibri"/>
                          <a:ea typeface="Calibri"/>
                        </a:rPr>
                        <a:t>O token é um direito, não o item</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c>
                  <a:txBody>
                    <a:bodyPr anchor="ctr">
                      <a:noAutofit/>
                    </a:bodyPr>
                    <a:p>
                      <a:pPr defTabSz="914400">
                        <a:lnSpc>
                          <a:spcPct val="100000"/>
                        </a:lnSpc>
                        <a:tabLst>
                          <a:tab pos="0" algn="l"/>
                        </a:tabLst>
                      </a:pPr>
                      <a:r>
                        <a:rPr lang="en-US" sz="1350" b="0" u="none" strike="noStrike">
                          <a:solidFill>
                            <a:srgbClr val="5F6B76"/>
                          </a:solidFill>
                          <a:effectLst/>
                          <a:uFillTx/>
                          <a:latin typeface="Calibri"/>
                          <a:ea typeface="Calibri"/>
                        </a:rPr>
                        <a:t>Um relógio ainda pode ser perdido ou vendido fora da cadeia</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c>
                  <a:txBody>
                    <a:bodyPr anchor="ctr">
                      <a:noAutofit/>
                    </a:bodyPr>
                    <a:p>
                      <a:pPr defTabSz="914400">
                        <a:lnSpc>
                          <a:spcPct val="100000"/>
                        </a:lnSpc>
                        <a:tabLst>
                          <a:tab pos="0" algn="l"/>
                        </a:tabLst>
                      </a:pPr>
                      <a:r>
                        <a:rPr lang="en-US" sz="1350" b="0" u="none" strike="noStrike">
                          <a:solidFill>
                            <a:srgbClr val="007D9C"/>
                          </a:solidFill>
                          <a:effectLst/>
                          <a:uFillTx/>
                          <a:latin typeface="Calibri"/>
                          <a:ea typeface="Calibri"/>
                        </a:rPr>
                        <a:t>Custodiante ou cofre que só libera contra o token</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r>
              <a:tr h="548640">
                <a:tc>
                  <a:txBody>
                    <a:bodyPr anchor="ctr">
                      <a:noAutofit/>
                    </a:bodyPr>
                    <a:p>
                      <a:pPr defTabSz="914400">
                        <a:lnSpc>
                          <a:spcPct val="100000"/>
                        </a:lnSpc>
                        <a:tabLst>
                          <a:tab pos="0" algn="l"/>
                        </a:tabLst>
                      </a:pPr>
                      <a:r>
                        <a:rPr lang="en-US" sz="1350" b="1" u="none" strike="noStrike">
                          <a:solidFill>
                            <a:srgbClr val="1E2328"/>
                          </a:solidFill>
                          <a:effectLst/>
                          <a:uFillTx/>
                          <a:latin typeface="Calibri"/>
                          <a:ea typeface="Calibri"/>
                        </a:rPr>
                        <a:t>Um só vistoriador decide os danos</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50" b="0" u="none" strike="noStrike">
                          <a:solidFill>
                            <a:srgbClr val="5F6B76"/>
                          </a:solidFill>
                          <a:effectLst/>
                          <a:uFillTx/>
                          <a:latin typeface="Calibri"/>
                          <a:ea typeface="Calibri"/>
                        </a:rPr>
                        <a:t>O locatário não tem a quem recorrer</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50" b="0" u="none" strike="noStrike">
                          <a:solidFill>
                            <a:srgbClr val="007D9C"/>
                          </a:solidFill>
                          <a:effectLst/>
                          <a:uFillTx/>
                          <a:latin typeface="Calibri"/>
                          <a:ea typeface="Calibri"/>
                        </a:rPr>
                        <a:t>Prazo de contestação, multiassinatura, papel de árbitro</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r>
              <a:tr h="548640">
                <a:tc>
                  <a:txBody>
                    <a:bodyPr anchor="ctr">
                      <a:noAutofit/>
                    </a:bodyPr>
                    <a:p>
                      <a:pPr defTabSz="914400">
                        <a:lnSpc>
                          <a:spcPct val="100000"/>
                        </a:lnSpc>
                        <a:tabLst>
                          <a:tab pos="0" algn="l"/>
                        </a:tabLst>
                      </a:pPr>
                      <a:r>
                        <a:rPr lang="en-US" sz="1350" b="1" u="none" strike="noStrike">
                          <a:solidFill>
                            <a:srgbClr val="1E2328"/>
                          </a:solidFill>
                          <a:effectLst/>
                          <a:uFillTx/>
                          <a:latin typeface="Calibri"/>
                          <a:ea typeface="Calibri"/>
                        </a:rPr>
                        <a:t>O locatário fornece o hash da retirada</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c>
                  <a:txBody>
                    <a:bodyPr anchor="ctr">
                      <a:noAutofit/>
                    </a:bodyPr>
                    <a:p>
                      <a:pPr defTabSz="914400">
                        <a:lnSpc>
                          <a:spcPct val="100000"/>
                        </a:lnSpc>
                        <a:tabLst>
                          <a:tab pos="0" algn="l"/>
                        </a:tabLst>
                      </a:pPr>
                      <a:r>
                        <a:rPr lang="en-US" sz="1350" b="0" u="none" strike="noStrike">
                          <a:solidFill>
                            <a:srgbClr val="5F6B76"/>
                          </a:solidFill>
                          <a:effectLst/>
                          <a:uFillTx/>
                          <a:latin typeface="Calibri"/>
                          <a:ea typeface="Calibri"/>
                        </a:rPr>
                        <a:t>O proprietário pode nunca ter visto esse laudo</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c>
                  <a:txBody>
                    <a:bodyPr anchor="ctr">
                      <a:noAutofit/>
                    </a:bodyPr>
                    <a:p>
                      <a:pPr defTabSz="914400">
                        <a:lnSpc>
                          <a:spcPct val="100000"/>
                        </a:lnSpc>
                        <a:tabLst>
                          <a:tab pos="0" algn="l"/>
                        </a:tabLst>
                      </a:pPr>
                      <a:r>
                        <a:rPr lang="en-US" sz="1350" b="0" u="none" strike="noStrike">
                          <a:solidFill>
                            <a:srgbClr val="007D9C"/>
                          </a:solidFill>
                          <a:effectLst/>
                          <a:uFillTx/>
                          <a:latin typeface="Calibri"/>
                          <a:ea typeface="Calibri"/>
                        </a:rPr>
                        <a:t>Proprietário ou vistoriador coassina a retirada</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r>
              <a:tr h="548640">
                <a:tc>
                  <a:txBody>
                    <a:bodyPr anchor="ctr">
                      <a:noAutofit/>
                    </a:bodyPr>
                    <a:p>
                      <a:pPr defTabSz="914400">
                        <a:lnSpc>
                          <a:spcPct val="100000"/>
                        </a:lnSpc>
                        <a:tabLst>
                          <a:tab pos="0" algn="l"/>
                        </a:tabLst>
                      </a:pPr>
                      <a:r>
                        <a:rPr lang="en-US" sz="1350" b="1" u="none" strike="noStrike">
                          <a:solidFill>
                            <a:srgbClr val="1E2328"/>
                          </a:solidFill>
                          <a:effectLst/>
                          <a:uFillTx/>
                          <a:latin typeface="Calibri"/>
                          <a:ea typeface="Calibri"/>
                        </a:rPr>
                        <a:t>Itens confiscados não são divididos</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50" b="0" u="none" strike="noStrike">
                          <a:solidFill>
                            <a:srgbClr val="5F6B76"/>
                          </a:solidFill>
                          <a:effectLst/>
                          <a:uFillTx/>
                          <a:latin typeface="Calibri"/>
                          <a:ea typeface="Calibri"/>
                        </a:rPr>
                        <a:t>O proprietário pode receber mais que a dívida</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50" b="0" u="none" strike="noStrike">
                          <a:solidFill>
                            <a:srgbClr val="007D9C"/>
                          </a:solidFill>
                          <a:effectLst/>
                          <a:uFillTx/>
                          <a:latin typeface="Calibri"/>
                          <a:ea typeface="Calibri"/>
                        </a:rPr>
                        <a:t>Leiloar os itens e devolver a diferença</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r>
              <a:tr h="548640">
                <a:tc>
                  <a:txBody>
                    <a:bodyPr anchor="ctr">
                      <a:noAutofit/>
                    </a:bodyPr>
                    <a:p>
                      <a:pPr defTabSz="914400">
                        <a:lnSpc>
                          <a:spcPct val="100000"/>
                        </a:lnSpc>
                        <a:tabLst>
                          <a:tab pos="0" algn="l"/>
                        </a:tabLst>
                      </a:pPr>
                      <a:r>
                        <a:rPr lang="en-US" sz="1350" b="1" u="none" strike="noStrike">
                          <a:solidFill>
                            <a:srgbClr val="1E2328"/>
                          </a:solidFill>
                          <a:effectLst/>
                          <a:uFillTx/>
                          <a:latin typeface="Calibri"/>
                          <a:ea typeface="Calibri"/>
                        </a:rPr>
                        <a:t>Token de depósito sem lastro</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c>
                  <a:txBody>
                    <a:bodyPr anchor="ctr">
                      <a:noAutofit/>
                    </a:bodyPr>
                    <a:p>
                      <a:pPr defTabSz="914400">
                        <a:lnSpc>
                          <a:spcPct val="100000"/>
                        </a:lnSpc>
                        <a:tabLst>
                          <a:tab pos="0" algn="l"/>
                        </a:tabLst>
                      </a:pPr>
                      <a:r>
                        <a:rPr lang="en-US" sz="1350" b="0" u="none" strike="noStrike">
                          <a:solidFill>
                            <a:srgbClr val="5F6B76"/>
                          </a:solidFill>
                          <a:effectLst/>
                          <a:uFillTx/>
                          <a:latin typeface="Calibri"/>
                          <a:ea typeface="Calibri"/>
                        </a:rPr>
                        <a:t>Os saldos são dados de teste</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c>
                  <a:txBody>
                    <a:bodyPr anchor="ctr">
                      <a:noAutofit/>
                    </a:bodyPr>
                    <a:p>
                      <a:pPr defTabSz="914400">
                        <a:lnSpc>
                          <a:spcPct val="100000"/>
                        </a:lnSpc>
                        <a:tabLst>
                          <a:tab pos="0" algn="l"/>
                        </a:tabLst>
                      </a:pPr>
                      <a:r>
                        <a:rPr lang="en-US" sz="1350" b="0" u="none" strike="noStrike">
                          <a:solidFill>
                            <a:srgbClr val="007D9C"/>
                          </a:solidFill>
                          <a:effectLst/>
                          <a:uFillTx/>
                          <a:latin typeface="Calibri"/>
                          <a:ea typeface="Calibri"/>
                        </a:rPr>
                        <a:t>Stablecoin ou token emitido por banco</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r>
              <a:tr h="548640">
                <a:tc>
                  <a:txBody>
                    <a:bodyPr anchor="ctr">
                      <a:noAutofit/>
                    </a:bodyPr>
                    <a:p>
                      <a:pPr defTabSz="914400">
                        <a:lnSpc>
                          <a:spcPct val="100000"/>
                        </a:lnSpc>
                        <a:tabLst>
                          <a:tab pos="0" algn="l"/>
                        </a:tabLst>
                      </a:pPr>
                      <a:r>
                        <a:rPr lang="en-US" sz="1350" b="1" u="none" strike="noStrike">
                          <a:solidFill>
                            <a:srgbClr val="1E2328"/>
                          </a:solidFill>
                          <a:effectLst/>
                          <a:uFillTx/>
                          <a:latin typeface="Calibri"/>
                          <a:ea typeface="Calibri"/>
                        </a:rPr>
                        <a:t>Um validador, sem consenso</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50" b="0" u="none" strike="noStrike">
                          <a:solidFill>
                            <a:srgbClr val="5F6B76"/>
                          </a:solidFill>
                          <a:effectLst/>
                          <a:uFillTx/>
                          <a:latin typeface="Calibri"/>
                          <a:ea typeface="Calibri"/>
                        </a:rPr>
                        <a:t>Um processo pode parar ou reescrever a cadeia</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c>
                  <a:txBody>
                    <a:bodyPr anchor="ctr">
                      <a:noAutofit/>
                    </a:bodyPr>
                    <a:p>
                      <a:pPr defTabSz="914400">
                        <a:lnSpc>
                          <a:spcPct val="100000"/>
                        </a:lnSpc>
                        <a:tabLst>
                          <a:tab pos="0" algn="l"/>
                        </a:tabLst>
                      </a:pPr>
                      <a:r>
                        <a:rPr lang="en-US" sz="1350" b="0" u="none" strike="noStrike">
                          <a:solidFill>
                            <a:srgbClr val="007D9C"/>
                          </a:solidFill>
                          <a:effectLst/>
                          <a:uFillTx/>
                          <a:latin typeface="Calibri"/>
                          <a:ea typeface="Calibri"/>
                        </a:rPr>
                        <a:t>Validadores em rodízio, ou Hyperledger Fabric</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FFFFF"/>
                    </a:solidFill>
                  </a:tcPr>
                </a:tc>
              </a:tr>
              <a:tr h="548640">
                <a:tc>
                  <a:txBody>
                    <a:bodyPr anchor="ctr">
                      <a:noAutofit/>
                    </a:bodyPr>
                    <a:p>
                      <a:pPr defTabSz="914400">
                        <a:lnSpc>
                          <a:spcPct val="100000"/>
                        </a:lnSpc>
                        <a:tabLst>
                          <a:tab pos="0" algn="l"/>
                        </a:tabLst>
                      </a:pPr>
                      <a:r>
                        <a:rPr lang="en-US" sz="1350" b="1" u="none" strike="noStrike">
                          <a:solidFill>
                            <a:srgbClr val="1E2328"/>
                          </a:solidFill>
                          <a:effectLst/>
                          <a:uFillTx/>
                          <a:latin typeface="Calibri"/>
                          <a:ea typeface="Calibri"/>
                        </a:rPr>
                        <a:t>Cadeia feita à mão</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c>
                  <a:txBody>
                    <a:bodyPr anchor="ctr">
                      <a:noAutofit/>
                    </a:bodyPr>
                    <a:p>
                      <a:pPr defTabSz="914400">
                        <a:lnSpc>
                          <a:spcPct val="100000"/>
                        </a:lnSpc>
                        <a:tabLst>
                          <a:tab pos="0" algn="l"/>
                        </a:tabLst>
                      </a:pPr>
                      <a:r>
                        <a:rPr lang="en-US" sz="1350" b="0" u="none" strike="noStrike">
                          <a:solidFill>
                            <a:srgbClr val="5F6B76"/>
                          </a:solidFill>
                          <a:effectLst/>
                          <a:uFillTx/>
                          <a:latin typeface="Calibri"/>
                          <a:ea typeface="Calibri"/>
                        </a:rPr>
                        <a:t>Sem carteiras, exploradores ou padrões auditados</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c>
                  <a:txBody>
                    <a:bodyPr anchor="ctr">
                      <a:noAutofit/>
                    </a:bodyPr>
                    <a:p>
                      <a:pPr defTabSz="914400">
                        <a:lnSpc>
                          <a:spcPct val="100000"/>
                        </a:lnSpc>
                        <a:tabLst>
                          <a:tab pos="0" algn="l"/>
                        </a:tabLst>
                      </a:pPr>
                      <a:r>
                        <a:rPr lang="en-US" sz="1350" b="0" u="none" strike="noStrike">
                          <a:solidFill>
                            <a:srgbClr val="007D9C"/>
                          </a:solidFill>
                          <a:effectLst/>
                          <a:uFillTx/>
                          <a:latin typeface="Calibri"/>
                          <a:ea typeface="Calibri"/>
                        </a:rPr>
                        <a:t>Cadeia padrão ou Fabric antes de dinheiro real</a:t>
                      </a:r>
                      <a:endParaRPr lang="en-US" sz="1350" b="0" u="none" strike="noStrike">
                        <a:solidFill>
                          <a:srgbClr val="000000"/>
                        </a:solidFill>
                        <a:effectLst/>
                        <a:uFillTx/>
                        <a:latin typeface="Arial"/>
                      </a:endParaRPr>
                    </a:p>
                  </a:txBody>
                  <a:tcPr anchor="ctr" marL="91440" marR="91440" marT="45720" marB="45720">
                    <a:lnL w="6480">
                      <a:solidFill>
                        <a:srgbClr val="D5DBE1"/>
                      </a:solidFill>
                      <a:prstDash val="solid"/>
                    </a:lnL>
                    <a:lnR w="6480">
                      <a:solidFill>
                        <a:srgbClr val="D5DBE1"/>
                      </a:solidFill>
                      <a:prstDash val="solid"/>
                    </a:lnR>
                    <a:lnT w="6480">
                      <a:solidFill>
                        <a:srgbClr val="D5DBE1"/>
                      </a:solidFill>
                      <a:prstDash val="solid"/>
                    </a:lnT>
                    <a:lnB w="6480">
                      <a:solidFill>
                        <a:srgbClr val="D5DBE1"/>
                      </a:solidFill>
                      <a:prstDash val="solid"/>
                    </a:lnB>
                    <a:solidFill>
                      <a:srgbClr val="F2F5F7"/>
                    </a:solidFill>
                  </a:tcPr>
                </a:tc>
              </a:tr>
            </a:tbl>
          </a:graphicData>
        </a:graphic>
      </p:graphicFrame>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328"/>
        </a:solidFill>
      </p:bgPr>
    </p:bg>
    <p:spTree>
      <p:nvGrpSpPr>
        <p:cNvPr id="1" name=""/>
        <p:cNvGrpSpPr/>
        <p:nvPr/>
      </p:nvGrpSpPr>
      <p:grpSpPr>
        <a:xfrm>
          <a:off x="0" y="0"/>
          <a:ext cx="0" cy="0"/>
          <a:chOff x="0" y="0"/>
          <a:chExt cx="0" cy="0"/>
        </a:xfrm>
      </p:grpSpPr>
      <p:sp>
        <p:nvSpPr>
          <p:cNvPr id="647" name="Text 0"/>
          <p:cNvSpPr/>
          <p:nvPr/>
        </p:nvSpPr>
        <p:spPr>
          <a:xfrm>
            <a:off x="731520" y="685800"/>
            <a:ext cx="5486040" cy="29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1200" b="1" u="none" spc="300" strike="noStrike">
                <a:solidFill>
                  <a:srgbClr val="00ADD8"/>
                </a:solidFill>
                <a:effectLst/>
                <a:uFillTx/>
                <a:latin typeface="Arial"/>
                <a:ea typeface="Arial"/>
              </a:rPr>
              <a:t>PRINCIPAIS IDEIAS</a:t>
            </a:r>
            <a:endParaRPr lang="en-US" sz="1200" b="0" u="none" strike="noStrike">
              <a:solidFill>
                <a:srgbClr val="FFFFFF"/>
              </a:solidFill>
              <a:effectLst/>
              <a:uFillTx/>
              <a:latin typeface="Arial"/>
            </a:endParaRPr>
          </a:p>
        </p:txBody>
      </p:sp>
      <p:sp>
        <p:nvSpPr>
          <p:cNvPr id="648" name="Shape 1"/>
          <p:cNvSpPr/>
          <p:nvPr/>
        </p:nvSpPr>
        <p:spPr>
          <a:xfrm>
            <a:off x="731520" y="1280160"/>
            <a:ext cx="776880" cy="776880"/>
          </a:xfrm>
          <a:prstGeom prst="ellipse">
            <a:avLst/>
          </a:prstGeom>
          <a:solidFill>
            <a:srgbClr val="00ADD8"/>
          </a:solidFill>
          <a:ln w="9525">
            <a:solidFill>
              <a:srgbClr val="00ADD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49" name="Image 0" descr="preencoded.png"/>
          <p:cNvPicPr/>
          <p:nvPr/>
        </p:nvPicPr>
        <p:blipFill>
          <a:blip r:embed="rId1"/>
          <a:stretch/>
        </p:blipFill>
        <p:spPr>
          <a:xfrm>
            <a:off x="918000" y="1466640"/>
            <a:ext cx="403920" cy="403920"/>
          </a:xfrm>
          <a:prstGeom prst="rect">
            <a:avLst/>
          </a:prstGeom>
          <a:noFill/>
          <a:ln w="0">
            <a:noFill/>
          </a:ln>
        </p:spPr>
      </p:pic>
      <p:sp>
        <p:nvSpPr>
          <p:cNvPr id="650" name="Text 2"/>
          <p:cNvSpPr/>
          <p:nvPr/>
        </p:nvSpPr>
        <p:spPr>
          <a:xfrm>
            <a:off x="1783080" y="1280160"/>
            <a:ext cx="96922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2000" b="0" u="none" strike="noStrike">
                <a:solidFill>
                  <a:srgbClr val="FFFFFF"/>
                </a:solidFill>
                <a:effectLst/>
                <a:uFillTx/>
                <a:latin typeface="Calibri"/>
                <a:ea typeface="Calibri"/>
              </a:rPr>
              <a:t>Um livro-razão compartilhado faz sentido no aluguel de carros porque proprietário, locatário, registrador e vistoriador não confiam nos registros uns dos outros.</a:t>
            </a:r>
            <a:endParaRPr lang="en-US" sz="2000" b="0" u="none" strike="noStrike">
              <a:solidFill>
                <a:srgbClr val="FFFFFF"/>
              </a:solidFill>
              <a:effectLst/>
              <a:uFillTx/>
              <a:latin typeface="Arial"/>
            </a:endParaRPr>
          </a:p>
        </p:txBody>
      </p:sp>
      <p:sp>
        <p:nvSpPr>
          <p:cNvPr id="651" name="Shape 3"/>
          <p:cNvSpPr/>
          <p:nvPr/>
        </p:nvSpPr>
        <p:spPr>
          <a:xfrm>
            <a:off x="731520" y="2468880"/>
            <a:ext cx="776880" cy="776880"/>
          </a:xfrm>
          <a:prstGeom prst="ellipse">
            <a:avLst/>
          </a:prstGeom>
          <a:solidFill>
            <a:srgbClr val="F2A900"/>
          </a:solidFill>
          <a:ln w="9525">
            <a:solidFill>
              <a:srgbClr val="F2A90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52" name="Image 1" descr="preencoded.png"/>
          <p:cNvPicPr/>
          <p:nvPr/>
        </p:nvPicPr>
        <p:blipFill>
          <a:blip r:embed="rId2"/>
          <a:stretch/>
        </p:blipFill>
        <p:spPr>
          <a:xfrm>
            <a:off x="918000" y="2655360"/>
            <a:ext cx="403920" cy="403920"/>
          </a:xfrm>
          <a:prstGeom prst="rect">
            <a:avLst/>
          </a:prstGeom>
          <a:noFill/>
          <a:ln w="0">
            <a:noFill/>
          </a:ln>
        </p:spPr>
      </p:pic>
      <p:sp>
        <p:nvSpPr>
          <p:cNvPr id="653" name="Text 4"/>
          <p:cNvSpPr/>
          <p:nvPr/>
        </p:nvSpPr>
        <p:spPr>
          <a:xfrm>
            <a:off x="1783080" y="2468880"/>
            <a:ext cx="96922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2000" b="0" u="none" strike="noStrike">
                <a:solidFill>
                  <a:srgbClr val="FFFFFF"/>
                </a:solidFill>
                <a:effectLst/>
                <a:uFillTx/>
                <a:latin typeface="Calibri"/>
                <a:ea typeface="Calibri"/>
              </a:rPr>
              <a:t>Tokens e escrow transformam garantia, aluguel e multas em regras que o contrato aplica, com o mesmo resultado em todos os nós.</a:t>
            </a:r>
            <a:endParaRPr lang="en-US" sz="2000" b="0" u="none" strike="noStrike">
              <a:solidFill>
                <a:srgbClr val="FFFFFF"/>
              </a:solidFill>
              <a:effectLst/>
              <a:uFillTx/>
              <a:latin typeface="Arial"/>
            </a:endParaRPr>
          </a:p>
        </p:txBody>
      </p:sp>
      <p:sp>
        <p:nvSpPr>
          <p:cNvPr id="654" name="Shape 5"/>
          <p:cNvSpPr/>
          <p:nvPr/>
        </p:nvSpPr>
        <p:spPr>
          <a:xfrm>
            <a:off x="731520" y="3657600"/>
            <a:ext cx="776880" cy="776880"/>
          </a:xfrm>
          <a:prstGeom prst="ellipse">
            <a:avLst/>
          </a:prstGeom>
          <a:solidFill>
            <a:srgbClr val="00ADD8"/>
          </a:solidFill>
          <a:ln w="9525">
            <a:solidFill>
              <a:srgbClr val="00ADD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55" name="Image 2" descr="preencoded.png"/>
          <p:cNvPicPr/>
          <p:nvPr/>
        </p:nvPicPr>
        <p:blipFill>
          <a:blip r:embed="rId3"/>
          <a:stretch/>
        </p:blipFill>
        <p:spPr>
          <a:xfrm>
            <a:off x="918000" y="3844080"/>
            <a:ext cx="403920" cy="403920"/>
          </a:xfrm>
          <a:prstGeom prst="rect">
            <a:avLst/>
          </a:prstGeom>
          <a:noFill/>
          <a:ln w="0">
            <a:noFill/>
          </a:ln>
        </p:spPr>
      </p:pic>
      <p:sp>
        <p:nvSpPr>
          <p:cNvPr id="656" name="Text 6"/>
          <p:cNvSpPr/>
          <p:nvPr/>
        </p:nvSpPr>
        <p:spPr>
          <a:xfrm>
            <a:off x="1783080" y="3657600"/>
            <a:ext cx="96922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pt-BR" sz="2000" b="0" u="none" strike="noStrike">
                <a:solidFill>
                  <a:srgbClr val="FFFFFF"/>
                </a:solidFill>
                <a:effectLst/>
                <a:uFillTx/>
                <a:latin typeface="Calibri"/>
                <a:ea typeface="Calibri"/>
              </a:rPr>
              <a:t>O Go permitiu que uma base de código pequena fosse a cadeia, o contrato e as ferramentas. O preço foi o determinismo.</a:t>
            </a:r>
            <a:endParaRPr lang="en-US" sz="2000" b="0" u="none" strike="noStrike">
              <a:solidFill>
                <a:srgbClr val="FFFFFF"/>
              </a:solidFill>
              <a:effectLst/>
              <a:uFillTx/>
              <a:latin typeface="Arial"/>
            </a:endParaRPr>
          </a:p>
        </p:txBody>
      </p:sp>
      <p:sp>
        <p:nvSpPr>
          <p:cNvPr id="657" name="Text 7"/>
          <p:cNvSpPr/>
          <p:nvPr/>
        </p:nvSpPr>
        <p:spPr>
          <a:xfrm>
            <a:off x="731520" y="4937760"/>
            <a:ext cx="548604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pt-BR" sz="4000" b="1" u="none" strike="noStrike">
                <a:solidFill>
                  <a:srgbClr val="FFFFFF"/>
                </a:solidFill>
                <a:effectLst/>
                <a:uFillTx/>
                <a:latin typeface="Arial"/>
                <a:ea typeface="Arial"/>
              </a:rPr>
              <a:t>Perguntas?</a:t>
            </a:r>
            <a:endParaRPr lang="en-US" sz="4000" b="0" u="none" strike="noStrike">
              <a:solidFill>
                <a:srgbClr val="FFFFFF"/>
              </a:solidFill>
              <a:effectLst/>
              <a:uFillTx/>
              <a:latin typeface="Arial"/>
            </a:endParaRPr>
          </a:p>
        </p:txBody>
      </p:sp>
      <p:sp>
        <p:nvSpPr>
          <p:cNvPr id="658" name="Text 8"/>
          <p:cNvSpPr/>
          <p:nvPr/>
        </p:nvSpPr>
        <p:spPr>
          <a:xfrm>
            <a:off x="5852160" y="5139000"/>
            <a:ext cx="5760360" cy="4568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pt-BR" sz="1400" b="0" u="none" strike="noStrike">
                <a:solidFill>
                  <a:srgbClr val="00ADD8"/>
                </a:solidFill>
                <a:effectLst/>
                <a:uFillTx/>
                <a:latin typeface="Courier New"/>
                <a:ea typeface="Courier New"/>
              </a:rPr>
              <a:t>docker compose up --build  →  http://localhost:3000</a:t>
            </a:r>
            <a:endParaRPr lang="en-US"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LibreOffice/26.2.5.2$Windows_X86_64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2026-09-30T22:39:42Z</dcterms:created>
  <dc:creator>Berg</dc:creator>
  <dc:description/>
  <dc:language>en-US</dc:language>
  <cp:lastModifiedBy/>
  <dcterms:modified xsi:type="dcterms:W3CDTF">2026-09-30T18:58:00Z</dcterms:modified>
  <cp:revision>2</cp:revision>
  <dc:subject>PptxGenJS Presentation</dc:subject>
  <dc:title>Aluguel de Carros com Blockchain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24</vt:i4>
  </property>
  <property fmtid="{D5CDD505-2E9C-101B-9397-08002B2CF9AE}" pid="3" name="PresentationFormat">
    <vt:lpwstr>On-screen Show (16:9)</vt:lpwstr>
  </property>
  <property fmtid="{D5CDD505-2E9C-101B-9397-08002B2CF9AE}" pid="4" name="Slides">
    <vt:i4>24</vt:i4>
  </property>
</Properties>
</file>